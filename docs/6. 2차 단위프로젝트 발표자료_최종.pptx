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embeddings/oleObject3" ContentType="application/vnd.openxmlformats-officedocument.spreadsheetml.sheet"/>
  <Override PartName="/ppt/embeddings/oleObject4" ContentType="application/vnd.openxmlformats-officedocument.spreadsheetml.sheet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howPr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extLst>
    <p:ext uri="ACF4677E-8BD2-47ae-8A1F-98590045965D">
      <hp:hncThemeShow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0" d="100"/>
          <a:sy n="100" d="100"/>
        </p:scale>
        <p:origin x="-1512" y="-112"/>
      </p:cViewPr>
      <p:guideLst>
        <p:guide orient="horz" pos="2156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9.xml"  /><Relationship Id="rId11" Type="http://schemas.openxmlformats.org/officeDocument/2006/relationships/slide" Target="slides/slide10.xml"  /><Relationship Id="rId12" Type="http://schemas.openxmlformats.org/officeDocument/2006/relationships/slide" Target="slides/slide11.xml"  /><Relationship Id="rId13" Type="http://schemas.openxmlformats.org/officeDocument/2006/relationships/slide" Target="slides/slide12.xml"  /><Relationship Id="rId14" Type="http://schemas.openxmlformats.org/officeDocument/2006/relationships/slide" Target="slides/slide13.xml"  /><Relationship Id="rId15" Type="http://schemas.openxmlformats.org/officeDocument/2006/relationships/slide" Target="slides/slide14.xml"  /><Relationship Id="rId16" Type="http://schemas.openxmlformats.org/officeDocument/2006/relationships/slide" Target="slides/slide15.xml"  /><Relationship Id="rId17" Type="http://schemas.openxmlformats.org/officeDocument/2006/relationships/slide" Target="slides/slide16.xml"  /><Relationship Id="rId18" Type="http://schemas.openxmlformats.org/officeDocument/2006/relationships/slide" Target="slides/slide17.xml"  /><Relationship Id="rId19" Type="http://schemas.openxmlformats.org/officeDocument/2006/relationships/slide" Target="slides/slide18.xml"  /><Relationship Id="rId2" Type="http://schemas.openxmlformats.org/officeDocument/2006/relationships/slide" Target="slides/slide1.xml"  /><Relationship Id="rId20" Type="http://schemas.openxmlformats.org/officeDocument/2006/relationships/slide" Target="slides/slide19.xml"  /><Relationship Id="rId21" Type="http://schemas.openxmlformats.org/officeDocument/2006/relationships/slide" Target="slides/slide20.xml"  /><Relationship Id="rId22" Type="http://schemas.openxmlformats.org/officeDocument/2006/relationships/slide" Target="slides/slide21.xml"  /><Relationship Id="rId23" Type="http://schemas.openxmlformats.org/officeDocument/2006/relationships/slide" Target="slides/slide22.xml"  /><Relationship Id="rId24" Type="http://schemas.openxmlformats.org/officeDocument/2006/relationships/slide" Target="slides/slide23.xml"  /><Relationship Id="rId25" Type="http://schemas.openxmlformats.org/officeDocument/2006/relationships/slide" Target="slides/slide24.xml"  /><Relationship Id="rId26" Type="http://schemas.openxmlformats.org/officeDocument/2006/relationships/slide" Target="slides/slide25.xml"  /><Relationship Id="rId27" Type="http://schemas.openxmlformats.org/officeDocument/2006/relationships/slide" Target="slides/slide26.xml"  /><Relationship Id="rId28" Type="http://schemas.openxmlformats.org/officeDocument/2006/relationships/slide" Target="slides/slide27.xml"  /><Relationship Id="rId29" Type="http://schemas.openxmlformats.org/officeDocument/2006/relationships/slide" Target="slides/slide28.xml"  /><Relationship Id="rId3" Type="http://schemas.openxmlformats.org/officeDocument/2006/relationships/slide" Target="slides/slide2.xml"  /><Relationship Id="rId30" Type="http://schemas.openxmlformats.org/officeDocument/2006/relationships/slide" Target="slides/slide29.xml"  /><Relationship Id="rId31" Type="http://schemas.openxmlformats.org/officeDocument/2006/relationships/slide" Target="slides/slide30.xml"  /><Relationship Id="rId32" Type="http://schemas.openxmlformats.org/officeDocument/2006/relationships/slide" Target="slides/slide31.xml"  /><Relationship Id="rId33" Type="http://schemas.openxmlformats.org/officeDocument/2006/relationships/slide" Target="slides/slide32.xml"  /><Relationship Id="rId34" Type="http://schemas.openxmlformats.org/officeDocument/2006/relationships/presProps" Target="presProps.xml"  /><Relationship Id="rId35" Type="http://schemas.openxmlformats.org/officeDocument/2006/relationships/viewProps" Target="viewProps.xml"  /><Relationship Id="rId36" Type="http://schemas.openxmlformats.org/officeDocument/2006/relationships/theme" Target="theme/theme1.xml"  /><Relationship Id="rId37" Type="http://schemas.openxmlformats.org/officeDocument/2006/relationships/tableStyles" Target="tableStyles.xml"  /><Relationship Id="rId4" Type="http://schemas.openxmlformats.org/officeDocument/2006/relationships/slide" Target="slides/slide3.xml"  /><Relationship Id="rId5" Type="http://schemas.openxmlformats.org/officeDocument/2006/relationships/slide" Target="slides/slide4.xml"  /><Relationship Id="rId6" Type="http://schemas.openxmlformats.org/officeDocument/2006/relationships/slide" Target="slides/slide5.xml"  /><Relationship Id="rId7" Type="http://schemas.openxmlformats.org/officeDocument/2006/relationships/slide" Target="slides/slide6.xml"  /><Relationship Id="rId8" Type="http://schemas.openxmlformats.org/officeDocument/2006/relationships/slide" Target="slides/slide7.xml"  /><Relationship Id="rId9" Type="http://schemas.openxmlformats.org/officeDocument/2006/relationships/slide" Target="slides/slide8.xml"  /></Relationships>
</file>

<file path=ppt/charts/_rels/chart1.xml.rels><?xml version="1.0" encoding="UTF-8" standalone="yes" ?><Relationships xmlns="http://schemas.openxmlformats.org/package/2006/relationships"><Relationship Id="rId1" Type="http://schemas.openxmlformats.org/officeDocument/2006/relationships/package" Target="../embeddings/oleObject1.xlsx"  /></Relationships>
</file>

<file path=ppt/charts/_rels/chart2.xml.rels><?xml version="1.0" encoding="UTF-8" standalone="yes" ?><Relationships xmlns="http://schemas.openxmlformats.org/package/2006/relationships"><Relationship Id="rId1" Type="http://schemas.openxmlformats.org/officeDocument/2006/relationships/package" Target="../embeddings/oleObject2.xlsx"  /></Relationships>
</file>

<file path=ppt/charts/_rels/chart3.xml.rels><?xml version="1.0" encoding="UTF-8" standalone="yes" ?><Relationships xmlns="http://schemas.openxmlformats.org/package/2006/relationships"><Relationship Id="rId1" Type="http://schemas.openxmlformats.org/officeDocument/2006/relationships/package" Target="../embeddings/oleObject3"  /></Relationships>
</file>

<file path=ppt/charts/_rels/chart4.xml.rels><?xml version="1.0" encoding="UTF-8" standalone="yes" ?><Relationships xmlns="http://schemas.openxmlformats.org/package/2006/relationships"><Relationship Id="rId1" Type="http://schemas.openxmlformats.org/officeDocument/2006/relationships/package" Target="../embeddings/oleObject4"  /></Relationships>
</file>

<file path=ppt/charts/chart1.xml><?xml version="1.0" encoding="utf-8"?>
<c:chartSpace xmlns:r="http://schemas.openxmlformats.org/officeDocument/2006/relationships" xmlns:a="http://schemas.openxmlformats.org/drawingml/2006/main" xmlns:c="http://schemas.openxmlformats.org/drawingml/2006/chart">
  <c:date1904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이탈률</c:v>
                </c:pt>
              </c:strCache>
            </c:strRef>
          </c:tx>
          <c:dPt>
            <c:idx val="0"/>
            <c:invertIfNegative val="0"/>
            <c:bubble3D val="0"/>
            <c:spPr>
              <a:solidFill>
                <a:srgbClr val="d9cff5"/>
              </a:solidFill>
              <a:ln>
                <a:noFill/>
              </a:ln>
            </c:spPr>
          </c:dPt>
          <c:dPt>
            <c:idx val="1"/>
            <c:invertIfNegative val="0"/>
            <c:bubble3D val="0"/>
            <c:spPr>
              <a:solidFill>
                <a:srgbClr val="d9cff5"/>
              </a:solidFill>
              <a:ln>
                <a:noFill/>
              </a:ln>
            </c:spPr>
          </c:dPt>
          <c:dPt>
            <c:idx val="2"/>
            <c:invertIfNegative val="0"/>
            <c:bubble3D val="0"/>
            <c:spPr>
              <a:solidFill>
                <a:srgbClr val="d9cff5"/>
              </a:solidFill>
              <a:ln>
                <a:noFill/>
              </a:ln>
            </c:spPr>
          </c:dPt>
          <c:dPt>
            <c:idx val="3"/>
            <c:invertIfNegative val="0"/>
            <c:bubble3D val="0"/>
            <c:spPr>
              <a:solidFill>
                <a:srgbClr val="d9cff5"/>
              </a:solidFill>
              <a:ln>
                <a:noFill/>
              </a:ln>
            </c:spPr>
          </c:dPt>
          <c:dPt>
            <c:idx val="4"/>
            <c:invertIfNegative val="0"/>
            <c:bubble3D val="0"/>
            <c:spPr>
              <a:solidFill>
                <a:srgbClr val="d9cff5"/>
              </a:solidFill>
              <a:ln>
                <a:noFill/>
              </a:ln>
            </c:spPr>
          </c:dPt>
          <c:dPt>
            <c:idx val="5"/>
            <c:invertIfNegative val="0"/>
            <c:bubble3D val="0"/>
            <c:spPr>
              <a:solidFill>
                <a:srgbClr val="b9a6ee"/>
              </a:solidFill>
              <a:ln>
                <a:noFill/>
              </a:ln>
            </c:spPr>
          </c:dPt>
          <c:dPt>
            <c:idx val="6"/>
            <c:invertIfNegative val="0"/>
            <c:bubble3D val="0"/>
            <c:spPr>
              <a:solidFill>
                <a:srgbClr val="b23a32"/>
              </a:solidFill>
              <a:ln>
                <a:noFill/>
              </a:ln>
            </c:spPr>
          </c:dPt>
          <c:invertIfNegative val="0"/>
          <c:cat>
            <c:strRef>
              <c:f>Sheet1!$A$2:$A$8</c:f>
              <c:strCache>
                <c:ptCount val="7"/>
                <c:pt idx="0">
                  <c:v>9회</c:v>
                </c:pt>
                <c:pt idx="1">
                  <c:v>7회</c:v>
                </c:pt>
                <c:pt idx="2">
                  <c:v>5회</c:v>
                </c:pt>
                <c:pt idx="3">
                  <c:v>4회</c:v>
                </c:pt>
                <c:pt idx="4">
                  <c:v>3회</c:v>
                </c:pt>
                <c:pt idx="5">
                  <c:v>2회</c:v>
                </c:pt>
                <c:pt idx="6">
                  <c:v>1회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0.0668</c:v>
                </c:pt>
                <c:pt idx="1">
                  <c:v>0.0811</c:v>
                </c:pt>
                <c:pt idx="2">
                  <c:v>0.1265</c:v>
                </c:pt>
                <c:pt idx="3">
                  <c:v>0.1626</c:v>
                </c:pt>
                <c:pt idx="4">
                  <c:v>0.1689</c:v>
                </c:pt>
                <c:pt idx="5">
                  <c:v>0.229</c:v>
                </c:pt>
                <c:pt idx="6">
                  <c:v>0.3031</c:v>
                </c:pt>
              </c:numCache>
            </c:numRef>
          </c:val>
        </c:ser>
        <c:dLbls>
          <c:delete val="0"/>
          <c:numFmt formatCode="0.0%" sourceLinked="0"/>
          <c:txPr>
            <a:bodyPr rot="0" vert="horz" wrap="none" lIns="0" tIns="0" rIns="0" bIns="0" anchor="ctr" anchorCtr="1"/>
            <a:p>
              <a:pPr algn="l">
                <a:defRPr sz="1100" b="1" i="0" u="none">
                  <a:solidFill>
                    <a:srgbClr val="1c1a22"/>
                  </a:solidFill>
                </a:defRPr>
              </a:pPr>
              <a:endParaRPr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overlap val="0"/>
        <c:axId val="2068027336"/>
        <c:axId val="2113994440"/>
      </c:barChart>
      <c:catAx>
        <c:axId val="2068027336"/>
        <c:scaling>
          <c:orientation val="minMax"/>
        </c:scaling>
        <c:axPos val="l"/>
        <c:crossAx val="2113994440"/>
        <c:delete val="0"/>
        <c:majorTickMark val="out"/>
        <c:minorTickMark val="none"/>
        <c:tickLblPos val="nextTo"/>
        <c:spPr>
          <a:ln w="9525">
            <a:solidFill>
              <a:srgbClr val="e6e2ee"/>
            </a:solidFill>
          </a:ln>
        </c:spPr>
        <c:txPr>
          <a:bodyPr rot="0" vert="horz" wrap="none" lIns="0" tIns="0" rIns="0" bIns="0" anchor="ctr" anchorCtr="1"/>
          <a:p>
            <a:pPr algn="l">
              <a:defRPr sz="1050" b="0" i="0" u="none">
                <a:solidFill>
                  <a:srgbClr val="3e3b47"/>
                </a:solidFill>
              </a:defRPr>
            </a:pPr>
            <a:endParaRPr/>
          </a:p>
        </c:txPr>
        <c:crosses val="autoZero"/>
        <c:auto val="1"/>
        <c:lblAlgn val="ctr"/>
        <c:lblOffset val="100"/>
        <c:tickMarkSkip val="1"/>
        <c:noMultiLvlLbl val="0"/>
      </c:catAx>
      <c:valAx>
        <c:axId val="2113994440"/>
        <c:scaling>
          <c:orientation val="minMax"/>
          <c:max val="0.35999999999999999"/>
          <c:min val="0"/>
        </c:scaling>
        <c:axPos val="b"/>
        <c:crossAx val="2068027336"/>
        <c:delete val="1"/>
        <c:numFmt formatCode="0.0%" sourceLinked="0"/>
        <c:majorTickMark val="out"/>
        <c:minorTickMark val="none"/>
        <c:tickLblPos val="nextTo"/>
        <c:spPr>
          <a:ln w="9525">
            <a:noFill/>
          </a:ln>
        </c:spPr>
        <c:txPr>
          <a:bodyPr rot="0" vert="horz" wrap="none" lIns="0" tIns="0" rIns="0" bIns="0" anchor="ctr" anchorCtr="1"/>
          <a:p>
            <a:pPr algn="l">
              <a:defRPr sz="900" b="0" i="0" u="none">
                <a:solidFill>
                  <a:srgbClr val="8c889a"/>
                </a:solidFill>
              </a:defRPr>
            </a:pPr>
            <a:endParaRPr/>
          </a:p>
        </c:txPr>
        <c:crosses val="autoZero"/>
        <c:crossBetween val="between"/>
      </c:valAx>
      <c:spPr>
        <a:noFill/>
        <a:ln w="9525" cap="flat" cmpd="sng" algn="ctr">
          <a:noFill/>
          <a:prstDash val="solid"/>
          <a:round/>
          <a:headEnd w="med" len="med"/>
          <a:tailEnd w="med" len="med"/>
        </a:ln>
      </c:spPr>
    </c:plotArea>
    <c:plotVisOnly val="0"/>
    <c:dispBlanksAs val="gap"/>
  </c:chart>
  <c:txPr>
    <a:bodyPr rot="0" vert="horz" wrap="none" lIns="0" tIns="0" rIns="0" bIns="0" anchor="ctr" anchorCtr="1"/>
    <a:p>
      <a:pPr algn="l">
        <a:defRPr sz="1000" b="0" i="0" u="none">
          <a:solidFill>
            <a:srgbClr val="5f5b6b"/>
          </a:solidFill>
          <a:latin typeface="Pretendard Medium"/>
        </a:defRPr>
      </a:pPr>
      <a:endParaRPr/>
    </a:p>
  </c:txPr>
  <c:extLst>
    <c:ext uri="CC8EB2C9-7E31-499d-B8F2-F6CE61031016">
      <ho:hncChartStyle xmlns:ho="http://schemas.haansoft.com/office/8.0" layoutIndex="-1" colorIndex="-1" styleIndex="-1"/>
    </c:ext>
  </c:extLst>
</c:chartSpace>
</file>

<file path=ppt/charts/chart2.xml><?xml version="1.0" encoding="utf-8"?>
<c:chartSpace xmlns:r="http://schemas.openxmlformats.org/officeDocument/2006/relationships" xmlns:a="http://schemas.openxmlformats.org/drawingml/2006/main" xmlns:c="http://schemas.openxmlformats.org/drawingml/2006/chart">
  <c:date1904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이탈률</c:v>
                </c:pt>
              </c:strCache>
            </c:strRef>
          </c:tx>
          <c:dPt>
            <c:idx val="0"/>
            <c:invertIfNegative val="0"/>
            <c:bubble3D val="0"/>
            <c:spPr>
              <a:solidFill>
                <a:srgbClr val="6e4fcb"/>
              </a:solidFill>
              <a:ln>
                <a:noFill/>
              </a:ln>
            </c:spPr>
          </c:dPt>
          <c:dPt>
            <c:idx val="1"/>
            <c:invertIfNegative val="0"/>
            <c:bubble3D val="0"/>
            <c:spPr>
              <a:solidFill>
                <a:srgbClr val="d9cff5"/>
              </a:solidFill>
              <a:ln>
                <a:noFill/>
              </a:ln>
            </c:spPr>
          </c:dPt>
          <c:invertIfNegative val="0"/>
          <c:cat>
            <c:strRef>
              <c:f>Sheet1!$A$2:$A$3</c:f>
              <c:strCache>
                <c:ptCount val="2"/>
                <c:pt idx="0">
                  <c:v>로그 있음 (81,719명)</c:v>
                </c:pt>
                <c:pt idx="1">
                  <c:v>로그 없음 (18,281명)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0.0939</c:v>
                </c:pt>
                <c:pt idx="1">
                  <c:v>0.0698</c:v>
                </c:pt>
              </c:numCache>
            </c:numRef>
          </c:val>
        </c:ser>
        <c:dLbls>
          <c:delete val="0"/>
          <c:numFmt formatCode="0.00%" sourceLinked="0"/>
          <c:txPr>
            <a:bodyPr rot="0" vert="horz" wrap="none" lIns="0" tIns="0" rIns="0" bIns="0" anchor="ctr" anchorCtr="1"/>
            <a:p>
              <a:pPr algn="l">
                <a:defRPr sz="1100" b="1" i="0" u="none">
                  <a:solidFill>
                    <a:srgbClr val="1c1a22"/>
                  </a:solidFill>
                </a:defRPr>
              </a:pPr>
              <a:endParaRPr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20"/>
        <c:overlap val="0"/>
        <c:axId val="2068027336"/>
        <c:axId val="2113994440"/>
      </c:barChart>
      <c:catAx>
        <c:axId val="2068027336"/>
        <c:scaling>
          <c:orientation val="minMax"/>
        </c:scaling>
        <c:axPos val="b"/>
        <c:crossAx val="2113994440"/>
        <c:delete val="0"/>
        <c:majorTickMark val="out"/>
        <c:minorTickMark val="none"/>
        <c:tickLblPos val="nextTo"/>
        <c:spPr>
          <a:ln w="9525">
            <a:solidFill>
              <a:srgbClr val="e6e2ee"/>
            </a:solidFill>
          </a:ln>
        </c:spPr>
        <c:txPr>
          <a:bodyPr rot="0" vert="horz" wrap="none" lIns="0" tIns="0" rIns="0" bIns="0" anchor="ctr" anchorCtr="1"/>
          <a:p>
            <a:pPr algn="l">
              <a:defRPr sz="1050" b="0" i="0" u="none">
                <a:solidFill>
                  <a:srgbClr val="3e3b47"/>
                </a:solidFill>
              </a:defRPr>
            </a:pPr>
            <a:endParaRPr/>
          </a:p>
        </c:txPr>
        <c:crosses val="autoZero"/>
        <c:auto val="1"/>
        <c:lblAlgn val="ctr"/>
        <c:lblOffset val="100"/>
        <c:tickMarkSkip val="1"/>
        <c:noMultiLvlLbl val="0"/>
      </c:catAx>
      <c:valAx>
        <c:axId val="2113994440"/>
        <c:scaling>
          <c:orientation val="minMax"/>
          <c:max val="0.12"/>
          <c:min val="0"/>
        </c:scaling>
        <c:axPos val="l"/>
        <c:crossAx val="2068027336"/>
        <c:delete val="1"/>
        <c:numFmt formatCode="0.00%" sourceLinked="0"/>
        <c:majorTickMark val="out"/>
        <c:minorTickMark val="none"/>
        <c:tickLblPos val="nextTo"/>
        <c:spPr>
          <a:ln w="9525">
            <a:noFill/>
          </a:ln>
        </c:spPr>
        <c:txPr>
          <a:bodyPr rot="0" vert="horz" wrap="none" lIns="0" tIns="0" rIns="0" bIns="0" anchor="ctr" anchorCtr="1"/>
          <a:p>
            <a:pPr algn="l">
              <a:defRPr sz="900" b="0" i="0" u="none">
                <a:solidFill>
                  <a:srgbClr val="8c889a"/>
                </a:solidFill>
              </a:defRPr>
            </a:pPr>
            <a:endParaRPr/>
          </a:p>
        </c:txPr>
        <c:crosses val="autoZero"/>
        <c:crossBetween val="between"/>
      </c:valAx>
      <c:spPr>
        <a:noFill/>
        <a:ln w="9525" cap="flat" cmpd="sng" algn="ctr">
          <a:noFill/>
          <a:prstDash val="solid"/>
          <a:round/>
          <a:headEnd w="med" len="med"/>
          <a:tailEnd w="med" len="med"/>
        </a:ln>
      </c:spPr>
    </c:plotArea>
    <c:plotVisOnly val="0"/>
    <c:dispBlanksAs val="gap"/>
  </c:chart>
  <c:txPr>
    <a:bodyPr rot="0" vert="horz" wrap="none" lIns="0" tIns="0" rIns="0" bIns="0" anchor="ctr" anchorCtr="1"/>
    <a:p>
      <a:pPr algn="l">
        <a:defRPr sz="1000" b="0" i="0" u="none">
          <a:solidFill>
            <a:srgbClr val="5f5b6b"/>
          </a:solidFill>
          <a:latin typeface="Pretendard Medium"/>
        </a:defRPr>
      </a:pPr>
      <a:endParaRPr/>
    </a:p>
  </c:txPr>
  <c:extLst>
    <c:ext uri="CC8EB2C9-7E31-499d-B8F2-F6CE61031016">
      <ho:hncChartStyle xmlns:ho="http://schemas.haansoft.com/office/8.0" layoutIndex="-1" colorIndex="-1" styleIndex="-1"/>
    </c:ext>
  </c:extLst>
</c:chartSpace>
</file>

<file path=ppt/charts/chart3.xml><?xml version="1.0" encoding="utf-8"?>
<c:chartSpace xmlns:r="http://schemas.openxmlformats.org/officeDocument/2006/relationships" xmlns:a="http://schemas.openxmlformats.org/drawingml/2006/main" xmlns:c="http://schemas.openxmlformats.org/drawingml/2006/chart">
  <c:date1904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ROC-AUC</c:v>
                </c:pt>
              </c:strCache>
            </c:strRef>
          </c:tx>
          <c:dPt>
            <c:idx val="0"/>
            <c:invertIfNegative val="0"/>
            <c:bubble3D val="0"/>
            <c:spPr>
              <a:solidFill>
                <a:srgbClr val="d9cff5"/>
              </a:solidFill>
              <a:ln>
                <a:noFill/>
              </a:ln>
            </c:spPr>
          </c:dPt>
          <c:dPt>
            <c:idx val="1"/>
            <c:invertIfNegative val="0"/>
            <c:bubble3D val="0"/>
            <c:spPr>
              <a:solidFill>
                <a:srgbClr val="d9cff5"/>
              </a:solidFill>
              <a:ln>
                <a:noFill/>
              </a:ln>
            </c:spPr>
          </c:dPt>
          <c:dPt>
            <c:idx val="2"/>
            <c:invertIfNegative val="0"/>
            <c:bubble3D val="0"/>
            <c:spPr>
              <a:solidFill>
                <a:srgbClr val="b9a6ee"/>
              </a:solidFill>
              <a:ln>
                <a:noFill/>
              </a:ln>
            </c:spPr>
          </c:dPt>
          <c:dPt>
            <c:idx val="3"/>
            <c:invertIfNegative val="0"/>
            <c:bubble3D val="0"/>
            <c:spPr>
              <a:solidFill>
                <a:srgbClr val="6e4fcb"/>
              </a:solidFill>
              <a:ln>
                <a:noFill/>
              </a:ln>
            </c:spPr>
          </c:dPt>
          <c:invertIfNegative val="0"/>
          <c:cat>
            <c:strRef>
              <c:f>Sheet1!$A$2:$A$5</c:f>
              <c:strCache>
                <c:ptCount val="4"/>
                <c:pt idx="0">
                  <c:v>기본 17개</c:v>
                </c:pt>
                <c:pt idx="1">
                  <c:v>25개</c:v>
                </c:pt>
                <c:pt idx="2">
                  <c:v>전체 40개</c:v>
                </c:pt>
                <c:pt idx="3">
                  <c:v>최종 33개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0.861</c:v>
                </c:pt>
                <c:pt idx="1">
                  <c:v>0.864</c:v>
                </c:pt>
                <c:pt idx="2">
                  <c:v>0.87</c:v>
                </c:pt>
                <c:pt idx="3">
                  <c:v>0.869</c:v>
                </c:pt>
              </c:numCache>
            </c:numRef>
          </c:val>
        </c:ser>
        <c:dLbls>
          <c:delete val="0"/>
          <c:numFmt formatCode="0.000" sourceLinked="0"/>
          <c:txPr>
            <a:bodyPr rot="0" vert="horz" wrap="none" lIns="0" tIns="0" rIns="0" bIns="0" anchor="ctr" anchorCtr="1"/>
            <a:p>
              <a:pPr algn="l">
                <a:defRPr sz="1100" b="1" i="0" u="none">
                  <a:solidFill>
                    <a:srgbClr val="1c1a22"/>
                  </a:solidFill>
                </a:defRPr>
              </a:pPr>
              <a:endParaRPr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90"/>
        <c:overlap val="0"/>
        <c:axId val="2068027336"/>
        <c:axId val="2113994440"/>
      </c:barChart>
      <c:catAx>
        <c:axId val="2068027336"/>
        <c:scaling>
          <c:orientation val="minMax"/>
        </c:scaling>
        <c:axPos val="b"/>
        <c:crossAx val="2113994440"/>
        <c:delete val="0"/>
        <c:majorTickMark val="out"/>
        <c:minorTickMark val="none"/>
        <c:tickLblPos val="nextTo"/>
        <c:spPr>
          <a:ln w="9525">
            <a:solidFill>
              <a:srgbClr val="e6e2ee"/>
            </a:solidFill>
          </a:ln>
        </c:spPr>
        <c:txPr>
          <a:bodyPr rot="0" vert="horz" wrap="none" lIns="0" tIns="0" rIns="0" bIns="0" anchor="ctr" anchorCtr="1"/>
          <a:p>
            <a:pPr algn="l">
              <a:defRPr sz="1050" b="0" i="0" u="none">
                <a:solidFill>
                  <a:srgbClr val="3e3b47"/>
                </a:solidFill>
              </a:defRPr>
            </a:pPr>
            <a:endParaRPr/>
          </a:p>
        </c:txPr>
        <c:crosses val="autoZero"/>
        <c:auto val="1"/>
        <c:lblAlgn val="ctr"/>
        <c:lblOffset val="100"/>
        <c:tickMarkSkip val="1"/>
        <c:noMultiLvlLbl val="0"/>
      </c:catAx>
      <c:valAx>
        <c:axId val="2113994440"/>
        <c:scaling>
          <c:orientation val="minMax"/>
          <c:max val="0.875"/>
          <c:min val="0.84999999999999998"/>
        </c:scaling>
        <c:axPos val="l"/>
        <c:crossAx val="2068027336"/>
        <c:delete val="0"/>
        <c:majorGridlines>
          <c:spPr>
            <a:ln w="6350">
              <a:solidFill>
                <a:srgbClr val="e9e6ef"/>
              </a:solidFill>
            </a:ln>
          </c:spPr>
        </c:majorGridlines>
        <c:numFmt formatCode="0.000" sourceLinked="0"/>
        <c:majorTickMark val="out"/>
        <c:minorTickMark val="none"/>
        <c:tickLblPos val="nextTo"/>
        <c:spPr>
          <a:ln w="9525">
            <a:noFill/>
          </a:ln>
        </c:spPr>
        <c:txPr>
          <a:bodyPr rot="0" vert="horz" wrap="none" lIns="0" tIns="0" rIns="0" bIns="0" anchor="ctr" anchorCtr="1"/>
          <a:p>
            <a:pPr algn="l">
              <a:defRPr sz="900" b="0" i="0" u="none">
                <a:solidFill>
                  <a:srgbClr val="8c889a"/>
                </a:solidFill>
              </a:defRPr>
            </a:pPr>
            <a:endParaRPr/>
          </a:p>
        </c:txPr>
        <c:crosses val="autoZero"/>
        <c:crossBetween val="between"/>
        <c:majorUnit val="0.0050000000000000001"/>
      </c:valAx>
      <c:spPr>
        <a:noFill/>
        <a:ln w="9525" cap="flat" cmpd="sng" algn="ctr">
          <a:noFill/>
          <a:prstDash val="solid"/>
          <a:round/>
          <a:headEnd w="med" len="med"/>
          <a:tailEnd w="med" len="med"/>
        </a:ln>
      </c:spPr>
    </c:plotArea>
    <c:plotVisOnly val="0"/>
    <c:dispBlanksAs val="gap"/>
  </c:chart>
  <c:txPr>
    <a:bodyPr rot="0" vert="horz" wrap="none" lIns="0" tIns="0" rIns="0" bIns="0" anchor="ctr" anchorCtr="1"/>
    <a:p>
      <a:pPr algn="l">
        <a:defRPr sz="1000" b="0" i="0" u="none">
          <a:solidFill>
            <a:srgbClr val="5f5b6b"/>
          </a:solidFill>
          <a:latin typeface="Pretendard Medium"/>
        </a:defRPr>
      </a:pPr>
      <a:endParaRPr/>
    </a:p>
  </c:txPr>
  <c:extLst>
    <c:ext uri="CC8EB2C9-7E31-499d-B8F2-F6CE61031016">
      <ho:hncChartStyle xmlns:ho="http://schemas.haansoft.com/office/8.0" layoutIndex="-1" colorIndex="-1" styleIndex="-1"/>
    </c:ext>
  </c:extLst>
  <c:externalData r:id="rId1">
    <c:autoUpdate val="0"/>
  </c:externalData>
</c:chartSpace>
</file>

<file path=ppt/charts/chart4.xml><?xml version="1.0" encoding="utf-8"?>
<c:chartSpace xmlns:r="http://schemas.openxmlformats.org/officeDocument/2006/relationships" xmlns:a="http://schemas.openxmlformats.org/drawingml/2006/main" xmlns:c="http://schemas.openxmlformats.org/drawingml/2006/chart">
  <c:date1904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ROC-AUC</c:v>
                </c:pt>
              </c:strCache>
            </c:strRef>
          </c:tx>
          <c:dPt>
            <c:idx val="0"/>
            <c:invertIfNegative val="0"/>
            <c:bubble3D val="0"/>
            <c:spPr>
              <a:solidFill>
                <a:srgbClr val="6e4fcb"/>
              </a:solidFill>
              <a:ln>
                <a:noFill/>
              </a:ln>
            </c:spPr>
          </c:dPt>
          <c:dPt>
            <c:idx val="1"/>
            <c:invertIfNegative val="0"/>
            <c:bubble3D val="0"/>
            <c:spPr>
              <a:solidFill>
                <a:srgbClr val="b9a6ee"/>
              </a:solidFill>
              <a:ln>
                <a:noFill/>
              </a:ln>
            </c:spPr>
          </c:dPt>
          <c:dPt>
            <c:idx val="2"/>
            <c:invertIfNegative val="0"/>
            <c:bubble3D val="0"/>
            <c:spPr>
              <a:solidFill>
                <a:srgbClr val="d9cff5"/>
              </a:solidFill>
              <a:ln>
                <a:noFill/>
              </a:ln>
            </c:spPr>
          </c:dPt>
          <c:invertIfNegative val="0"/>
          <c:cat>
            <c:strRef>
              <c:f>Sheet1!$A$2:$A$4</c:f>
              <c:strCache>
                <c:ptCount val="3"/>
                <c:pt idx="0">
                  <c:v>CatBoost</c:v>
                </c:pt>
                <c:pt idx="1">
                  <c:v>LightGBM</c:v>
                </c:pt>
                <c:pt idx="2">
                  <c:v>XGBoost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0.87</c:v>
                </c:pt>
                <c:pt idx="1">
                  <c:v>0.869</c:v>
                </c:pt>
                <c:pt idx="2">
                  <c:v>0.857</c:v>
                </c:pt>
              </c:numCache>
            </c:numRef>
          </c:val>
        </c:ser>
        <c:dLbls>
          <c:delete val="0"/>
          <c:numFmt formatCode="0.000" sourceLinked="0"/>
          <c:txPr>
            <a:bodyPr rot="0" vert="horz" wrap="none" lIns="0" tIns="0" rIns="0" bIns="0" anchor="ctr" anchorCtr="1"/>
            <a:p>
              <a:pPr algn="l">
                <a:defRPr sz="1100" b="1" i="0" u="none">
                  <a:solidFill>
                    <a:srgbClr val="1c1a22"/>
                  </a:solidFill>
                </a:defRPr>
              </a:pPr>
              <a:endParaRPr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10"/>
        <c:overlap val="0"/>
        <c:axId val="2068027336"/>
        <c:axId val="2113994440"/>
      </c:barChart>
      <c:catAx>
        <c:axId val="2068027336"/>
        <c:scaling>
          <c:orientation val="minMax"/>
        </c:scaling>
        <c:axPos val="b"/>
        <c:crossAx val="2113994440"/>
        <c:delete val="0"/>
        <c:majorTickMark val="out"/>
        <c:minorTickMark val="none"/>
        <c:tickLblPos val="nextTo"/>
        <c:spPr>
          <a:ln w="9525">
            <a:solidFill>
              <a:srgbClr val="e6e2ee"/>
            </a:solidFill>
          </a:ln>
        </c:spPr>
        <c:txPr>
          <a:bodyPr rot="0" vert="horz" wrap="none" lIns="0" tIns="0" rIns="0" bIns="0" anchor="ctr" anchorCtr="1"/>
          <a:p>
            <a:pPr algn="l">
              <a:defRPr sz="1050" b="0" i="0" u="none">
                <a:solidFill>
                  <a:srgbClr val="3e3b47"/>
                </a:solidFill>
              </a:defRPr>
            </a:pPr>
            <a:endParaRPr/>
          </a:p>
        </c:txPr>
        <c:crosses val="autoZero"/>
        <c:auto val="1"/>
        <c:lblAlgn val="ctr"/>
        <c:lblOffset val="100"/>
        <c:tickMarkSkip val="1"/>
        <c:noMultiLvlLbl val="0"/>
      </c:catAx>
      <c:valAx>
        <c:axId val="2113994440"/>
        <c:scaling>
          <c:orientation val="minMax"/>
          <c:max val="0.875"/>
          <c:min val="0.83999999999999997"/>
        </c:scaling>
        <c:axPos val="l"/>
        <c:crossAx val="2068027336"/>
        <c:delete val="0"/>
        <c:majorGridlines>
          <c:spPr>
            <a:ln w="6350">
              <a:solidFill>
                <a:srgbClr val="e9e6ef"/>
              </a:solidFill>
            </a:ln>
          </c:spPr>
        </c:majorGridlines>
        <c:numFmt formatCode="0.000" sourceLinked="0"/>
        <c:majorTickMark val="out"/>
        <c:minorTickMark val="none"/>
        <c:tickLblPos val="nextTo"/>
        <c:spPr>
          <a:ln w="9525">
            <a:noFill/>
          </a:ln>
        </c:spPr>
        <c:txPr>
          <a:bodyPr rot="0" vert="horz" wrap="none" lIns="0" tIns="0" rIns="0" bIns="0" anchor="ctr" anchorCtr="1"/>
          <a:p>
            <a:pPr algn="l">
              <a:defRPr sz="900" b="0" i="0" u="none">
                <a:solidFill>
                  <a:srgbClr val="8c889a"/>
                </a:solidFill>
              </a:defRPr>
            </a:pPr>
            <a:endParaRPr/>
          </a:p>
        </c:txPr>
        <c:crosses val="autoZero"/>
        <c:crossBetween val="between"/>
        <c:majorUnit val="0.0050000000000000001"/>
      </c:valAx>
      <c:spPr>
        <a:noFill/>
        <a:ln w="9525" cap="flat" cmpd="sng" algn="ctr">
          <a:noFill/>
          <a:prstDash val="solid"/>
          <a:round/>
          <a:headEnd w="med" len="med"/>
          <a:tailEnd w="med" len="med"/>
        </a:ln>
      </c:spPr>
    </c:plotArea>
    <c:plotVisOnly val="0"/>
    <c:dispBlanksAs val="gap"/>
  </c:chart>
  <c:txPr>
    <a:bodyPr rot="0" vert="horz" wrap="none" lIns="0" tIns="0" rIns="0" bIns="0" anchor="ctr" anchorCtr="1"/>
    <a:p>
      <a:pPr algn="l">
        <a:defRPr sz="1000" b="0" i="0" u="none">
          <a:solidFill>
            <a:srgbClr val="5f5b6b"/>
          </a:solidFill>
          <a:latin typeface="Pretendard Medium"/>
        </a:defRPr>
      </a:pPr>
      <a:endParaRPr/>
    </a:p>
  </c:txPr>
  <c:extLst>
    <c:ext uri="CC8EB2C9-7E31-499d-B8F2-F6CE61031016">
      <ho:hncChartStyle xmlns:ho="http://schemas.haansoft.com/office/8.0" layoutIndex="-1" colorIndex="-1" styleIndex="-1"/>
    </c:ext>
  </c:extLst>
  <c:externalData r:id="rId1">
    <c:autoUpdate val="0"/>
  </c:externalData>
</c:chartSpace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.png"  /><Relationship Id="rId3" Type="http://schemas.openxmlformats.org/officeDocument/2006/relationships/image" Target="../media/image1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2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chart" Target="../charts/chart1.xml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chart" Target="../charts/chart2.xml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2.png" 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1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chart" Target="../charts/chart3.xml"  /></Relationships>
</file>

<file path=ppt/slides/_rels/slide1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chart" Target="../charts/chart4.xml"  /></Relationships>
</file>

<file path=ppt/slides/_rels/slide1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1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2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2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3.png"  /><Relationship Id="rId3" Type="http://schemas.openxmlformats.org/officeDocument/2006/relationships/image" Target="../media/image4.png"  /></Relationships>
</file>

<file path=ppt/slides/_rels/slide2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5.png"  /><Relationship Id="rId3" Type="http://schemas.openxmlformats.org/officeDocument/2006/relationships/image" Target="../media/image5.png"  /><Relationship Id="rId4" Type="http://schemas.openxmlformats.org/officeDocument/2006/relationships/image" Target="../media/image5.png"  /></Relationships>
</file>

<file path=ppt/slides/_rels/slide2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2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6.png"  /></Relationships>
</file>

<file path=ppt/slides/_rels/slide2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7.png"  /></Relationships>
</file>

<file path=ppt/slides/_rels/slide2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8.png"  /></Relationships>
</file>

<file path=ppt/slides/_rels/slide2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9.png"  /></Relationships>
</file>

<file path=ppt/slides/_rels/slide2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0.png"  /></Relationships>
</file>

<file path=ppt/slides/_rels/slide2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1.png"  /></Relationships>
</file>

<file path=ppt/slides/_rels/slide3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2.png"  /></Relationships>
</file>

<file path=ppt/slides/_rels/slide3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3.png"  /></Relationships>
</file>

<file path=ppt/slides/_rels/slide3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4.png"  /><Relationship Id="rId3" Type="http://schemas.openxmlformats.org/officeDocument/2006/relationships/image" Target="../media/image1.png"  /><Relationship Id="rId4" Type="http://schemas.openxmlformats.org/officeDocument/2006/relationships/image" Target="../media/image15.png"  /><Relationship Id="rId5" Type="http://schemas.openxmlformats.org/officeDocument/2006/relationships/image" Target="../media/image1.png"  /><Relationship Id="rId6" Type="http://schemas.openxmlformats.org/officeDocument/2006/relationships/image" Target="../media/image16.png"  /><Relationship Id="rId7" Type="http://schemas.openxmlformats.org/officeDocument/2006/relationships/image" Target="../media/image1.png"  /><Relationship Id="rId8" Type="http://schemas.openxmlformats.org/officeDocument/2006/relationships/image" Target="../media/image17.png"  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0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665976" y="1179576"/>
            <a:ext cx="4498847" cy="4498847"/>
          </a:xfrm>
          <a:prstGeom prst="ellipse">
            <a:avLst/>
          </a:prstGeom>
          <a:solidFill>
            <a:srgbClr val="17151C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040880" y="1554480"/>
            <a:ext cx="3749039" cy="3749039"/>
          </a:xfrm>
          <a:prstGeom prst="ellipse">
            <a:avLst/>
          </a:prstGeom>
          <a:solidFill>
            <a:srgbClr val="1E1C24"/>
          </a:solidFill>
          <a:ln w="15875">
            <a:solidFill>
              <a:srgbClr val="4A4A52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228332" y="1741932"/>
            <a:ext cx="3374136" cy="3374136"/>
          </a:xfrm>
          <a:prstGeom prst="ellipse">
            <a:avLst/>
          </a:prstGeom>
          <a:noFill/>
          <a:ln w="9525">
            <a:solidFill>
              <a:srgbClr val="2C2A33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15783" y="1929384"/>
            <a:ext cx="2999232" cy="2999232"/>
          </a:xfrm>
          <a:prstGeom prst="ellipse">
            <a:avLst/>
          </a:prstGeom>
          <a:noFill/>
          <a:ln w="9525">
            <a:solidFill>
              <a:srgbClr val="2C2A33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603236" y="2116836"/>
            <a:ext cx="2624327" cy="2624327"/>
          </a:xfrm>
          <a:prstGeom prst="ellipse">
            <a:avLst/>
          </a:prstGeom>
          <a:noFill/>
          <a:ln w="9525">
            <a:solidFill>
              <a:srgbClr val="2C2A33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90688" y="2304288"/>
            <a:ext cx="2249423" cy="2249423"/>
          </a:xfrm>
          <a:prstGeom prst="ellipse">
            <a:avLst/>
          </a:prstGeom>
          <a:noFill/>
          <a:ln w="9525">
            <a:solidFill>
              <a:srgbClr val="2C2A33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978140" y="2491740"/>
            <a:ext cx="1874519" cy="1874519"/>
          </a:xfrm>
          <a:prstGeom prst="ellipse">
            <a:avLst/>
          </a:prstGeom>
          <a:noFill/>
          <a:ln w="9525">
            <a:solidFill>
              <a:srgbClr val="2C2A33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203082" y="2716682"/>
            <a:ext cx="1424635" cy="1424635"/>
          </a:xfrm>
          <a:prstGeom prst="ellipse">
            <a:avLst/>
          </a:prstGeom>
          <a:solidFill>
            <a:srgbClr val="9C7EDB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840419" y="3354019"/>
            <a:ext cx="149961" cy="149961"/>
          </a:xfrm>
          <a:prstGeom prst="ellipse">
            <a:avLst/>
          </a:prstGeom>
          <a:solidFill>
            <a:srgbClr val="100F13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 rot="840000">
            <a:off x="6516014" y="2079345"/>
            <a:ext cx="4798771" cy="2699308"/>
          </a:xfrm>
          <a:prstGeom prst="ellipse">
            <a:avLst/>
          </a:prstGeom>
          <a:noFill/>
          <a:ln w="12700">
            <a:solidFill>
              <a:srgbClr val="8063D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72250" y="2248052"/>
            <a:ext cx="487375" cy="487375"/>
          </a:xfrm>
          <a:prstGeom prst="ellipse">
            <a:avLst/>
          </a:prstGeom>
          <a:solidFill>
            <a:srgbClr val="2B203E"/>
          </a:solidFill>
          <a:ln w="15875">
            <a:solidFill>
              <a:srgbClr val="9C7EDB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02468" y="1798167"/>
            <a:ext cx="562355" cy="562355"/>
          </a:xfrm>
          <a:prstGeom prst="ellipse">
            <a:avLst/>
          </a:prstGeom>
          <a:solidFill>
            <a:srgbClr val="3A2434"/>
          </a:solidFill>
          <a:ln w="15875">
            <a:solidFill>
              <a:srgbClr val="CC9EB8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059625" y="4516221"/>
            <a:ext cx="524865" cy="524865"/>
          </a:xfrm>
          <a:prstGeom prst="ellipse">
            <a:avLst/>
          </a:prstGeom>
          <a:solidFill>
            <a:srgbClr val="20372E"/>
          </a:solidFill>
          <a:ln w="15875">
            <a:solidFill>
              <a:srgbClr val="93BBA3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921136" y="3878884"/>
            <a:ext cx="412394" cy="412394"/>
          </a:xfrm>
          <a:prstGeom prst="ellipse">
            <a:avLst/>
          </a:prstGeom>
          <a:solidFill>
            <a:srgbClr val="222A40"/>
          </a:solidFill>
          <a:ln w="15875">
            <a:solidFill>
              <a:srgbClr val="8A9BCC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68680" y="2011680"/>
            <a:ext cx="2514600" cy="365760"/>
          </a:xfrm>
          <a:prstGeom prst="roundRect">
            <a:avLst>
              <a:gd name="adj" fmla="val 50000"/>
            </a:avLst>
          </a:prstGeom>
          <a:solidFill>
            <a:srgbClr val="221F2A"/>
          </a:solidFill>
          <a:ln w="9525">
            <a:solidFill>
              <a:srgbClr val="3A3545"/>
            </a:solidFill>
          </a:ln>
          <a:effectLst/>
        </p:spPr>
        <p:txBody>
          <a:bodyPr rtlCol="0" anchor="ctr" lIns="0" rIns="0" tIns="0" bIns="0" wrap="square"/>
          <a:lstStyle/>
          <a:p>
            <a:pPr algn="ctr"/>
            <a:r>
              <a:rPr sz="1150" b="0">
                <a:solidFill>
                  <a:srgbClr val="DCD2F5"/>
                </a:solidFill>
                <a:latin typeface="Pretendard SemiBold"/>
                <a:ea typeface="Pretendard SemiBold"/>
                <a:cs typeface="Pretendard SemiBold"/>
              </a:rPr>
              <a:t>음악 스트리밍 구독자 이탈 방지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2514600"/>
            <a:ext cx="5943600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800" b="0" spc="-300">
                <a:solidFill>
                  <a:srgbClr val="B59AEC"/>
                </a:solidFill>
                <a:latin typeface="Rubik SemiBold"/>
                <a:ea typeface="Rubik SemiBold"/>
                <a:cs typeface="Rubik SemiBold"/>
              </a:rPr>
              <a:t>KK</a:t>
            </a:r>
            <a:r>
              <a:rPr sz="8800" b="0" spc="-300">
                <a:solidFill>
                  <a:srgbClr val="F7F5F8"/>
                </a:solidFill>
                <a:latin typeface="Rubik SemiBold"/>
                <a:ea typeface="Rubik SemiBold"/>
                <a:cs typeface="Rubik SemiBold"/>
              </a:rPr>
              <a:t>eeper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069080"/>
            <a:ext cx="5943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C3BEC9"/>
                </a:solidFill>
                <a:latin typeface="Pretendard Medium"/>
                <a:ea typeface="Pretendard Medium"/>
                <a:cs typeface="Pretendard Medium"/>
              </a:rPr>
              <a:t>KKBOX 데이터 기반 고객 이탈 예측 · 마케팅 지원 서비스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6126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8E889A"/>
                </a:solidFill>
                <a:latin typeface="Pretendard Medium"/>
                <a:ea typeface="Pretendard Medium"/>
                <a:cs typeface="Pretendard Medium"/>
              </a:rPr>
              <a:t>SKN36기 2차 단위 프로젝트  ·  1팀  ·  2026.09.30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200">
                <a:solidFill>
                  <a:srgbClr val="6E4FCB"/>
                </a:solidFill>
                <a:latin typeface="Pretendard"/>
                <a:ea typeface="Pretendard"/>
                <a:cs typeface="Pretendard"/>
              </a:rPr>
              <a:t>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1C1A22"/>
                </a:solidFill>
                <a:latin typeface="Pretendard"/>
                <a:ea typeface="Pretendard"/>
                <a:cs typeface="Pretendard"/>
              </a:rPr>
              <a:t>목차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691640"/>
            <a:ext cx="5394960" cy="0"/>
          </a:xfrm>
          <a:prstGeom prst="line">
            <a:avLst/>
          </a:prstGeom>
          <a:ln w="9525">
            <a:solidFill>
              <a:srgbClr val="E6E2EE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548640" y="1947672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6E4FCB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92024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1C1A22"/>
                </a:solidFill>
                <a:latin typeface="Pretendard SemiBold"/>
                <a:ea typeface="Pretendard SemiBold"/>
                <a:cs typeface="Pretendard SemiBold"/>
              </a:rPr>
              <a:t>문제 정의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25856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8C889A"/>
                </a:solidFill>
                <a:latin typeface="Pretendard Medium"/>
                <a:ea typeface="Pretendard Medium"/>
                <a:cs typeface="Pretendard Medium"/>
              </a:rPr>
              <a:t>이탈 전 행동 변화와 프로젝트 목표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2788920"/>
            <a:ext cx="5394960" cy="0"/>
          </a:xfrm>
          <a:prstGeom prst="line">
            <a:avLst/>
          </a:prstGeom>
          <a:ln w="9525">
            <a:solidFill>
              <a:srgbClr val="E6E2EE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548640" y="3044952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6E4FCB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301752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1C1A22"/>
                </a:solidFill>
                <a:latin typeface="Pretendard SemiBold"/>
                <a:ea typeface="Pretendard SemiBold"/>
                <a:cs typeface="Pretendard SemiBold"/>
              </a:rPr>
              <a:t>데이터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335584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8C889A"/>
                </a:solidFill>
                <a:latin typeface="Pretendard Medium"/>
                <a:ea typeface="Pretendard Medium"/>
                <a:cs typeface="Pretendard Medium"/>
              </a:rPr>
              <a:t>KKBox 6개 테이블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48640" y="3886200"/>
            <a:ext cx="5394960" cy="0"/>
          </a:xfrm>
          <a:prstGeom prst="line">
            <a:avLst/>
          </a:prstGeom>
          <a:ln w="9525">
            <a:solidFill>
              <a:srgbClr val="E6E2EE"/>
            </a:solidFill>
          </a:ln>
        </p:spPr>
      </p:cxnSp>
      <p:sp>
        <p:nvSpPr>
          <p:cNvPr id="13" name="TextBox 12"/>
          <p:cNvSpPr txBox="1"/>
          <p:nvPr/>
        </p:nvSpPr>
        <p:spPr>
          <a:xfrm>
            <a:off x="548640" y="4142232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6E4FCB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411480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1C1A22"/>
                </a:solidFill>
                <a:latin typeface="Pretendard SemiBold"/>
                <a:ea typeface="Pretendard SemiBold"/>
                <a:cs typeface="Pretendard SemiBold"/>
              </a:rPr>
              <a:t>데이터 샘플링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45312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8C889A"/>
                </a:solidFill>
                <a:latin typeface="Pretendard Medium"/>
                <a:ea typeface="Pretendard Medium"/>
                <a:cs typeface="Pretendard Medium"/>
              </a:rPr>
              <a:t>10만 명 층화 추출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48640" y="4983479"/>
            <a:ext cx="5394960" cy="0"/>
          </a:xfrm>
          <a:prstGeom prst="line">
            <a:avLst/>
          </a:prstGeom>
          <a:ln w="9525">
            <a:solidFill>
              <a:srgbClr val="E6E2EE"/>
            </a:solidFill>
          </a:ln>
        </p:spPr>
      </p:cxnSp>
      <p:sp>
        <p:nvSpPr>
          <p:cNvPr id="17" name="TextBox 16"/>
          <p:cNvSpPr txBox="1"/>
          <p:nvPr/>
        </p:nvSpPr>
        <p:spPr>
          <a:xfrm>
            <a:off x="548640" y="5239512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6E4FCB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5212079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1C1A22"/>
                </a:solidFill>
                <a:latin typeface="Pretendard SemiBold"/>
                <a:ea typeface="Pretendard SemiBold"/>
                <a:cs typeface="Pretendard SemiBold"/>
              </a:rPr>
              <a:t>EDA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5550407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8C889A"/>
                </a:solidFill>
                <a:latin typeface="Pretendard Medium"/>
                <a:ea typeface="Pretendard Medium"/>
                <a:cs typeface="Pretendard Medium"/>
              </a:rPr>
              <a:t>누가, 어떤 상태에서 이탈하는가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217920" y="1691640"/>
            <a:ext cx="5394960" cy="0"/>
          </a:xfrm>
          <a:prstGeom prst="line">
            <a:avLst/>
          </a:prstGeom>
          <a:ln w="9525">
            <a:solidFill>
              <a:srgbClr val="E6E2EE"/>
            </a:solidFill>
          </a:ln>
        </p:spPr>
      </p:cxnSp>
      <p:sp>
        <p:nvSpPr>
          <p:cNvPr id="21" name="TextBox 20"/>
          <p:cNvSpPr txBox="1"/>
          <p:nvPr/>
        </p:nvSpPr>
        <p:spPr>
          <a:xfrm>
            <a:off x="6217920" y="1947672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6E4FCB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95159" y="192024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1C1A22"/>
                </a:solidFill>
                <a:latin typeface="Pretendard SemiBold"/>
                <a:ea typeface="Pretendard SemiBold"/>
                <a:cs typeface="Pretendard SemiBold"/>
              </a:rPr>
              <a:t>데이터 전처리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59" y="225856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8C889A"/>
                </a:solidFill>
                <a:latin typeface="Pretendard Medium"/>
                <a:ea typeface="Pretendard Medium"/>
                <a:cs typeface="Pretendard Medium"/>
              </a:rPr>
              <a:t>결측치 · 중복 · 피처 생성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217920" y="2788920"/>
            <a:ext cx="5394960" cy="0"/>
          </a:xfrm>
          <a:prstGeom prst="line">
            <a:avLst/>
          </a:prstGeom>
          <a:ln w="9525">
            <a:solidFill>
              <a:srgbClr val="E6E2EE"/>
            </a:solidFill>
          </a:ln>
        </p:spPr>
      </p:cxnSp>
      <p:sp>
        <p:nvSpPr>
          <p:cNvPr id="25" name="TextBox 24"/>
          <p:cNvSpPr txBox="1"/>
          <p:nvPr/>
        </p:nvSpPr>
        <p:spPr>
          <a:xfrm>
            <a:off x="6217920" y="3044952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6E4FCB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95159" y="301752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1C1A22"/>
                </a:solidFill>
                <a:latin typeface="Pretendard SemiBold"/>
                <a:ea typeface="Pretendard SemiBold"/>
                <a:cs typeface="Pretendard SemiBold"/>
              </a:rPr>
              <a:t>모델링 및 모델 선정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95159" y="335584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8C889A"/>
                </a:solidFill>
                <a:latin typeface="Pretendard Medium"/>
                <a:ea typeface="Pretendard Medium"/>
                <a:cs typeface="Pretendard Medium"/>
              </a:rPr>
              <a:t>Boosting 비교 → LightGBM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217920" y="3886200"/>
            <a:ext cx="5394960" cy="0"/>
          </a:xfrm>
          <a:prstGeom prst="line">
            <a:avLst/>
          </a:prstGeom>
          <a:ln w="9525">
            <a:solidFill>
              <a:srgbClr val="E6E2EE"/>
            </a:solidFill>
          </a:ln>
        </p:spPr>
      </p:cxnSp>
      <p:sp>
        <p:nvSpPr>
          <p:cNvPr id="29" name="TextBox 28"/>
          <p:cNvSpPr txBox="1"/>
          <p:nvPr/>
        </p:nvSpPr>
        <p:spPr>
          <a:xfrm>
            <a:off x="6217920" y="4142232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6E4FCB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95159" y="411480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1C1A22"/>
                </a:solidFill>
                <a:latin typeface="Pretendard SemiBold"/>
                <a:ea typeface="Pretendard SemiBold"/>
                <a:cs typeface="Pretendard SemiBold"/>
              </a:rPr>
              <a:t>XAI 분석 및 고객 클러스터링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95159" y="445312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8C889A"/>
                </a:solidFill>
                <a:latin typeface="Pretendard Medium"/>
                <a:ea typeface="Pretendard Medium"/>
                <a:cs typeface="Pretendard Medium"/>
              </a:rPr>
              <a:t>SHAP · K-Means 4개 유형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217920" y="4983479"/>
            <a:ext cx="5394960" cy="0"/>
          </a:xfrm>
          <a:prstGeom prst="line">
            <a:avLst/>
          </a:prstGeom>
          <a:ln w="9525">
            <a:solidFill>
              <a:srgbClr val="E6E2EE"/>
            </a:solidFill>
          </a:ln>
        </p:spPr>
      </p:cxnSp>
      <p:sp>
        <p:nvSpPr>
          <p:cNvPr id="33" name="TextBox 32"/>
          <p:cNvSpPr txBox="1"/>
          <p:nvPr/>
        </p:nvSpPr>
        <p:spPr>
          <a:xfrm>
            <a:off x="6217920" y="5239512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6E4FCB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95159" y="5212079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1C1A22"/>
                </a:solidFill>
                <a:latin typeface="Pretendard SemiBold"/>
                <a:ea typeface="Pretendard SemiBold"/>
                <a:cs typeface="Pretendard SemiBold"/>
              </a:rPr>
              <a:t>서비스 핵심 기능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95159" y="5550407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8C889A"/>
                </a:solidFill>
                <a:latin typeface="Pretendard Medium"/>
                <a:ea typeface="Pretendard Medium"/>
                <a:cs typeface="Pretendard Medium"/>
              </a:rPr>
              <a:t>KKeeper 워크스페이스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400800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C889A"/>
                </a:solidFill>
                <a:latin typeface="Pretendard SemiBold"/>
                <a:ea typeface="Pretendard SemiBold"/>
                <a:cs typeface="Pretendard SemiBold"/>
              </a:rPr>
              <a:t>KKeeper</a:t>
            </a:r>
          </a:p>
        </p:txBody>
      </p:sp>
    </p:spTree>
  </p:cSld>
  <p:clrMapOvr>
    <a:masterClrMapping/>
  </p:clrMapOvr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a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5720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100" b="1">
                <a:solidFill>
                  <a:srgbClr val="6e4fcb"/>
                </a:solidFill>
                <a:latin typeface="Pretendard"/>
                <a:ea typeface="Pretendard"/>
                <a:cs typeface="Pretendard"/>
              </a:rPr>
              <a:t>01</a:t>
            </a:r>
            <a:r>
              <a:rPr sz="1100" b="0">
                <a:solidFill>
                  <a:srgbClr val="8c889a"/>
                </a:solidFill>
                <a:latin typeface="Pretendard Medium"/>
                <a:ea typeface="Pretendard Medium"/>
                <a:cs typeface="Pretendard Medium"/>
              </a:rPr>
              <a:t>   문제 정의</a:t>
            </a:r>
            <a:endParaRPr sz="1100" b="0">
              <a:solidFill>
                <a:srgbClr val="8c889a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/>
            </a:pPr>
            <a:r>
              <a:rPr sz="2400" b="1">
                <a:solidFill>
                  <a:srgbClr val="1c1a22"/>
                </a:solidFill>
                <a:latin typeface="Pretendard"/>
                <a:ea typeface="Pretendard"/>
                <a:cs typeface="Pretendard"/>
              </a:rPr>
              <a:t>이탈 전 나타나는 </a:t>
            </a:r>
            <a:r>
              <a:rPr sz="2400" b="1">
                <a:solidFill>
                  <a:srgbClr val="6e4fcb"/>
                </a:solidFill>
                <a:latin typeface="Pretendard"/>
                <a:ea typeface="Pretendard"/>
                <a:cs typeface="Pretendard"/>
              </a:rPr>
              <a:t>3단계 행동 변화</a:t>
            </a:r>
            <a:endParaRPr sz="2400" b="1">
              <a:solidFill>
                <a:srgbClr val="6e4fcb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2743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900" b="0">
                <a:solidFill>
                  <a:srgbClr val="8c889a"/>
                </a:solidFill>
                <a:latin typeface="Pretendard SemiBold"/>
                <a:ea typeface="Pretendard SemiBold"/>
                <a:cs typeface="Pretendard SemiBold"/>
              </a:rPr>
              <a:t>KKeeper</a:t>
            </a:r>
            <a:endParaRPr sz="900" b="0">
              <a:solidFill>
                <a:srgbClr val="8c889a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25912" y="6400800"/>
            <a:ext cx="914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defRPr/>
            </a:pPr>
            <a:r>
              <a:rPr sz="900" b="0">
                <a:solidFill>
                  <a:srgbClr val="8c889a"/>
                </a:solidFill>
                <a:latin typeface="Pretendard Medium"/>
                <a:ea typeface="Pretendard Medium"/>
                <a:cs typeface="Pretendard Medium"/>
              </a:rPr>
              <a:t>03</a:t>
            </a:r>
            <a:endParaRPr sz="900" b="0">
              <a:solidFill>
                <a:srgbClr val="8c889a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3502152" cy="1325880"/>
          </a:xfrm>
          <a:prstGeom prst="roundRect">
            <a:avLst>
              <a:gd name="adj" fmla="val 9655"/>
            </a:avLst>
          </a:prstGeom>
          <a:solidFill>
            <a:srgbClr val="ffffff"/>
          </a:solidFill>
          <a:ln w="9525">
            <a:solidFill>
              <a:srgbClr val="e6e2ee"/>
            </a:solidFill>
          </a:ln>
          <a:effectLst/>
        </p:spPr>
        <p:txBody>
          <a:bodyPr lIns="0" tIns="0" rIns="0" bIns="0"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7" name="Oval 6"/>
          <p:cNvSpPr/>
          <p:nvPr/>
        </p:nvSpPr>
        <p:spPr>
          <a:xfrm>
            <a:off x="822959" y="2103120"/>
            <a:ext cx="310896" cy="310896"/>
          </a:xfrm>
          <a:prstGeom prst="ellipse">
            <a:avLst/>
          </a:prstGeom>
          <a:solidFill>
            <a:srgbClr val="efe9fc"/>
          </a:solidFill>
          <a:ln>
            <a:noFill/>
          </a:ln>
          <a:effectLst/>
        </p:spPr>
        <p:txBody>
          <a:bodyPr wrap="square" lIns="0" tIns="0" rIns="0" bIns="0" anchor="ctr"/>
          <a:lstStyle/>
          <a:p>
            <a:pPr algn="ctr">
              <a:defRPr/>
            </a:pPr>
            <a:r>
              <a:rPr sz="1100" b="1">
                <a:solidFill>
                  <a:srgbClr val="6e4fcb"/>
                </a:solidFill>
                <a:latin typeface="Pretendard"/>
                <a:ea typeface="Pretendard"/>
                <a:cs typeface="Pretendard"/>
              </a:rPr>
              <a:t>1</a:t>
            </a:r>
            <a:endParaRPr sz="1100" b="1">
              <a:solidFill>
                <a:srgbClr val="6e4fcb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2959" y="2542032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500" b="0">
                <a:solidFill>
                  <a:srgbClr val="1c1a22"/>
                </a:solidFill>
                <a:latin typeface="Pretendard SemiBold"/>
                <a:ea typeface="Pretendard SemiBold"/>
                <a:cs typeface="Pretendard SemiBold"/>
              </a:rPr>
              <a:t>청취 활동 감소</a:t>
            </a:r>
            <a:endParaRPr sz="1500" b="0">
              <a:solidFill>
                <a:srgbClr val="1c1a2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59" y="2816352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150" b="0">
                <a:solidFill>
                  <a:srgbClr val="5f5b6b"/>
                </a:solidFill>
                <a:latin typeface="Pretendard Medium"/>
                <a:ea typeface="Pretendard Medium"/>
                <a:cs typeface="Pretendard Medium"/>
              </a:rPr>
              <a:t>청취 시간 · 곡 수가 줄어듦</a:t>
            </a:r>
            <a:endParaRPr sz="1150" b="0">
              <a:solidFill>
                <a:srgbClr val="5f5b6b"/>
              </a:solidFill>
              <a:latin typeface="Pretendard Medium"/>
              <a:ea typeface="Pretendard Medium"/>
              <a:cs typeface="Pretendard Medium"/>
            </a:endParaRPr>
          </a:p>
        </p:txBody>
      </p:sp>
      <p:pic>
        <p:nvPicPr>
          <p:cNvPr id="10" name="Picture 9" descr="arrow_p.pn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114800" y="2377440"/>
            <a:ext cx="219456" cy="219456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4343400" y="1828800"/>
            <a:ext cx="3502152" cy="1325880"/>
          </a:xfrm>
          <a:prstGeom prst="roundRect">
            <a:avLst>
              <a:gd name="adj" fmla="val 9655"/>
            </a:avLst>
          </a:prstGeom>
          <a:solidFill>
            <a:srgbClr val="ffffff"/>
          </a:solidFill>
          <a:ln w="9525">
            <a:solidFill>
              <a:srgbClr val="e6e2ee"/>
            </a:solidFill>
          </a:ln>
          <a:effectLst/>
        </p:spPr>
        <p:txBody>
          <a:bodyPr lIns="0" tIns="0" rIns="0" bIns="0"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2" name="Oval 11"/>
          <p:cNvSpPr/>
          <p:nvPr/>
        </p:nvSpPr>
        <p:spPr>
          <a:xfrm>
            <a:off x="4617720" y="2103120"/>
            <a:ext cx="310896" cy="310896"/>
          </a:xfrm>
          <a:prstGeom prst="ellipse">
            <a:avLst/>
          </a:prstGeom>
          <a:solidFill>
            <a:srgbClr val="efe9fc"/>
          </a:solidFill>
          <a:ln>
            <a:noFill/>
          </a:ln>
          <a:effectLst/>
        </p:spPr>
        <p:txBody>
          <a:bodyPr wrap="square" lIns="0" tIns="0" rIns="0" bIns="0" anchor="ctr"/>
          <a:lstStyle/>
          <a:p>
            <a:pPr algn="ctr">
              <a:defRPr/>
            </a:pPr>
            <a:r>
              <a:rPr sz="1100" b="1">
                <a:solidFill>
                  <a:srgbClr val="6e4fcb"/>
                </a:solidFill>
                <a:latin typeface="Pretendard"/>
                <a:ea typeface="Pretendard"/>
                <a:cs typeface="Pretendard"/>
              </a:rPr>
              <a:t>2</a:t>
            </a:r>
            <a:endParaRPr sz="1100" b="1">
              <a:solidFill>
                <a:srgbClr val="6e4fcb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617720" y="2542032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500" b="0">
                <a:solidFill>
                  <a:srgbClr val="1c1a22"/>
                </a:solidFill>
                <a:latin typeface="Pretendard SemiBold"/>
                <a:ea typeface="Pretendard SemiBold"/>
                <a:cs typeface="Pretendard SemiBold"/>
              </a:rPr>
              <a:t>자동 결제 해제</a:t>
            </a:r>
            <a:endParaRPr sz="1500" b="0">
              <a:solidFill>
                <a:srgbClr val="1c1a2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617720" y="2816352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150" b="0">
                <a:solidFill>
                  <a:srgbClr val="5f5b6b"/>
                </a:solidFill>
                <a:latin typeface="Pretendard Medium"/>
                <a:ea typeface="Pretendard Medium"/>
                <a:cs typeface="Pretendard Medium"/>
              </a:rPr>
              <a:t>구독 유지 의지가 약해짐</a:t>
            </a:r>
            <a:endParaRPr sz="1150" b="0">
              <a:solidFill>
                <a:srgbClr val="5f5b6b"/>
              </a:solidFill>
              <a:latin typeface="Pretendard Medium"/>
              <a:ea typeface="Pretendard Medium"/>
              <a:cs typeface="Pretendard Medium"/>
            </a:endParaRPr>
          </a:p>
        </p:txBody>
      </p:sp>
      <p:pic>
        <p:nvPicPr>
          <p:cNvPr id="15" name="Picture 14" descr="arrow_p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7909560" y="2377440"/>
            <a:ext cx="219456" cy="219456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8138160" y="1828800"/>
            <a:ext cx="3502152" cy="1325880"/>
          </a:xfrm>
          <a:prstGeom prst="roundRect">
            <a:avLst>
              <a:gd name="adj" fmla="val 9655"/>
            </a:avLst>
          </a:prstGeom>
          <a:solidFill>
            <a:srgbClr val="ffffff"/>
          </a:solidFill>
          <a:ln w="9525">
            <a:solidFill>
              <a:srgbClr val="e6e2ee"/>
            </a:solidFill>
          </a:ln>
          <a:effectLst/>
        </p:spPr>
        <p:txBody>
          <a:bodyPr lIns="0" tIns="0" rIns="0" bIns="0"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7" name="Oval 16"/>
          <p:cNvSpPr/>
          <p:nvPr/>
        </p:nvSpPr>
        <p:spPr>
          <a:xfrm>
            <a:off x="8412480" y="2103120"/>
            <a:ext cx="310896" cy="310896"/>
          </a:xfrm>
          <a:prstGeom prst="ellipse">
            <a:avLst/>
          </a:prstGeom>
          <a:solidFill>
            <a:srgbClr val="efe9fc"/>
          </a:solidFill>
          <a:ln>
            <a:noFill/>
          </a:ln>
          <a:effectLst/>
        </p:spPr>
        <p:txBody>
          <a:bodyPr wrap="square" lIns="0" tIns="0" rIns="0" bIns="0" anchor="ctr"/>
          <a:lstStyle/>
          <a:p>
            <a:pPr algn="ctr">
              <a:defRPr/>
            </a:pPr>
            <a:r>
              <a:rPr sz="1100" b="1">
                <a:solidFill>
                  <a:srgbClr val="6e4fcb"/>
                </a:solidFill>
                <a:latin typeface="Pretendard"/>
                <a:ea typeface="Pretendard"/>
                <a:cs typeface="Pretendard"/>
              </a:rPr>
              <a:t>3</a:t>
            </a:r>
            <a:endParaRPr sz="1100" b="1">
              <a:solidFill>
                <a:srgbClr val="6e4fcb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412480" y="2542032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500" b="0">
                <a:solidFill>
                  <a:srgbClr val="1c1a22"/>
                </a:solidFill>
                <a:latin typeface="Pretendard SemiBold"/>
                <a:ea typeface="Pretendard SemiBold"/>
                <a:cs typeface="Pretendard SemiBold"/>
              </a:rPr>
              <a:t>결제 취소</a:t>
            </a:r>
            <a:endParaRPr sz="1500" b="0">
              <a:solidFill>
                <a:srgbClr val="1c1a2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412480" y="2816352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150" b="0">
                <a:solidFill>
                  <a:srgbClr val="5f5b6b"/>
                </a:solidFill>
                <a:latin typeface="Pretendard Medium"/>
                <a:ea typeface="Pretendard Medium"/>
                <a:cs typeface="Pretendard Medium"/>
              </a:rPr>
              <a:t>실제 이탈 발생</a:t>
            </a:r>
            <a:endParaRPr sz="1150" b="0">
              <a:solidFill>
                <a:srgbClr val="5f5b6b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8640" y="36118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300" b="0">
                <a:solidFill>
                  <a:srgbClr val="1c1a22"/>
                </a:solidFill>
                <a:latin typeface="Pretendard SemiBold"/>
                <a:ea typeface="Pretendard SemiBold"/>
                <a:cs typeface="Pretendard SemiBold"/>
              </a:rPr>
              <a:t>그래서 풀어야 할 문제</a:t>
            </a:r>
            <a:endParaRPr sz="1300" b="0">
              <a:solidFill>
                <a:srgbClr val="1c1a2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548640" y="4023360"/>
            <a:ext cx="3502152" cy="1463040"/>
          </a:xfrm>
          <a:prstGeom prst="roundRect">
            <a:avLst>
              <a:gd name="adj" fmla="val 8750"/>
            </a:avLst>
          </a:prstGeom>
          <a:solidFill>
            <a:srgbClr val="f3eefd"/>
          </a:solidFill>
          <a:ln>
            <a:noFill/>
          </a:ln>
          <a:effectLst/>
        </p:spPr>
        <p:txBody>
          <a:bodyPr lIns="0" tIns="0" rIns="0" bIns="0"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2" name="TextBox 21"/>
          <p:cNvSpPr txBox="1"/>
          <p:nvPr/>
        </p:nvSpPr>
        <p:spPr>
          <a:xfrm>
            <a:off x="822959" y="4251960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400" b="0">
                <a:solidFill>
                  <a:srgbClr val="4f35a8"/>
                </a:solidFill>
                <a:latin typeface="Pretendard SemiBold"/>
                <a:ea typeface="Pretendard SemiBold"/>
                <a:cs typeface="Pretendard SemiBold"/>
              </a:rPr>
              <a:t>이탈 판단이 어렵다</a:t>
            </a:r>
            <a:endParaRPr sz="1400" b="0">
              <a:solidFill>
                <a:srgbClr val="4f35a8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22958" y="4617720"/>
            <a:ext cx="2971801" cy="5924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65000"/>
              </a:lnSpc>
              <a:defRPr/>
            </a:pPr>
            <a:r>
              <a:rPr sz="1200" b="0">
                <a:solidFill>
                  <a:srgbClr val="3e3b47"/>
                </a:solidFill>
                <a:latin typeface="Pretendard Medium"/>
                <a:ea typeface="Pretendard Medium"/>
                <a:cs typeface="Pretendard Medium"/>
              </a:rPr>
              <a:t>단순 해지만으로는 실제 이탈을 알기 어렵고,</a:t>
            </a:r>
            <a:endParaRPr sz="1200" b="0">
              <a:solidFill>
                <a:srgbClr val="3e3b47"/>
              </a:solidFill>
              <a:latin typeface="Pretendard Medium"/>
              <a:ea typeface="Pretendard Medium"/>
              <a:cs typeface="Pretendard Medium"/>
            </a:endParaRPr>
          </a:p>
          <a:p>
            <a:pPr algn="l">
              <a:lnSpc>
                <a:spcPct val="165000"/>
              </a:lnSpc>
              <a:defRPr/>
            </a:pPr>
            <a:r>
              <a:rPr sz="1200" b="0">
                <a:solidFill>
                  <a:srgbClr val="3e3b47"/>
                </a:solidFill>
                <a:latin typeface="Pretendard Medium"/>
                <a:ea typeface="Pretendard Medium"/>
                <a:cs typeface="Pretendard Medium"/>
              </a:rPr>
              <a:t>행동 변화가 복합적으로 나타남</a:t>
            </a:r>
            <a:endParaRPr sz="1200" b="0">
              <a:solidFill>
                <a:srgbClr val="3e3b47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4343400" y="4023360"/>
            <a:ext cx="3502152" cy="1463040"/>
          </a:xfrm>
          <a:prstGeom prst="roundRect">
            <a:avLst>
              <a:gd name="adj" fmla="val 8750"/>
            </a:avLst>
          </a:prstGeom>
          <a:solidFill>
            <a:srgbClr val="f3eefd"/>
          </a:solidFill>
          <a:ln>
            <a:noFill/>
          </a:ln>
          <a:effectLst/>
        </p:spPr>
        <p:txBody>
          <a:bodyPr lIns="0" tIns="0" rIns="0" bIns="0"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5" name="TextBox 24"/>
          <p:cNvSpPr txBox="1"/>
          <p:nvPr/>
        </p:nvSpPr>
        <p:spPr>
          <a:xfrm>
            <a:off x="4617720" y="4251960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400" b="0">
                <a:solidFill>
                  <a:srgbClr val="4f35a8"/>
                </a:solidFill>
                <a:latin typeface="Pretendard SemiBold"/>
                <a:ea typeface="Pretendard SemiBold"/>
                <a:cs typeface="Pretendard SemiBold"/>
              </a:rPr>
              <a:t>데이터가 흩어져 있다</a:t>
            </a:r>
            <a:endParaRPr sz="1400" b="0">
              <a:solidFill>
                <a:srgbClr val="4f35a8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617720" y="4617720"/>
            <a:ext cx="2971800" cy="5924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65000"/>
              </a:lnSpc>
              <a:defRPr/>
            </a:pPr>
            <a:r>
              <a:rPr sz="1200" b="0">
                <a:solidFill>
                  <a:srgbClr val="3e3b47"/>
                </a:solidFill>
                <a:latin typeface="Pretendard Medium"/>
                <a:ea typeface="Pretendard Medium"/>
                <a:cs typeface="Pretendard Medium"/>
              </a:rPr>
              <a:t>회원 정보 · 결제 내역 · 청취 로그가</a:t>
            </a:r>
            <a:endParaRPr sz="1200" b="0">
              <a:solidFill>
                <a:srgbClr val="3e3b47"/>
              </a:solidFill>
              <a:latin typeface="Pretendard Medium"/>
              <a:ea typeface="Pretendard Medium"/>
              <a:cs typeface="Pretendard Medium"/>
            </a:endParaRPr>
          </a:p>
          <a:p>
            <a:pPr algn="l">
              <a:lnSpc>
                <a:spcPct val="165000"/>
              </a:lnSpc>
              <a:defRPr/>
            </a:pPr>
            <a:r>
              <a:rPr sz="1200" b="0">
                <a:solidFill>
                  <a:srgbClr val="3e3b47"/>
                </a:solidFill>
                <a:latin typeface="Pretendard Medium"/>
                <a:ea typeface="Pretendard Medium"/>
                <a:cs typeface="Pretendard Medium"/>
              </a:rPr>
              <a:t>서로 다른 테이블에 분산</a:t>
            </a:r>
            <a:endParaRPr sz="1200" b="0">
              <a:solidFill>
                <a:srgbClr val="3e3b47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8138160" y="4023360"/>
            <a:ext cx="3502152" cy="1463040"/>
          </a:xfrm>
          <a:prstGeom prst="roundRect">
            <a:avLst>
              <a:gd name="adj" fmla="val 8750"/>
            </a:avLst>
          </a:prstGeom>
          <a:solidFill>
            <a:srgbClr val="f3eefd"/>
          </a:solidFill>
          <a:ln>
            <a:noFill/>
          </a:ln>
          <a:effectLst/>
        </p:spPr>
        <p:txBody>
          <a:bodyPr lIns="0" tIns="0" rIns="0" bIns="0"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8" name="TextBox 27"/>
          <p:cNvSpPr txBox="1"/>
          <p:nvPr/>
        </p:nvSpPr>
        <p:spPr>
          <a:xfrm>
            <a:off x="8412480" y="4251960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400" b="0">
                <a:solidFill>
                  <a:srgbClr val="4f35a8"/>
                </a:solidFill>
                <a:latin typeface="Pretendard SemiBold"/>
                <a:ea typeface="Pretendard SemiBold"/>
                <a:cs typeface="Pretendard SemiBold"/>
              </a:rPr>
              <a:t>정확한 예측이 필요하다</a:t>
            </a:r>
            <a:endParaRPr sz="1400" b="0">
              <a:solidFill>
                <a:srgbClr val="4f35a8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412480" y="4617720"/>
            <a:ext cx="2971800" cy="5924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65000"/>
              </a:lnSpc>
              <a:defRPr/>
            </a:pPr>
            <a:r>
              <a:rPr sz="1200" b="0">
                <a:solidFill>
                  <a:srgbClr val="3e3b47"/>
                </a:solidFill>
                <a:latin typeface="Pretendard Medium"/>
                <a:ea typeface="Pretendard Medium"/>
                <a:cs typeface="Pretendard Medium"/>
              </a:rPr>
              <a:t>이탈 원인까지 설명하는 예측</a:t>
            </a:r>
            <a:endParaRPr sz="1200" b="0">
              <a:solidFill>
                <a:srgbClr val="3e3b47"/>
              </a:solidFill>
              <a:latin typeface="Pretendard Medium"/>
              <a:ea typeface="Pretendard Medium"/>
              <a:cs typeface="Pretendard Medium"/>
            </a:endParaRPr>
          </a:p>
          <a:p>
            <a:pPr algn="l">
              <a:lnSpc>
                <a:spcPct val="165000"/>
              </a:lnSpc>
              <a:defRPr/>
            </a:pPr>
            <a:r>
              <a:rPr sz="1200" b="0">
                <a:solidFill>
                  <a:srgbClr val="3e3b47"/>
                </a:solidFill>
                <a:latin typeface="Pretendard Medium"/>
                <a:ea typeface="Pretendard Medium"/>
                <a:cs typeface="Pretendard Medium"/>
              </a:rPr>
              <a:t>→ WSDM Challenge 데이터 활용</a:t>
            </a:r>
            <a:endParaRPr sz="1200" b="0">
              <a:solidFill>
                <a:srgbClr val="3e3b47"/>
              </a:solidFill>
              <a:latin typeface="Pretendard Medium"/>
              <a:ea typeface="Pretendard Medium"/>
              <a:cs typeface="Pretendard Medium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a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5720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100" b="1">
                <a:solidFill>
                  <a:srgbClr val="6e4fcb"/>
                </a:solidFill>
                <a:latin typeface="Pretendard"/>
                <a:ea typeface="Pretendard"/>
                <a:cs typeface="Pretendard"/>
              </a:rPr>
              <a:t>01</a:t>
            </a:r>
            <a:r>
              <a:rPr sz="1100" b="0">
                <a:solidFill>
                  <a:srgbClr val="8c889a"/>
                </a:solidFill>
                <a:latin typeface="Pretendard Medium"/>
                <a:ea typeface="Pretendard Medium"/>
                <a:cs typeface="Pretendard Medium"/>
              </a:rPr>
              <a:t>   문제 정의</a:t>
            </a:r>
            <a:endParaRPr sz="1100" b="0">
              <a:solidFill>
                <a:srgbClr val="8c889a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/>
            </a:pPr>
            <a:r>
              <a:rPr sz="2400" b="1">
                <a:solidFill>
                  <a:srgbClr val="1c1a22"/>
                </a:solidFill>
                <a:latin typeface="Pretendard"/>
                <a:ea typeface="Pretendard"/>
                <a:cs typeface="Pretendard"/>
              </a:rPr>
              <a:t>프로젝트 목표 — </a:t>
            </a:r>
            <a:r>
              <a:rPr sz="2400" b="1">
                <a:solidFill>
                  <a:srgbClr val="6e4fcb"/>
                </a:solidFill>
                <a:latin typeface="Pretendard"/>
                <a:ea typeface="Pretendard"/>
                <a:cs typeface="Pretendard"/>
              </a:rPr>
              <a:t>누가 · 왜 · 어떻게</a:t>
            </a:r>
            <a:endParaRPr sz="2400" b="1">
              <a:solidFill>
                <a:srgbClr val="6e4fcb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2743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900" b="0">
                <a:solidFill>
                  <a:srgbClr val="8c889a"/>
                </a:solidFill>
                <a:latin typeface="Pretendard SemiBold"/>
                <a:ea typeface="Pretendard SemiBold"/>
                <a:cs typeface="Pretendard SemiBold"/>
              </a:rPr>
              <a:t>KKeeper</a:t>
            </a:r>
            <a:endParaRPr sz="900" b="0">
              <a:solidFill>
                <a:srgbClr val="8c889a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25912" y="6400800"/>
            <a:ext cx="914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defRPr/>
            </a:pPr>
            <a:r>
              <a:rPr sz="900" b="0">
                <a:solidFill>
                  <a:srgbClr val="8c889a"/>
                </a:solidFill>
                <a:latin typeface="Pretendard Medium"/>
                <a:ea typeface="Pretendard Medium"/>
                <a:cs typeface="Pretendard Medium"/>
              </a:rPr>
              <a:t>04</a:t>
            </a:r>
            <a:endParaRPr sz="900" b="0">
              <a:solidFill>
                <a:srgbClr val="8c889a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2606040" cy="3017520"/>
          </a:xfrm>
          <a:prstGeom prst="roundRect">
            <a:avLst>
              <a:gd name="adj" fmla="val 4912"/>
            </a:avLst>
          </a:prstGeom>
          <a:solidFill>
            <a:srgbClr val="ffffff"/>
          </a:solidFill>
          <a:ln w="9525">
            <a:solidFill>
              <a:srgbClr val="e6e2ee"/>
            </a:solidFill>
          </a:ln>
          <a:effectLst/>
        </p:spPr>
        <p:txBody>
          <a:bodyPr lIns="0" tIns="0" rIns="0" bIns="0"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822959" y="210312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2600" b="1">
                <a:solidFill>
                  <a:srgbClr val="6e4fcb"/>
                </a:solidFill>
                <a:latin typeface="Pretendard"/>
                <a:ea typeface="Pretendard"/>
                <a:cs typeface="Pretendard"/>
              </a:rPr>
              <a:t>01</a:t>
            </a:r>
            <a:endParaRPr sz="2600" b="1">
              <a:solidFill>
                <a:srgbClr val="6e4fcb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2959" y="2788920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500" b="0">
                <a:solidFill>
                  <a:srgbClr val="1c1a22"/>
                </a:solidFill>
                <a:latin typeface="Pretendard SemiBold"/>
                <a:ea typeface="Pretendard SemiBold"/>
                <a:cs typeface="Pretendard SemiBold"/>
              </a:rPr>
              <a:t>고객 단위 통합</a:t>
            </a:r>
            <a:endParaRPr sz="1500" b="0">
              <a:solidFill>
                <a:srgbClr val="1c1a2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59" y="3154680"/>
            <a:ext cx="2103120" cy="5981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65000"/>
              </a:lnSpc>
              <a:defRPr/>
            </a:pPr>
            <a:r>
              <a:rPr sz="1200" b="0">
                <a:solidFill>
                  <a:srgbClr val="5f5b6b"/>
                </a:solidFill>
                <a:latin typeface="Pretendard Medium"/>
                <a:ea typeface="Pretendard Medium"/>
                <a:cs typeface="Pretendard Medium"/>
              </a:rPr>
              <a:t>분산된 회원 · 결제 · 로그를</a:t>
            </a:r>
            <a:endParaRPr sz="1200" b="0">
              <a:solidFill>
                <a:srgbClr val="5f5b6b"/>
              </a:solidFill>
              <a:latin typeface="Pretendard Medium"/>
              <a:ea typeface="Pretendard Medium"/>
              <a:cs typeface="Pretendard Medium"/>
            </a:endParaRPr>
          </a:p>
          <a:p>
            <a:pPr algn="l">
              <a:lnSpc>
                <a:spcPct val="165000"/>
              </a:lnSpc>
              <a:defRPr/>
            </a:pPr>
            <a:r>
              <a:rPr sz="1200" b="0">
                <a:solidFill>
                  <a:srgbClr val="5f5b6b"/>
                </a:solidFill>
                <a:latin typeface="Pretendard Medium"/>
                <a:ea typeface="Pretendard Medium"/>
                <a:cs typeface="Pretendard Medium"/>
              </a:rPr>
              <a:t>고객 한 명 단위로</a:t>
            </a:r>
            <a:endParaRPr sz="1200" b="0">
              <a:solidFill>
                <a:srgbClr val="5f5b6b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22959" y="4206240"/>
            <a:ext cx="1600200" cy="329184"/>
          </a:xfrm>
          <a:prstGeom prst="roundRect">
            <a:avLst>
              <a:gd name="adj" fmla="val 50000"/>
            </a:avLst>
          </a:prstGeom>
          <a:solidFill>
            <a:srgbClr val="efe9fc"/>
          </a:solidFill>
          <a:ln>
            <a:noFill/>
          </a:ln>
          <a:effectLst/>
        </p:spPr>
        <p:txBody>
          <a:bodyPr wrap="square" lIns="0" tIns="0" rIns="0" bIns="0" anchor="ctr"/>
          <a:lstStyle/>
          <a:p>
            <a:pPr algn="ctr">
              <a:defRPr/>
            </a:pPr>
            <a:r>
              <a:rPr sz="1050" b="0">
                <a:solidFill>
                  <a:srgbClr val="4f35a8"/>
                </a:solidFill>
                <a:latin typeface="Pretendard SemiBold"/>
                <a:ea typeface="Pretendard SemiBold"/>
                <a:cs typeface="Pretendard SemiBold"/>
              </a:rPr>
              <a:t>회원 · 결제 · 로그</a:t>
            </a:r>
            <a:endParaRPr sz="1050" b="0">
              <a:solidFill>
                <a:srgbClr val="4f35a8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3383280" y="1828800"/>
            <a:ext cx="2606040" cy="3017520"/>
          </a:xfrm>
          <a:prstGeom prst="roundRect">
            <a:avLst>
              <a:gd name="adj" fmla="val 4912"/>
            </a:avLst>
          </a:prstGeom>
          <a:solidFill>
            <a:srgbClr val="ffffff"/>
          </a:solidFill>
          <a:ln w="9525">
            <a:solidFill>
              <a:srgbClr val="e6e2ee"/>
            </a:solidFill>
          </a:ln>
          <a:effectLst/>
        </p:spPr>
        <p:txBody>
          <a:bodyPr lIns="0" tIns="0" rIns="0" bIns="0"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3657600" y="210312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2600" b="1">
                <a:solidFill>
                  <a:srgbClr val="6e4fcb"/>
                </a:solidFill>
                <a:latin typeface="Pretendard"/>
                <a:ea typeface="Pretendard"/>
                <a:cs typeface="Pretendard"/>
              </a:rPr>
              <a:t>02</a:t>
            </a:r>
            <a:endParaRPr sz="2600" b="1">
              <a:solidFill>
                <a:srgbClr val="6e4fcb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657600" y="2788920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500" b="0">
                <a:solidFill>
                  <a:srgbClr val="1c1a22"/>
                </a:solidFill>
                <a:latin typeface="Pretendard SemiBold"/>
                <a:ea typeface="Pretendard SemiBold"/>
                <a:cs typeface="Pretendard SemiBold"/>
              </a:rPr>
              <a:t>이탈 위험 예측</a:t>
            </a:r>
            <a:endParaRPr sz="1500" b="0">
              <a:solidFill>
                <a:srgbClr val="1c1a2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657600" y="3154680"/>
            <a:ext cx="2103120" cy="5981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65000"/>
              </a:lnSpc>
              <a:defRPr/>
            </a:pPr>
            <a:r>
              <a:rPr sz="1200" b="0">
                <a:solidFill>
                  <a:srgbClr val="5f5b6b"/>
                </a:solidFill>
                <a:latin typeface="Pretendard Medium"/>
                <a:ea typeface="Pretendard Medium"/>
                <a:cs typeface="Pretendard Medium"/>
              </a:rPr>
              <a:t>통합 데이터로 고객별</a:t>
            </a:r>
            <a:endParaRPr sz="1200" b="0">
              <a:solidFill>
                <a:srgbClr val="5f5b6b"/>
              </a:solidFill>
              <a:latin typeface="Pretendard Medium"/>
              <a:ea typeface="Pretendard Medium"/>
              <a:cs typeface="Pretendard Medium"/>
            </a:endParaRPr>
          </a:p>
          <a:p>
            <a:pPr algn="l">
              <a:lnSpc>
                <a:spcPct val="165000"/>
              </a:lnSpc>
              <a:defRPr/>
            </a:pPr>
            <a:r>
              <a:rPr sz="1200" b="0">
                <a:solidFill>
                  <a:srgbClr val="5f5b6b"/>
                </a:solidFill>
                <a:latin typeface="Pretendard Medium"/>
                <a:ea typeface="Pretendard Medium"/>
                <a:cs typeface="Pretendard Medium"/>
              </a:rPr>
              <a:t>이탈 확률 산출</a:t>
            </a:r>
            <a:endParaRPr sz="1200" b="0">
              <a:solidFill>
                <a:srgbClr val="5f5b6b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3657600" y="4206240"/>
            <a:ext cx="1600200" cy="329184"/>
          </a:xfrm>
          <a:prstGeom prst="roundRect">
            <a:avLst>
              <a:gd name="adj" fmla="val 50000"/>
            </a:avLst>
          </a:prstGeom>
          <a:solidFill>
            <a:srgbClr val="efe9fc"/>
          </a:solidFill>
          <a:ln>
            <a:noFill/>
          </a:ln>
          <a:effectLst/>
        </p:spPr>
        <p:txBody>
          <a:bodyPr wrap="square" lIns="0" tIns="0" rIns="0" bIns="0" anchor="ctr"/>
          <a:lstStyle/>
          <a:p>
            <a:pPr algn="ctr">
              <a:defRPr/>
            </a:pPr>
            <a:r>
              <a:rPr sz="1050" b="0">
                <a:solidFill>
                  <a:srgbClr val="4f35a8"/>
                </a:solidFill>
                <a:latin typeface="Pretendard SemiBold"/>
                <a:ea typeface="Pretendard SemiBold"/>
                <a:cs typeface="Pretendard SemiBold"/>
              </a:rPr>
              <a:t>LightGBM</a:t>
            </a:r>
            <a:endParaRPr sz="1050" b="0">
              <a:solidFill>
                <a:srgbClr val="4f35a8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217920" y="1828800"/>
            <a:ext cx="2606040" cy="3017520"/>
          </a:xfrm>
          <a:prstGeom prst="roundRect">
            <a:avLst>
              <a:gd name="adj" fmla="val 4912"/>
            </a:avLst>
          </a:prstGeom>
          <a:solidFill>
            <a:srgbClr val="ffffff"/>
          </a:solidFill>
          <a:ln w="9525">
            <a:solidFill>
              <a:srgbClr val="e6e2ee"/>
            </a:solidFill>
          </a:ln>
          <a:effectLst/>
        </p:spPr>
        <p:txBody>
          <a:bodyPr lIns="0" tIns="0" rIns="0" bIns="0"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7" name="TextBox 16"/>
          <p:cNvSpPr txBox="1"/>
          <p:nvPr/>
        </p:nvSpPr>
        <p:spPr>
          <a:xfrm>
            <a:off x="6492240" y="210312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2600" b="1">
                <a:solidFill>
                  <a:srgbClr val="6e4fcb"/>
                </a:solidFill>
                <a:latin typeface="Pretendard"/>
                <a:ea typeface="Pretendard"/>
                <a:cs typeface="Pretendard"/>
              </a:rPr>
              <a:t>03</a:t>
            </a:r>
            <a:endParaRPr sz="2600" b="1">
              <a:solidFill>
                <a:srgbClr val="6e4fcb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492240" y="2788920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500" b="0">
                <a:solidFill>
                  <a:srgbClr val="1c1a22"/>
                </a:solidFill>
                <a:latin typeface="Pretendard SemiBold"/>
                <a:ea typeface="Pretendard SemiBold"/>
                <a:cs typeface="Pretendard SemiBold"/>
              </a:rPr>
              <a:t>위험 유형 설명</a:t>
            </a:r>
            <a:endParaRPr sz="1500" b="0">
              <a:solidFill>
                <a:srgbClr val="1c1a2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492240" y="3154680"/>
            <a:ext cx="2103120" cy="5981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65000"/>
              </a:lnSpc>
              <a:defRPr/>
            </a:pPr>
            <a:r>
              <a:rPr sz="1200" b="0">
                <a:solidFill>
                  <a:srgbClr val="5f5b6b"/>
                </a:solidFill>
                <a:latin typeface="Pretendard Medium"/>
                <a:ea typeface="Pretendard Medium"/>
                <a:cs typeface="Pretendard Medium"/>
              </a:rPr>
              <a:t>SHAP으로 원인을 찾고</a:t>
            </a:r>
            <a:endParaRPr sz="1200" b="0">
              <a:solidFill>
                <a:srgbClr val="5f5b6b"/>
              </a:solidFill>
              <a:latin typeface="Pretendard Medium"/>
              <a:ea typeface="Pretendard Medium"/>
              <a:cs typeface="Pretendard Medium"/>
            </a:endParaRPr>
          </a:p>
          <a:p>
            <a:pPr algn="l">
              <a:lnSpc>
                <a:spcPct val="165000"/>
              </a:lnSpc>
              <a:defRPr/>
            </a:pPr>
            <a:r>
              <a:rPr sz="1200" b="0">
                <a:solidFill>
                  <a:srgbClr val="5f5b6b"/>
                </a:solidFill>
                <a:latin typeface="Pretendard Medium"/>
                <a:ea typeface="Pretendard Medium"/>
                <a:cs typeface="Pretendard Medium"/>
              </a:rPr>
              <a:t>고객 유형 정의</a:t>
            </a:r>
            <a:endParaRPr sz="1200" b="0">
              <a:solidFill>
                <a:srgbClr val="5f5b6b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492240" y="4206240"/>
            <a:ext cx="1600200" cy="329184"/>
          </a:xfrm>
          <a:prstGeom prst="roundRect">
            <a:avLst>
              <a:gd name="adj" fmla="val 50000"/>
            </a:avLst>
          </a:prstGeom>
          <a:solidFill>
            <a:srgbClr val="efe9fc"/>
          </a:solidFill>
          <a:ln>
            <a:noFill/>
          </a:ln>
          <a:effectLst/>
        </p:spPr>
        <p:txBody>
          <a:bodyPr wrap="square" lIns="0" tIns="0" rIns="0" bIns="0" anchor="ctr"/>
          <a:lstStyle/>
          <a:p>
            <a:pPr algn="ctr">
              <a:defRPr/>
            </a:pPr>
            <a:r>
              <a:rPr sz="1050" b="0">
                <a:solidFill>
                  <a:srgbClr val="4f35a8"/>
                </a:solidFill>
                <a:latin typeface="Pretendard SemiBold"/>
                <a:ea typeface="Pretendard SemiBold"/>
                <a:cs typeface="Pretendard SemiBold"/>
              </a:rPr>
              <a:t>SHAP + K-Means</a:t>
            </a:r>
            <a:endParaRPr sz="1050" b="0">
              <a:solidFill>
                <a:srgbClr val="4f35a8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9052560" y="1828800"/>
            <a:ext cx="2606040" cy="3017520"/>
          </a:xfrm>
          <a:prstGeom prst="roundRect">
            <a:avLst>
              <a:gd name="adj" fmla="val 4912"/>
            </a:avLst>
          </a:prstGeom>
          <a:solidFill>
            <a:srgbClr val="ffffff"/>
          </a:solidFill>
          <a:ln w="9525">
            <a:solidFill>
              <a:srgbClr val="e6e2ee"/>
            </a:solidFill>
          </a:ln>
          <a:effectLst/>
        </p:spPr>
        <p:txBody>
          <a:bodyPr lIns="0" tIns="0" rIns="0" bIns="0"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2" name="TextBox 21"/>
          <p:cNvSpPr txBox="1"/>
          <p:nvPr/>
        </p:nvSpPr>
        <p:spPr>
          <a:xfrm>
            <a:off x="9326880" y="210312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2600" b="1">
                <a:solidFill>
                  <a:srgbClr val="6e4fcb"/>
                </a:solidFill>
                <a:latin typeface="Pretendard"/>
                <a:ea typeface="Pretendard"/>
                <a:cs typeface="Pretendard"/>
              </a:rPr>
              <a:t>04</a:t>
            </a:r>
            <a:endParaRPr sz="2600" b="1">
              <a:solidFill>
                <a:srgbClr val="6e4fcb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326880" y="2788920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500" b="0">
                <a:solidFill>
                  <a:srgbClr val="1c1a22"/>
                </a:solidFill>
                <a:latin typeface="Pretendard SemiBold"/>
                <a:ea typeface="Pretendard SemiBold"/>
                <a:cs typeface="Pretendard SemiBold"/>
              </a:rPr>
              <a:t>마케팅 실험</a:t>
            </a:r>
            <a:endParaRPr sz="1500" b="0">
              <a:solidFill>
                <a:srgbClr val="1c1a2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326880" y="3154680"/>
            <a:ext cx="2103120" cy="5981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65000"/>
              </a:lnSpc>
              <a:defRPr/>
            </a:pPr>
            <a:r>
              <a:rPr sz="1200" b="0">
                <a:solidFill>
                  <a:srgbClr val="5f5b6b"/>
                </a:solidFill>
                <a:latin typeface="Pretendard Medium"/>
                <a:ea typeface="Pretendard Medium"/>
                <a:cs typeface="Pretendard Medium"/>
              </a:rPr>
              <a:t>위험 고객 대상 A/B 테스트로</a:t>
            </a:r>
            <a:endParaRPr sz="1200" b="0">
              <a:solidFill>
                <a:srgbClr val="5f5b6b"/>
              </a:solidFill>
              <a:latin typeface="Pretendard Medium"/>
              <a:ea typeface="Pretendard Medium"/>
              <a:cs typeface="Pretendard Medium"/>
            </a:endParaRPr>
          </a:p>
          <a:p>
            <a:pPr algn="l">
              <a:lnSpc>
                <a:spcPct val="165000"/>
              </a:lnSpc>
              <a:defRPr/>
            </a:pPr>
            <a:r>
              <a:rPr sz="1200" b="0">
                <a:solidFill>
                  <a:srgbClr val="5f5b6b"/>
                </a:solidFill>
                <a:latin typeface="Pretendard Medium"/>
                <a:ea typeface="Pretendard Medium"/>
                <a:cs typeface="Pretendard Medium"/>
              </a:rPr>
              <a:t>효과 측정</a:t>
            </a:r>
            <a:endParaRPr sz="1200" b="0">
              <a:solidFill>
                <a:srgbClr val="5f5b6b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9326880" y="4206240"/>
            <a:ext cx="1600200" cy="329184"/>
          </a:xfrm>
          <a:prstGeom prst="roundRect">
            <a:avLst>
              <a:gd name="adj" fmla="val 50000"/>
            </a:avLst>
          </a:prstGeom>
          <a:solidFill>
            <a:srgbClr val="efe9fc"/>
          </a:solidFill>
          <a:ln>
            <a:noFill/>
          </a:ln>
          <a:effectLst/>
        </p:spPr>
        <p:txBody>
          <a:bodyPr wrap="square" lIns="0" tIns="0" rIns="0" bIns="0" anchor="ctr"/>
          <a:lstStyle/>
          <a:p>
            <a:pPr algn="ctr">
              <a:defRPr/>
            </a:pPr>
            <a:r>
              <a:rPr sz="1050" b="0">
                <a:solidFill>
                  <a:srgbClr val="4f35a8"/>
                </a:solidFill>
                <a:latin typeface="Pretendard SemiBold"/>
                <a:ea typeface="Pretendard SemiBold"/>
                <a:cs typeface="Pretendard SemiBold"/>
              </a:rPr>
              <a:t>A/B 테스트</a:t>
            </a:r>
            <a:endParaRPr sz="1050" b="0">
              <a:solidFill>
                <a:srgbClr val="4f35a8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548640" y="5257800"/>
            <a:ext cx="11091672" cy="640080"/>
          </a:xfrm>
          <a:prstGeom prst="roundRect">
            <a:avLst>
              <a:gd name="adj" fmla="val 17142"/>
            </a:avLst>
          </a:prstGeom>
          <a:solidFill>
            <a:srgbClr val="f3eefd"/>
          </a:solidFill>
          <a:ln>
            <a:noFill/>
          </a:ln>
          <a:effectLst/>
        </p:spPr>
        <p:txBody>
          <a:bodyPr lIns="0" tIns="0" rIns="0" bIns="0"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7" name="TextBox 26"/>
          <p:cNvSpPr txBox="1"/>
          <p:nvPr/>
        </p:nvSpPr>
        <p:spPr>
          <a:xfrm>
            <a:off x="868680" y="525780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/>
            </a:pPr>
            <a:r>
              <a:rPr sz="1400" b="0">
                <a:solidFill>
                  <a:srgbClr val="4f35a8"/>
                </a:solidFill>
                <a:latin typeface="Pretendard SemiBold"/>
                <a:ea typeface="Pretendard SemiBold"/>
                <a:cs typeface="Pretendard SemiBold"/>
              </a:rPr>
              <a:t>누가 위험한가</a:t>
            </a:r>
            <a:r>
              <a:rPr sz="1400" b="1">
                <a:solidFill>
                  <a:srgbClr val="6e4fcb"/>
                </a:solidFill>
                <a:latin typeface="Pretendard"/>
                <a:ea typeface="Pretendard"/>
                <a:cs typeface="Pretendard"/>
              </a:rPr>
              <a:t>   →   </a:t>
            </a:r>
            <a:r>
              <a:rPr sz="1400" b="0">
                <a:solidFill>
                  <a:srgbClr val="4f35a8"/>
                </a:solidFill>
                <a:latin typeface="Pretendard SemiBold"/>
                <a:ea typeface="Pretendard SemiBold"/>
                <a:cs typeface="Pretendard SemiBold"/>
              </a:rPr>
              <a:t>왜 위험한가</a:t>
            </a:r>
            <a:r>
              <a:rPr sz="1400" b="1">
                <a:solidFill>
                  <a:srgbClr val="6e4fcb"/>
                </a:solidFill>
                <a:latin typeface="Pretendard"/>
                <a:ea typeface="Pretendard"/>
                <a:cs typeface="Pretendard"/>
              </a:rPr>
              <a:t>   →   </a:t>
            </a:r>
            <a:r>
              <a:rPr sz="1400" b="0">
                <a:solidFill>
                  <a:srgbClr val="4f35a8"/>
                </a:solidFill>
                <a:latin typeface="Pretendard SemiBold"/>
                <a:ea typeface="Pretendard SemiBold"/>
                <a:cs typeface="Pretendard SemiBold"/>
              </a:rPr>
              <a:t>어떤 전략을 적용할까</a:t>
            </a:r>
            <a:endParaRPr sz="1400" b="0">
              <a:solidFill>
                <a:srgbClr val="4f35a8"/>
              </a:solidFill>
              <a:latin typeface="Pretendard SemiBold"/>
              <a:ea typeface="Pretendard SemiBold"/>
              <a:cs typeface="Pretendard SemiBold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a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5720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100" b="1">
                <a:solidFill>
                  <a:srgbClr val="6e4fcb"/>
                </a:solidFill>
                <a:latin typeface="Pretendard"/>
                <a:ea typeface="Pretendard"/>
                <a:cs typeface="Pretendard"/>
              </a:rPr>
              <a:t>02</a:t>
            </a:r>
            <a:r>
              <a:rPr sz="1100" b="0">
                <a:solidFill>
                  <a:srgbClr val="8c889a"/>
                </a:solidFill>
                <a:latin typeface="Pretendard Medium"/>
                <a:ea typeface="Pretendard Medium"/>
                <a:cs typeface="Pretendard Medium"/>
              </a:rPr>
              <a:t>   데이터</a:t>
            </a:r>
            <a:endParaRPr sz="1100" b="0">
              <a:solidFill>
                <a:srgbClr val="8c889a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/>
            </a:pPr>
            <a:r>
              <a:rPr sz="2400" b="1">
                <a:solidFill>
                  <a:srgbClr val="1c1a22"/>
                </a:solidFill>
                <a:latin typeface="Pretendard"/>
                <a:ea typeface="Pretendard"/>
                <a:cs typeface="Pretendard"/>
              </a:rPr>
              <a:t>KKBox 구독 데이터 </a:t>
            </a:r>
            <a:r>
              <a:rPr sz="2400" b="1">
                <a:solidFill>
                  <a:srgbClr val="6e4fcb"/>
                </a:solidFill>
                <a:latin typeface="Pretendard"/>
                <a:ea typeface="Pretendard"/>
                <a:cs typeface="Pretendard"/>
              </a:rPr>
              <a:t>6개 테이블</a:t>
            </a:r>
            <a:r>
              <a:rPr sz="2400" b="1">
                <a:solidFill>
                  <a:srgbClr val="1c1a22"/>
                </a:solidFill>
                <a:latin typeface="Pretendard"/>
                <a:ea typeface="Pretendard"/>
                <a:cs typeface="Pretendard"/>
              </a:rPr>
              <a:t> 통합</a:t>
            </a:r>
            <a:endParaRPr sz="2400" b="1">
              <a:solidFill>
                <a:srgbClr val="1c1a22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300" b="0">
                <a:solidFill>
                  <a:srgbClr val="5f5b6b"/>
                </a:solidFill>
                <a:latin typeface="Pretendard Medium"/>
                <a:ea typeface="Pretendard Medium"/>
                <a:cs typeface="Pretendard Medium"/>
              </a:rPr>
              <a:t>출처: Kaggle — WSDM KKBox's Churn Prediction Challenge</a:t>
            </a:r>
            <a:endParaRPr sz="1300" b="0">
              <a:solidFill>
                <a:srgbClr val="5f5b6b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2743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900" b="0">
                <a:solidFill>
                  <a:srgbClr val="8c889a"/>
                </a:solidFill>
                <a:latin typeface="Pretendard SemiBold"/>
                <a:ea typeface="Pretendard SemiBold"/>
                <a:cs typeface="Pretendard SemiBold"/>
              </a:rPr>
              <a:t>KKeeper</a:t>
            </a:r>
            <a:endParaRPr sz="900" b="0">
              <a:solidFill>
                <a:srgbClr val="8c889a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725912" y="6400800"/>
            <a:ext cx="914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defRPr/>
            </a:pPr>
            <a:r>
              <a:rPr sz="900" b="0">
                <a:solidFill>
                  <a:srgbClr val="8c889a"/>
                </a:solidFill>
                <a:latin typeface="Pretendard Medium"/>
                <a:ea typeface="Pretendard Medium"/>
                <a:cs typeface="Pretendard Medium"/>
              </a:rPr>
              <a:t>05</a:t>
            </a:r>
            <a:endParaRPr sz="900" b="0">
              <a:solidFill>
                <a:srgbClr val="8c889a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48640" y="1920240"/>
            <a:ext cx="3502152" cy="3566160"/>
          </a:xfrm>
          <a:prstGeom prst="roundRect">
            <a:avLst>
              <a:gd name="adj" fmla="val 3655"/>
            </a:avLst>
          </a:prstGeom>
          <a:solidFill>
            <a:srgbClr val="ffffff"/>
          </a:solidFill>
          <a:ln w="9525">
            <a:solidFill>
              <a:srgbClr val="e6e2ee"/>
            </a:solidFill>
          </a:ln>
          <a:effectLst/>
        </p:spPr>
        <p:txBody>
          <a:bodyPr lIns="0" tIns="0" rIns="0" bIns="0"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822959" y="214884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200" b="0">
                <a:solidFill>
                  <a:srgbClr val="6e4fcb"/>
                </a:solidFill>
                <a:latin typeface="Pretendard SemiBold"/>
                <a:ea typeface="Pretendard SemiBold"/>
                <a:cs typeface="Pretendard SemiBold"/>
              </a:rPr>
              <a:t>회원</a:t>
            </a:r>
            <a:endParaRPr sz="1200" b="0">
              <a:solidFill>
                <a:srgbClr val="6e4fcb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59" y="2606040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500" b="0">
                <a:solidFill>
                  <a:srgbClr val="1c1a22"/>
                </a:solidFill>
                <a:latin typeface="Pretendard SemiBold"/>
                <a:ea typeface="Pretendard SemiBold"/>
                <a:cs typeface="Pretendard SemiBold"/>
              </a:rPr>
              <a:t>train_v2</a:t>
            </a:r>
            <a:endParaRPr sz="1500" b="0">
              <a:solidFill>
                <a:srgbClr val="1c1a2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22959" y="2971800"/>
            <a:ext cx="301752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300" b="0">
                <a:solidFill>
                  <a:srgbClr val="5f5b6b"/>
                </a:solidFill>
                <a:latin typeface="Pretendard Medium"/>
                <a:ea typeface="Pretendard Medium"/>
                <a:cs typeface="Pretendard Medium"/>
              </a:rPr>
              <a:t>회원 번호 · 이탈 여부 (0/1)</a:t>
            </a:r>
            <a:endParaRPr sz="1300" b="0">
              <a:solidFill>
                <a:srgbClr val="5f5b6b"/>
              </a:solidFill>
              <a:latin typeface="Pretendard Medium"/>
              <a:ea typeface="Pretendard Medium"/>
              <a:cs typeface="Pretendard Medium"/>
            </a:endParaRPr>
          </a:p>
        </p:txBody>
      </p:sp>
      <p:cxnSp>
        <p:nvCxnSpPr>
          <p:cNvPr id="11" name="Connector 10"/>
          <p:cNvCxnSpPr/>
          <p:nvPr/>
        </p:nvCxnSpPr>
        <p:spPr>
          <a:xfrm>
            <a:off x="822959" y="3794759"/>
            <a:ext cx="2953513" cy="0"/>
          </a:xfrm>
          <a:prstGeom prst="line">
            <a:avLst/>
          </a:prstGeom>
          <a:ln w="9525">
            <a:solidFill>
              <a:srgbClr val="e9e6ef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822959" y="3977639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500" b="0">
                <a:solidFill>
                  <a:srgbClr val="1c1a22"/>
                </a:solidFill>
                <a:latin typeface="Pretendard SemiBold"/>
                <a:ea typeface="Pretendard SemiBold"/>
                <a:cs typeface="Pretendard SemiBold"/>
              </a:rPr>
              <a:t>members_v3</a:t>
            </a:r>
            <a:endParaRPr sz="1500" b="0">
              <a:solidFill>
                <a:srgbClr val="1c1a2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22959" y="4343400"/>
            <a:ext cx="301752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300" b="0">
                <a:solidFill>
                  <a:srgbClr val="5f5b6b"/>
                </a:solidFill>
                <a:latin typeface="Pretendard Medium"/>
                <a:ea typeface="Pretendard Medium"/>
                <a:cs typeface="Pretendard Medium"/>
              </a:rPr>
              <a:t>도시 · 나이 · 성별 · 가입 정보</a:t>
            </a:r>
            <a:endParaRPr sz="1300" b="0">
              <a:solidFill>
                <a:srgbClr val="5f5b6b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343400" y="1920240"/>
            <a:ext cx="3502152" cy="3566160"/>
          </a:xfrm>
          <a:prstGeom prst="roundRect">
            <a:avLst>
              <a:gd name="adj" fmla="val 3655"/>
            </a:avLst>
          </a:prstGeom>
          <a:solidFill>
            <a:srgbClr val="ffffff"/>
          </a:solidFill>
          <a:ln w="9525">
            <a:solidFill>
              <a:srgbClr val="e6e2ee"/>
            </a:solidFill>
          </a:ln>
          <a:effectLst/>
        </p:spPr>
        <p:txBody>
          <a:bodyPr lIns="0" tIns="0" rIns="0" bIns="0"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5" name="TextBox 14"/>
          <p:cNvSpPr txBox="1"/>
          <p:nvPr/>
        </p:nvSpPr>
        <p:spPr>
          <a:xfrm>
            <a:off x="4617720" y="214884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200" b="0">
                <a:solidFill>
                  <a:srgbClr val="6e4fcb"/>
                </a:solidFill>
                <a:latin typeface="Pretendard SemiBold"/>
                <a:ea typeface="Pretendard SemiBold"/>
                <a:cs typeface="Pretendard SemiBold"/>
              </a:rPr>
              <a:t>거래</a:t>
            </a:r>
            <a:endParaRPr sz="1200" b="0">
              <a:solidFill>
                <a:srgbClr val="6e4fcb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617720" y="2606040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500" b="0">
                <a:solidFill>
                  <a:srgbClr val="1c1a22"/>
                </a:solidFill>
                <a:latin typeface="Pretendard SemiBold"/>
                <a:ea typeface="Pretendard SemiBold"/>
                <a:cs typeface="Pretendard SemiBold"/>
              </a:rPr>
              <a:t>transactions</a:t>
            </a:r>
            <a:endParaRPr sz="1500" b="0">
              <a:solidFill>
                <a:srgbClr val="1c1a2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617720" y="2971800"/>
            <a:ext cx="301752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300" b="0">
                <a:solidFill>
                  <a:srgbClr val="5f5b6b"/>
                </a:solidFill>
                <a:latin typeface="Pretendard Medium"/>
                <a:ea typeface="Pretendard Medium"/>
                <a:cs typeface="Pretendard Medium"/>
              </a:rPr>
              <a:t>결제 방식 · 자동 갱신 · 구독권 (~2/28)</a:t>
            </a:r>
            <a:endParaRPr sz="1300" b="0">
              <a:solidFill>
                <a:srgbClr val="5f5b6b"/>
              </a:solidFill>
              <a:latin typeface="Pretendard Medium"/>
              <a:ea typeface="Pretendard Medium"/>
              <a:cs typeface="Pretendard Medium"/>
            </a:endParaRPr>
          </a:p>
        </p:txBody>
      </p:sp>
      <p:cxnSp>
        <p:nvCxnSpPr>
          <p:cNvPr id="18" name="Connector 17"/>
          <p:cNvCxnSpPr/>
          <p:nvPr/>
        </p:nvCxnSpPr>
        <p:spPr>
          <a:xfrm>
            <a:off x="4617720" y="3794759"/>
            <a:ext cx="2953511" cy="0"/>
          </a:xfrm>
          <a:prstGeom prst="line">
            <a:avLst/>
          </a:prstGeom>
          <a:ln w="9525">
            <a:solidFill>
              <a:srgbClr val="e9e6ef"/>
            </a:solidFill>
          </a:ln>
        </p:spPr>
      </p:cxnSp>
      <p:sp>
        <p:nvSpPr>
          <p:cNvPr id="19" name="TextBox 18"/>
          <p:cNvSpPr txBox="1"/>
          <p:nvPr/>
        </p:nvSpPr>
        <p:spPr>
          <a:xfrm>
            <a:off x="4617720" y="3977639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500" b="0">
                <a:solidFill>
                  <a:srgbClr val="1c1a22"/>
                </a:solidFill>
                <a:latin typeface="Pretendard SemiBold"/>
                <a:ea typeface="Pretendard SemiBold"/>
                <a:cs typeface="Pretendard SemiBold"/>
              </a:rPr>
              <a:t>transactions_v2</a:t>
            </a:r>
            <a:endParaRPr sz="1500" b="0">
              <a:solidFill>
                <a:srgbClr val="1c1a2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617720" y="4343400"/>
            <a:ext cx="301752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300" b="0">
                <a:solidFill>
                  <a:srgbClr val="5f5b6b"/>
                </a:solidFill>
                <a:latin typeface="Pretendard Medium"/>
                <a:ea typeface="Pretendard Medium"/>
                <a:cs typeface="Pretendard Medium"/>
              </a:rPr>
              <a:t>2017년 3월 거래</a:t>
            </a:r>
            <a:endParaRPr sz="1300" b="0">
              <a:solidFill>
                <a:srgbClr val="5f5b6b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8138160" y="1920240"/>
            <a:ext cx="3502152" cy="3566160"/>
          </a:xfrm>
          <a:prstGeom prst="roundRect">
            <a:avLst>
              <a:gd name="adj" fmla="val 3655"/>
            </a:avLst>
          </a:prstGeom>
          <a:solidFill>
            <a:srgbClr val="ffffff"/>
          </a:solidFill>
          <a:ln w="9525">
            <a:solidFill>
              <a:srgbClr val="e6e2ee"/>
            </a:solidFill>
          </a:ln>
          <a:effectLst/>
        </p:spPr>
        <p:txBody>
          <a:bodyPr lIns="0" tIns="0" rIns="0" bIns="0"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2" name="TextBox 21"/>
          <p:cNvSpPr txBox="1"/>
          <p:nvPr/>
        </p:nvSpPr>
        <p:spPr>
          <a:xfrm>
            <a:off x="8412480" y="214884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200" b="0">
                <a:solidFill>
                  <a:srgbClr val="6e4fcb"/>
                </a:solidFill>
                <a:latin typeface="Pretendard SemiBold"/>
                <a:ea typeface="Pretendard SemiBold"/>
                <a:cs typeface="Pretendard SemiBold"/>
              </a:rPr>
              <a:t>청취 로그</a:t>
            </a:r>
            <a:endParaRPr sz="1200" b="0">
              <a:solidFill>
                <a:srgbClr val="6e4fcb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412480" y="2606040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500" b="0">
                <a:solidFill>
                  <a:srgbClr val="1c1a22"/>
                </a:solidFill>
                <a:latin typeface="Pretendard SemiBold"/>
                <a:ea typeface="Pretendard SemiBold"/>
                <a:cs typeface="Pretendard SemiBold"/>
              </a:rPr>
              <a:t>user_logs</a:t>
            </a:r>
            <a:endParaRPr sz="1500" b="0">
              <a:solidFill>
                <a:srgbClr val="1c1a2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412480" y="2971800"/>
            <a:ext cx="301752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300" b="0">
                <a:solidFill>
                  <a:srgbClr val="5f5b6b"/>
                </a:solidFill>
                <a:latin typeface="Pretendard Medium"/>
                <a:ea typeface="Pretendard Medium"/>
                <a:cs typeface="Pretendard Medium"/>
              </a:rPr>
              <a:t>청취 시간 · 청취 곡 수 (~2/28)</a:t>
            </a:r>
            <a:endParaRPr sz="1300" b="0">
              <a:solidFill>
                <a:srgbClr val="5f5b6b"/>
              </a:solidFill>
              <a:latin typeface="Pretendard Medium"/>
              <a:ea typeface="Pretendard Medium"/>
              <a:cs typeface="Pretendard Medium"/>
            </a:endParaRPr>
          </a:p>
        </p:txBody>
      </p:sp>
      <p:cxnSp>
        <p:nvCxnSpPr>
          <p:cNvPr id="25" name="Connector 24"/>
          <p:cNvCxnSpPr/>
          <p:nvPr/>
        </p:nvCxnSpPr>
        <p:spPr>
          <a:xfrm>
            <a:off x="8412480" y="3794759"/>
            <a:ext cx="2953512" cy="0"/>
          </a:xfrm>
          <a:prstGeom prst="line">
            <a:avLst/>
          </a:prstGeom>
          <a:ln w="9525">
            <a:solidFill>
              <a:srgbClr val="e9e6ef"/>
            </a:solidFill>
          </a:ln>
        </p:spPr>
      </p:cxnSp>
      <p:sp>
        <p:nvSpPr>
          <p:cNvPr id="26" name="TextBox 25"/>
          <p:cNvSpPr txBox="1"/>
          <p:nvPr/>
        </p:nvSpPr>
        <p:spPr>
          <a:xfrm>
            <a:off x="8412480" y="3977639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500" b="0">
                <a:solidFill>
                  <a:srgbClr val="1c1a22"/>
                </a:solidFill>
                <a:latin typeface="Pretendard SemiBold"/>
                <a:ea typeface="Pretendard SemiBold"/>
                <a:cs typeface="Pretendard SemiBold"/>
              </a:rPr>
              <a:t>user_logs_v2</a:t>
            </a:r>
            <a:endParaRPr sz="1500" b="0">
              <a:solidFill>
                <a:srgbClr val="1c1a2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412480" y="4343400"/>
            <a:ext cx="301752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300" b="0">
                <a:solidFill>
                  <a:srgbClr val="5f5b6b"/>
                </a:solidFill>
                <a:latin typeface="Pretendard Medium"/>
                <a:ea typeface="Pretendard Medium"/>
                <a:cs typeface="Pretendard Medium"/>
              </a:rPr>
              <a:t>2017년 3월 로그</a:t>
            </a:r>
            <a:endParaRPr sz="1300" b="0">
              <a:solidFill>
                <a:srgbClr val="5f5b6b"/>
              </a:solidFill>
              <a:latin typeface="Pretendard Medium"/>
              <a:ea typeface="Pretendard Medium"/>
              <a:cs typeface="Pretendard Medium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E4FCB"/>
                </a:solidFill>
                <a:latin typeface="Pretendard"/>
                <a:ea typeface="Pretendard"/>
                <a:cs typeface="Pretendard"/>
              </a:rPr>
              <a:t>02</a:t>
            </a:r>
            <a:r>
              <a:rPr sz="1100" b="0">
                <a:solidFill>
                  <a:srgbClr val="8C889A"/>
                </a:solidFill>
                <a:latin typeface="Pretendard Medium"/>
                <a:ea typeface="Pretendard Medium"/>
                <a:cs typeface="Pretendard Medium"/>
              </a:rPr>
              <a:t>   데이터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1C1A22"/>
                </a:solidFill>
                <a:latin typeface="Pretendard"/>
                <a:ea typeface="Pretendard"/>
                <a:cs typeface="Pretendard"/>
              </a:rPr>
              <a:t>2월 말 기록으로 예측하는 </a:t>
            </a:r>
            <a:r>
              <a:rPr sz="2400" b="1">
                <a:solidFill>
                  <a:srgbClr val="6E4FCB"/>
                </a:solidFill>
                <a:latin typeface="Pretendard"/>
                <a:ea typeface="Pretendard"/>
                <a:cs typeface="Pretendard"/>
              </a:rPr>
              <a:t>3월 이탈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C889A"/>
                </a:solidFill>
                <a:latin typeface="Pretendard SemiBold"/>
                <a:ea typeface="Pretendard SemiBold"/>
                <a:cs typeface="Pretendard SemiBold"/>
              </a:rPr>
              <a:t>KKeeper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5912" y="640080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C889A"/>
                </a:solidFill>
                <a:latin typeface="Pretendard Medium"/>
                <a:ea typeface="Pretendard Medium"/>
                <a:cs typeface="Pretendard Medium"/>
              </a:rPr>
              <a:t>06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14400" y="2514600"/>
            <a:ext cx="7223760" cy="0"/>
          </a:xfrm>
          <a:prstGeom prst="line">
            <a:avLst/>
          </a:prstGeom>
          <a:ln w="19050">
            <a:solidFill>
              <a:srgbClr val="B9A6EE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8138160" y="2514600"/>
            <a:ext cx="3017520" cy="0"/>
          </a:xfrm>
          <a:prstGeom prst="line">
            <a:avLst/>
          </a:prstGeom>
          <a:ln w="19050">
            <a:solidFill>
              <a:srgbClr val="B9A6EE"/>
            </a:solidFill>
            <a:prstDash val="dash"/>
          </a:ln>
        </p:spPr>
      </p:cxnSp>
      <p:sp>
        <p:nvSpPr>
          <p:cNvPr id="8" name="Oval 7"/>
          <p:cNvSpPr/>
          <p:nvPr/>
        </p:nvSpPr>
        <p:spPr>
          <a:xfrm>
            <a:off x="850392" y="2450592"/>
            <a:ext cx="128016" cy="128016"/>
          </a:xfrm>
          <a:prstGeom prst="ellipse">
            <a:avLst/>
          </a:prstGeom>
          <a:solidFill>
            <a:srgbClr val="B9A6EE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0" y="2715768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3E3B47"/>
                </a:solidFill>
                <a:latin typeface="Pretendard Medium"/>
                <a:ea typeface="Pretendard Medium"/>
                <a:cs typeface="Pretendard Medium"/>
              </a:rPr>
              <a:t>2015-01-01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297180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>
                <a:solidFill>
                  <a:srgbClr val="8C889A"/>
                </a:solidFill>
                <a:latin typeface="Pretendard Medium"/>
                <a:ea typeface="Pretendard Medium"/>
                <a:cs typeface="Pretendard Medium"/>
              </a:rPr>
              <a:t>거래 데이터 시작</a:t>
            </a:r>
          </a:p>
        </p:txBody>
      </p:sp>
      <p:sp>
        <p:nvSpPr>
          <p:cNvPr id="11" name="Oval 10"/>
          <p:cNvSpPr/>
          <p:nvPr/>
        </p:nvSpPr>
        <p:spPr>
          <a:xfrm>
            <a:off x="4416552" y="2450592"/>
            <a:ext cx="128016" cy="128016"/>
          </a:xfrm>
          <a:prstGeom prst="ellipse">
            <a:avLst/>
          </a:prstGeom>
          <a:solidFill>
            <a:srgbClr val="B9A6EE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2715768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3E3B47"/>
                </a:solidFill>
                <a:latin typeface="Pretendard Medium"/>
                <a:ea typeface="Pretendard Medium"/>
                <a:cs typeface="Pretendard Medium"/>
              </a:rPr>
              <a:t>2016-12-01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97180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>
                <a:solidFill>
                  <a:srgbClr val="8C889A"/>
                </a:solidFill>
                <a:latin typeface="Pretendard Medium"/>
                <a:ea typeface="Pretendard Medium"/>
                <a:cs typeface="Pretendard Medium"/>
              </a:rPr>
              <a:t>이용 로그 시작</a:t>
            </a:r>
          </a:p>
        </p:txBody>
      </p:sp>
      <p:sp>
        <p:nvSpPr>
          <p:cNvPr id="14" name="Oval 13"/>
          <p:cNvSpPr/>
          <p:nvPr/>
        </p:nvSpPr>
        <p:spPr>
          <a:xfrm>
            <a:off x="8046720" y="2423160"/>
            <a:ext cx="182880" cy="182880"/>
          </a:xfrm>
          <a:prstGeom prst="ellipse">
            <a:avLst/>
          </a:prstGeom>
          <a:solidFill>
            <a:srgbClr val="6E4FCB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23760" y="2715768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1C1A22"/>
                </a:solidFill>
                <a:latin typeface="Pretendard SemiBold"/>
                <a:ea typeface="Pretendard SemiBold"/>
                <a:cs typeface="Pretendard SemiBold"/>
              </a:rPr>
              <a:t>2017-02-28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297180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>
                <a:solidFill>
                  <a:srgbClr val="6E4FCB"/>
                </a:solidFill>
                <a:latin typeface="Pretendard Medium"/>
                <a:ea typeface="Pretendard Medium"/>
                <a:cs typeface="Pretendard Medium"/>
              </a:rPr>
              <a:t>관찰 종료일</a:t>
            </a:r>
          </a:p>
        </p:txBody>
      </p:sp>
      <p:sp>
        <p:nvSpPr>
          <p:cNvPr id="17" name="Oval 16"/>
          <p:cNvSpPr/>
          <p:nvPr/>
        </p:nvSpPr>
        <p:spPr>
          <a:xfrm>
            <a:off x="11091672" y="2450592"/>
            <a:ext cx="128016" cy="128016"/>
          </a:xfrm>
          <a:prstGeom prst="ellipse">
            <a:avLst/>
          </a:prstGeom>
          <a:solidFill>
            <a:srgbClr val="B9A6EE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41280" y="2715768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3E3B47"/>
                </a:solidFill>
                <a:latin typeface="Pretendard Medium"/>
                <a:ea typeface="Pretendard Medium"/>
                <a:cs typeface="Pretendard Medium"/>
              </a:rPr>
              <a:t>2017-03-31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0" y="297180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>
                <a:solidFill>
                  <a:srgbClr val="8C889A"/>
                </a:solidFill>
                <a:latin typeface="Pretendard Medium"/>
                <a:ea typeface="Pretendard Medium"/>
                <a:cs typeface="Pretendard Medium"/>
              </a:rPr>
              <a:t>예측 대상 기간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1828800"/>
            <a:ext cx="7315200" cy="384048"/>
          </a:xfrm>
          <a:prstGeom prst="roundRect">
            <a:avLst>
              <a:gd name="adj" fmla="val 23809"/>
            </a:avLst>
          </a:prstGeom>
          <a:solidFill>
            <a:srgbClr val="F3EEFD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1828800"/>
            <a:ext cx="69494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4F35A8"/>
                </a:solidFill>
                <a:latin typeface="Pretendard SemiBold"/>
                <a:ea typeface="Pretendard SemiBold"/>
                <a:cs typeface="Pretendard SemiBold"/>
              </a:rPr>
              <a:t>관찰 기간 · 피처 생성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12480" y="1828800"/>
            <a:ext cx="3227832" cy="384048"/>
          </a:xfrm>
          <a:prstGeom prst="roundRect">
            <a:avLst>
              <a:gd name="adj" fmla="val 23809"/>
            </a:avLst>
          </a:prstGeom>
          <a:solidFill>
            <a:srgbClr val="6E4FCB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41080" y="1828800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예측: 3월 만료 → 30일 내 재구독?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657600"/>
            <a:ext cx="5422392" cy="2011680"/>
          </a:xfrm>
          <a:prstGeom prst="roundRect">
            <a:avLst>
              <a:gd name="adj" fmla="val 6363"/>
            </a:avLst>
          </a:prstGeom>
          <a:solidFill>
            <a:srgbClr val="FFFFFF"/>
          </a:solidFill>
          <a:ln w="9525">
            <a:solidFill>
              <a:srgbClr val="E6E2EE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3977639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E4FCB"/>
                </a:solidFill>
                <a:latin typeface="Pretendard SemiBold"/>
                <a:ea typeface="Pretendard SemiBold"/>
                <a:cs typeface="Pretendard SemiBold"/>
              </a:rPr>
              <a:t>타깃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343400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C1A22"/>
                </a:solidFill>
                <a:latin typeface="Pretendard"/>
                <a:ea typeface="Pretendard"/>
                <a:cs typeface="Pretendard"/>
              </a:rPr>
              <a:t>is_churn = 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074920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F5B6B"/>
                </a:solidFill>
                <a:latin typeface="Pretendard Medium"/>
                <a:ea typeface="Pretendard Medium"/>
                <a:cs typeface="Pretendard Medium"/>
              </a:rPr>
              <a:t>멤버십 만료 후 30일 이내 재구독하지 않은 고객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3657600"/>
            <a:ext cx="5422392" cy="2011680"/>
          </a:xfrm>
          <a:prstGeom prst="roundRect">
            <a:avLst>
              <a:gd name="adj" fmla="val 6363"/>
            </a:avLst>
          </a:prstGeom>
          <a:solidFill>
            <a:srgbClr val="FFFFFF"/>
          </a:solidFill>
          <a:ln w="9525">
            <a:solidFill>
              <a:srgbClr val="E6E2EE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0" y="3977639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E4FCB"/>
                </a:solidFill>
                <a:latin typeface="Pretendard SemiBold"/>
                <a:ea typeface="Pretendard SemiBold"/>
                <a:cs typeface="Pretendard SemiBold"/>
              </a:rPr>
              <a:t>클래스 불균형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4343400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C1A22"/>
                </a:solidFill>
                <a:latin typeface="Pretendard"/>
                <a:ea typeface="Pretendard"/>
                <a:cs typeface="Pretendard"/>
              </a:rPr>
              <a:t>이탈 8.95%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5074920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F5B6B"/>
                </a:solidFill>
                <a:latin typeface="Pretendard Medium"/>
                <a:ea typeface="Pretendard Medium"/>
                <a:cs typeface="Pretendard Medium"/>
              </a:rPr>
              <a:t>정확도 대신 ROC-AUC를 주 지표로 사용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E4FCB"/>
                </a:solidFill>
                <a:latin typeface="Pretendard"/>
                <a:ea typeface="Pretendard"/>
                <a:cs typeface="Pretendard"/>
              </a:rPr>
              <a:t>03</a:t>
            </a:r>
            <a:r>
              <a:rPr sz="1100" b="0">
                <a:solidFill>
                  <a:srgbClr val="8C889A"/>
                </a:solidFill>
                <a:latin typeface="Pretendard Medium"/>
                <a:ea typeface="Pretendard Medium"/>
                <a:cs typeface="Pretendard Medium"/>
              </a:rPr>
              <a:t>   데이터 샘플링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1C1A22"/>
                </a:solidFill>
                <a:latin typeface="Pretendard"/>
                <a:ea typeface="Pretendard"/>
                <a:cs typeface="Pretendard"/>
              </a:rPr>
              <a:t>고객 </a:t>
            </a:r>
            <a:r>
              <a:rPr sz="2400" b="1">
                <a:solidFill>
                  <a:srgbClr val="6E4FCB"/>
                </a:solidFill>
                <a:latin typeface="Pretendard"/>
                <a:ea typeface="Pretendard"/>
                <a:cs typeface="Pretendard"/>
              </a:rPr>
              <a:t>10만 명</a:t>
            </a:r>
            <a:r>
              <a:rPr sz="2400" b="1">
                <a:solidFill>
                  <a:srgbClr val="1C1A22"/>
                </a:solidFill>
                <a:latin typeface="Pretendard"/>
                <a:ea typeface="Pretendard"/>
                <a:cs typeface="Pretendard"/>
              </a:rPr>
              <a:t> 층화 추출 — 모델링 표본 구성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C889A"/>
                </a:solidFill>
                <a:latin typeface="Pretendard SemiBold"/>
                <a:ea typeface="Pretendard SemiBold"/>
                <a:cs typeface="Pretendard SemiBold"/>
              </a:rPr>
              <a:t>KKeeper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5912" y="640080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C889A"/>
                </a:solidFill>
                <a:latin typeface="Pretendard Medium"/>
                <a:ea typeface="Pretendard Medium"/>
                <a:cs typeface="Pretendard Medium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3502152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6E2EE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103120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C1A22"/>
                </a:solidFill>
                <a:latin typeface="Pretendard"/>
                <a:ea typeface="Pretendard"/>
                <a:cs typeface="Pretendard"/>
              </a:rPr>
              <a:t>970,960</a:t>
            </a:r>
            <a:r>
              <a:rPr sz="1500" b="0">
                <a:solidFill>
                  <a:srgbClr val="3E3B47"/>
                </a:solidFill>
                <a:latin typeface="Pretendard SemiBold"/>
                <a:ea typeface="Pretendard SemiBold"/>
                <a:cs typeface="Pretendard SemiBold"/>
              </a:rPr>
              <a:t> 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78892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5F5B6B"/>
                </a:solidFill>
                <a:latin typeface="Pretendard Medium"/>
                <a:ea typeface="Pretendard Medium"/>
                <a:cs typeface="Pretendard Medium"/>
              </a:rPr>
              <a:t>train_v2 전체 고객</a:t>
            </a:r>
          </a:p>
        </p:txBody>
      </p:sp>
      <p:pic>
        <p:nvPicPr>
          <p:cNvPr id="9" name="Picture 8" descr="arrow_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2514600"/>
            <a:ext cx="219456" cy="219456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343400" y="1828800"/>
            <a:ext cx="3502152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6E2EE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103120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C1A22"/>
                </a:solidFill>
                <a:latin typeface="Pretendard"/>
                <a:ea typeface="Pretendard"/>
                <a:cs typeface="Pretendard"/>
              </a:rPr>
              <a:t>969,903</a:t>
            </a:r>
            <a:r>
              <a:rPr sz="1500" b="0">
                <a:solidFill>
                  <a:srgbClr val="3E3B47"/>
                </a:solidFill>
                <a:latin typeface="Pretendard SemiBold"/>
                <a:ea typeface="Pretendard SemiBold"/>
                <a:cs typeface="Pretendard SemiBold"/>
              </a:rPr>
              <a:t> 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78892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5F5B6B"/>
                </a:solidFill>
                <a:latin typeface="Pretendard Medium"/>
                <a:ea typeface="Pretendard Medium"/>
                <a:cs typeface="Pretendard Medium"/>
              </a:rPr>
              <a:t>2/28 이후 가입 1,057명 제외</a:t>
            </a:r>
          </a:p>
        </p:txBody>
      </p:sp>
      <p:pic>
        <p:nvPicPr>
          <p:cNvPr id="13" name="Picture 12" descr="arrow_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2514600"/>
            <a:ext cx="219456" cy="219456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8138160" y="1828800"/>
            <a:ext cx="3502152" cy="1600200"/>
          </a:xfrm>
          <a:prstGeom prst="roundRect">
            <a:avLst>
              <a:gd name="adj" fmla="val 8000"/>
            </a:avLst>
          </a:prstGeom>
          <a:solidFill>
            <a:srgbClr val="6E4FCB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58200" y="2103120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100,000</a:t>
            </a:r>
            <a:r>
              <a:rPr sz="1500" b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 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278892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E9E2FB"/>
                </a:solidFill>
                <a:latin typeface="Pretendard Medium"/>
                <a:ea typeface="Pretendard Medium"/>
                <a:cs typeface="Pretendard Medium"/>
              </a:rPr>
              <a:t>is_churn 층화 추출 · 이탈 8.95%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8404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C1A22"/>
                </a:solidFill>
                <a:latin typeface="Pretendard SemiBold"/>
                <a:ea typeface="Pretendard SemiBold"/>
                <a:cs typeface="Pretendard SemiBold"/>
              </a:rPr>
              <a:t>데이터 누수를 막기 위한 기준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251960"/>
            <a:ext cx="3502152" cy="1234440"/>
          </a:xfrm>
          <a:prstGeom prst="roundRect">
            <a:avLst>
              <a:gd name="adj" fmla="val 10370"/>
            </a:avLst>
          </a:prstGeom>
          <a:solidFill>
            <a:srgbClr val="F3EEFD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2959" y="4480560"/>
            <a:ext cx="310896" cy="31089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  <a:r>
              <a:rPr sz="1100" b="1">
                <a:solidFill>
                  <a:srgbClr val="6E4FCB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498848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>
                <a:solidFill>
                  <a:srgbClr val="4F35A8"/>
                </a:solidFill>
                <a:latin typeface="Pretendard SemiBold"/>
                <a:ea typeface="Pretendard SemiBold"/>
                <a:cs typeface="Pretendard SemiBold"/>
              </a:rPr>
              <a:t>날짜 기준 필터링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59" y="4937760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3E3B47"/>
                </a:solidFill>
                <a:latin typeface="Pretendard Medium"/>
                <a:ea typeface="Pretendard Medium"/>
                <a:cs typeface="Pretendard Medium"/>
              </a:rPr>
              <a:t>2017-02-28 이전 거래 기록만 사용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4251960"/>
            <a:ext cx="3502152" cy="1234440"/>
          </a:xfrm>
          <a:prstGeom prst="roundRect">
            <a:avLst>
              <a:gd name="adj" fmla="val 10370"/>
            </a:avLst>
          </a:prstGeom>
          <a:solidFill>
            <a:srgbClr val="F3EEFD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617720" y="4480560"/>
            <a:ext cx="310896" cy="31089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  <a:r>
              <a:rPr sz="1100" b="1">
                <a:solidFill>
                  <a:srgbClr val="6E4FCB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74920" y="4498848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>
                <a:solidFill>
                  <a:srgbClr val="4F35A8"/>
                </a:solidFill>
                <a:latin typeface="Pretendard SemiBold"/>
                <a:ea typeface="Pretendard SemiBold"/>
                <a:cs typeface="Pretendard SemiBold"/>
              </a:rPr>
              <a:t>누락 데이터는 유지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4937760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3E3B47"/>
                </a:solidFill>
                <a:latin typeface="Pretendard Medium"/>
                <a:ea typeface="Pretendard Medium"/>
                <a:cs typeface="Pretendard Medium"/>
              </a:rPr>
              <a:t>삭제 시 생기는 선택 편향(selection bias) 방지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60" y="4251960"/>
            <a:ext cx="3502152" cy="1234440"/>
          </a:xfrm>
          <a:prstGeom prst="roundRect">
            <a:avLst>
              <a:gd name="adj" fmla="val 10370"/>
            </a:avLst>
          </a:prstGeom>
          <a:solidFill>
            <a:srgbClr val="F3EEFD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412480" y="4480560"/>
            <a:ext cx="310896" cy="31089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  <a:r>
              <a:rPr sz="1100" b="1">
                <a:solidFill>
                  <a:srgbClr val="6E4FCB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0" y="4498848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>
                <a:solidFill>
                  <a:srgbClr val="4F35A8"/>
                </a:solidFill>
                <a:latin typeface="Pretendard SemiBold"/>
                <a:ea typeface="Pretendard SemiBold"/>
                <a:cs typeface="Pretendard SemiBold"/>
              </a:rPr>
              <a:t>거래 데이터 집계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4937760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3E3B47"/>
                </a:solidFill>
                <a:latin typeface="Pretendard Medium"/>
                <a:ea typeface="Pretendard Medium"/>
                <a:cs typeface="Pretendard Medium"/>
              </a:rPr>
              <a:t>tx_agg로 고객 1명 = 1행이 되도록 정리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E4FCB"/>
                </a:solidFill>
                <a:latin typeface="Pretendard"/>
                <a:ea typeface="Pretendard"/>
                <a:cs typeface="Pretendard"/>
              </a:rPr>
              <a:t>04</a:t>
            </a:r>
            <a:r>
              <a:rPr sz="1100" b="0">
                <a:solidFill>
                  <a:srgbClr val="8C889A"/>
                </a:solidFill>
                <a:latin typeface="Pretendard Medium"/>
                <a:ea typeface="Pretendard Medium"/>
                <a:cs typeface="Pretendard Medium"/>
              </a:rPr>
              <a:t>   EDA · members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1C1A22"/>
                </a:solidFill>
                <a:latin typeface="Pretendard"/>
                <a:ea typeface="Pretendard"/>
                <a:cs typeface="Pretendard"/>
              </a:rPr>
              <a:t>단일 변수보다 강한 </a:t>
            </a:r>
            <a:r>
              <a:rPr sz="2400" b="1">
                <a:solidFill>
                  <a:srgbClr val="6E4FCB"/>
                </a:solidFill>
                <a:latin typeface="Pretendard"/>
                <a:ea typeface="Pretendard"/>
                <a:cs typeface="Pretendard"/>
              </a:rPr>
              <a:t>특성의 조합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C889A"/>
                </a:solidFill>
                <a:latin typeface="Pretendard SemiBold"/>
                <a:ea typeface="Pretendard SemiBold"/>
                <a:cs typeface="Pretendard SemiBold"/>
              </a:rPr>
              <a:t>KKeeper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5912" y="640080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C889A"/>
                </a:solidFill>
                <a:latin typeface="Pretendard Medium"/>
                <a:ea typeface="Pretendard Medium"/>
                <a:cs typeface="Pretendard Medium"/>
              </a:rP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3017520" cy="1691640"/>
          </a:xfrm>
          <a:prstGeom prst="roundRect">
            <a:avLst>
              <a:gd name="adj" fmla="val 7567"/>
            </a:avLst>
          </a:prstGeom>
          <a:solidFill>
            <a:srgbClr val="FFFFFF"/>
          </a:solidFill>
          <a:ln w="9525">
            <a:solidFill>
              <a:srgbClr val="E6E2EE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057400"/>
            <a:ext cx="2560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C889A"/>
                </a:solidFill>
                <a:latin typeface="Pretendard Medium"/>
                <a:ea typeface="Pretendard Medium"/>
                <a:cs typeface="Pretendard Medium"/>
              </a:rPr>
              <a:t>연령대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33172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C1A22"/>
                </a:solidFill>
                <a:latin typeface="Pretendard SemiBold"/>
                <a:ea typeface="Pretendard SemiBold"/>
                <a:cs typeface="Pretendard SemiBold"/>
              </a:rPr>
              <a:t>10대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633472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6E4FCB"/>
                </a:solidFill>
                <a:latin typeface="Pretendard"/>
                <a:ea typeface="Pretendard"/>
                <a:cs typeface="Pretendard"/>
              </a:rPr>
              <a:t>25.92%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127248"/>
            <a:ext cx="2560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5F5B6B"/>
                </a:solidFill>
                <a:latin typeface="Pretendard Medium"/>
                <a:ea typeface="Pretendard Medium"/>
                <a:cs typeface="Pretendard Medium"/>
              </a:rPr>
              <a:t>20대 13.72%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94759" y="1828800"/>
            <a:ext cx="3017520" cy="1691640"/>
          </a:xfrm>
          <a:prstGeom prst="roundRect">
            <a:avLst>
              <a:gd name="adj" fmla="val 7567"/>
            </a:avLst>
          </a:prstGeom>
          <a:solidFill>
            <a:srgbClr val="FFFFFF"/>
          </a:solidFill>
          <a:ln w="9525">
            <a:solidFill>
              <a:srgbClr val="E6E2EE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69079" y="2057400"/>
            <a:ext cx="2560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C889A"/>
                </a:solidFill>
                <a:latin typeface="Pretendard Medium"/>
                <a:ea typeface="Pretendard Medium"/>
                <a:cs typeface="Pretendard Medium"/>
              </a:rPr>
              <a:t>가입 기간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69079" y="233172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C1A22"/>
                </a:solidFill>
                <a:latin typeface="Pretendard SemiBold"/>
                <a:ea typeface="Pretendard SemiBold"/>
                <a:cs typeface="Pretendard SemiBold"/>
              </a:rPr>
              <a:t>2~3년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69079" y="2633472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6E4FCB"/>
                </a:solidFill>
                <a:latin typeface="Pretendard"/>
                <a:ea typeface="Pretendard"/>
                <a:cs typeface="Pretendard"/>
              </a:rPr>
              <a:t>11.61%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69079" y="3127248"/>
            <a:ext cx="2560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5F5B6B"/>
                </a:solidFill>
                <a:latin typeface="Pretendard Medium"/>
                <a:ea typeface="Pretendard Medium"/>
                <a:cs typeface="Pretendard Medium"/>
              </a:rPr>
              <a:t>전체 평균보다 높음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749039"/>
            <a:ext cx="3017520" cy="1691640"/>
          </a:xfrm>
          <a:prstGeom prst="roundRect">
            <a:avLst>
              <a:gd name="adj" fmla="val 7567"/>
            </a:avLst>
          </a:prstGeom>
          <a:solidFill>
            <a:srgbClr val="FFFFFF"/>
          </a:solidFill>
          <a:ln w="9525">
            <a:solidFill>
              <a:srgbClr val="E6E2EE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59" y="3977639"/>
            <a:ext cx="2560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C889A"/>
                </a:solidFill>
                <a:latin typeface="Pretendard Medium"/>
                <a:ea typeface="Pretendard Medium"/>
                <a:cs typeface="Pretendard Medium"/>
              </a:rPr>
              <a:t>가입 경로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" y="4251959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C1A22"/>
                </a:solidFill>
                <a:latin typeface="Pretendard SemiBold"/>
                <a:ea typeface="Pretendard SemiBold"/>
                <a:cs typeface="Pretendard SemiBold"/>
              </a:rPr>
              <a:t>registered_via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" y="4553712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6E4FCB"/>
                </a:solidFill>
                <a:latin typeface="Pretendard"/>
                <a:ea typeface="Pretendard"/>
                <a:cs typeface="Pretendard"/>
              </a:rPr>
              <a:t>22.43%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" y="5047488"/>
            <a:ext cx="2560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5F5B6B"/>
                </a:solidFill>
                <a:latin typeface="Pretendard Medium"/>
                <a:ea typeface="Pretendard Medium"/>
                <a:cs typeface="Pretendard Medium"/>
              </a:rPr>
              <a:t>3: 17.44% · 9: 12.62%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94759" y="3749039"/>
            <a:ext cx="3017520" cy="1691640"/>
          </a:xfrm>
          <a:prstGeom prst="roundRect">
            <a:avLst>
              <a:gd name="adj" fmla="val 7567"/>
            </a:avLst>
          </a:prstGeom>
          <a:solidFill>
            <a:srgbClr val="FFFFFF"/>
          </a:solidFill>
          <a:ln w="9525">
            <a:solidFill>
              <a:srgbClr val="E6E2EE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69079" y="3977639"/>
            <a:ext cx="2560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C889A"/>
                </a:solidFill>
                <a:latin typeface="Pretendard Medium"/>
                <a:ea typeface="Pretendard Medium"/>
                <a:cs typeface="Pretendard Medium"/>
              </a:rPr>
              <a:t>성별 입력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69079" y="4251959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C1A22"/>
                </a:solidFill>
                <a:latin typeface="Pretendard SemiBold"/>
                <a:ea typeface="Pretendard SemiBold"/>
                <a:cs typeface="Pretendard SemiBold"/>
              </a:rPr>
              <a:t>미입력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69079" y="4553712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6E4FCB"/>
                </a:solidFill>
                <a:latin typeface="Pretendard"/>
                <a:ea typeface="Pretendard"/>
                <a:cs typeface="Pretendard"/>
              </a:rPr>
              <a:t>6.61%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69079" y="5047488"/>
            <a:ext cx="2560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5F5B6B"/>
                </a:solidFill>
                <a:latin typeface="Pretendard Medium"/>
                <a:ea typeface="Pretendard Medium"/>
                <a:cs typeface="Pretendard Medium"/>
              </a:rPr>
              <a:t>male 13.03% · female 12.78%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23760" y="1828800"/>
            <a:ext cx="4416552" cy="3611880"/>
          </a:xfrm>
          <a:prstGeom prst="roundRect">
            <a:avLst>
              <a:gd name="adj" fmla="val 4050"/>
            </a:avLst>
          </a:prstGeom>
          <a:solidFill>
            <a:srgbClr val="F3EEFD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89520" y="21031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E4FCB"/>
                </a:solidFill>
                <a:latin typeface="Pretendard SemiBold"/>
                <a:ea typeface="Pretendard SemiBold"/>
                <a:cs typeface="Pretendard SemiBold"/>
              </a:rPr>
              <a:t>핵심 인사이트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20" y="2514600"/>
            <a:ext cx="374903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1C1A22"/>
                </a:solidFill>
                <a:latin typeface="Pretendard SemiBold"/>
                <a:ea typeface="Pretendard SemiBold"/>
                <a:cs typeface="Pretendard SemiBold"/>
              </a:rPr>
              <a:t>가입 경로 × 가입 기간 × 성별 미입력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1C1A22"/>
                </a:solidFill>
                <a:latin typeface="Pretendard SemiBold"/>
                <a:ea typeface="Pretendard SemiBold"/>
                <a:cs typeface="Pretendard SemiBold"/>
              </a:rPr>
              <a:t>세그먼트 이탈률 </a:t>
            </a:r>
            <a:r>
              <a:rPr sz="1400" b="1">
                <a:solidFill>
                  <a:srgbClr val="6E4FCB"/>
                </a:solidFill>
                <a:latin typeface="Pretendard"/>
                <a:ea typeface="Pretendard"/>
                <a:cs typeface="Pretendard"/>
              </a:rPr>
              <a:t>20% 이상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0" y="3246120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5F5B6B"/>
                </a:solidFill>
                <a:latin typeface="Pretendard Medium"/>
                <a:ea typeface="Pretendard Medium"/>
                <a:cs typeface="Pretendard Medium"/>
              </a:rPr>
              <a:t>평균보다 2.78%p 높은 수준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589520" y="3749039"/>
            <a:ext cx="3685032" cy="0"/>
          </a:xfrm>
          <a:prstGeom prst="line">
            <a:avLst/>
          </a:prstGeom>
          <a:ln w="9525">
            <a:solidFill>
              <a:srgbClr val="E2D8FA"/>
            </a:solidFill>
          </a:ln>
        </p:spPr>
      </p:cxnSp>
      <p:sp>
        <p:nvSpPr>
          <p:cNvPr id="31" name="TextBox 30"/>
          <p:cNvSpPr txBox="1"/>
          <p:nvPr/>
        </p:nvSpPr>
        <p:spPr>
          <a:xfrm>
            <a:off x="7589520" y="3931920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C1A22"/>
                </a:solidFill>
                <a:latin typeface="Pretendard SemiBold"/>
                <a:ea typeface="Pretendard SemiBold"/>
                <a:cs typeface="Pretendard SemiBold"/>
              </a:rPr>
              <a:t>결측 플래그끼리 강한 상관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89520" y="4297680"/>
            <a:ext cx="374903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F5B6B"/>
                </a:solidFill>
                <a:latin typeface="Pretendard Medium"/>
                <a:ea typeface="Pretendard Medium"/>
                <a:cs typeface="Pretendard Medium"/>
              </a:rPr>
              <a:t>gender_missing · bd_zero · city_1 간 상관 0.87~0.95 → 미입력 자체가 하나의 고객군 특성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E4FCB"/>
                </a:solidFill>
                <a:latin typeface="Pretendard"/>
                <a:ea typeface="Pretendard"/>
                <a:cs typeface="Pretendard"/>
              </a:rPr>
              <a:t>04</a:t>
            </a:r>
            <a:r>
              <a:rPr sz="1100" b="0">
                <a:solidFill>
                  <a:srgbClr val="8C889A"/>
                </a:solidFill>
                <a:latin typeface="Pretendard Medium"/>
                <a:ea typeface="Pretendard Medium"/>
                <a:cs typeface="Pretendard Medium"/>
              </a:rPr>
              <a:t>   EDA · transaction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6E4FCB"/>
                </a:solidFill>
                <a:latin typeface="Pretendard"/>
                <a:ea typeface="Pretendard"/>
                <a:cs typeface="Pretendard"/>
              </a:rPr>
              <a:t>거래 횟수</a:t>
            </a:r>
            <a:r>
              <a:rPr sz="2400" b="1">
                <a:solidFill>
                  <a:srgbClr val="1C1A22"/>
                </a:solidFill>
                <a:latin typeface="Pretendard"/>
                <a:ea typeface="Pretendard"/>
                <a:cs typeface="Pretendard"/>
              </a:rPr>
              <a:t>가 늘수록 낮아지는 이탈률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C889A"/>
                </a:solidFill>
                <a:latin typeface="Pretendard SemiBold"/>
                <a:ea typeface="Pretendard SemiBold"/>
                <a:cs typeface="Pretendard SemiBold"/>
              </a:rPr>
              <a:t>KKeeper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5912" y="640080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C889A"/>
                </a:solidFill>
                <a:latin typeface="Pretendard Medium"/>
                <a:ea typeface="Pretendard Medium"/>
                <a:cs typeface="Pretendard Medium"/>
              </a:rP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7223760" cy="4206240"/>
          </a:xfrm>
          <a:prstGeom prst="roundRect">
            <a:avLst>
              <a:gd name="adj" fmla="val 3043"/>
            </a:avLst>
          </a:prstGeom>
          <a:solidFill>
            <a:srgbClr val="FFFFFF"/>
          </a:solidFill>
          <a:ln w="9525">
            <a:solidFill>
              <a:srgbClr val="E6E2EE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574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C1A22"/>
                </a:solidFill>
                <a:latin typeface="Pretendard SemiBold"/>
                <a:ea typeface="Pretendard SemiBold"/>
                <a:cs typeface="Pretendard SemiBold"/>
              </a:rPr>
              <a:t>거래 횟수별 이탈률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822960" y="2377440"/>
          <a:ext cx="6675120" cy="3520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046720" y="1828800"/>
            <a:ext cx="3593592" cy="2039112"/>
          </a:xfrm>
          <a:prstGeom prst="roundRect">
            <a:avLst>
              <a:gd name="adj" fmla="val 6278"/>
            </a:avLst>
          </a:prstGeom>
          <a:solidFill>
            <a:srgbClr val="FBEAEA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66760" y="210312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1C1A22"/>
                </a:solidFill>
                <a:latin typeface="Pretendard SemiBold"/>
                <a:ea typeface="Pretendard SemiBold"/>
                <a:cs typeface="Pretendard SemiBold"/>
              </a:rPr>
              <a:t>1회 거래 고객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66760" y="2468880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B23A32"/>
                </a:solidFill>
                <a:latin typeface="Pretendard"/>
                <a:ea typeface="Pretendard"/>
                <a:cs typeface="Pretendard"/>
              </a:rPr>
              <a:t>30.31%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3200400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E3B47"/>
                </a:solidFill>
                <a:latin typeface="Pretendard Medium"/>
                <a:ea typeface="Pretendard Medium"/>
                <a:cs typeface="Pretendard Medium"/>
              </a:rPr>
              <a:t>관계가 안정되지 않은 신규 · 초기 고객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3995928"/>
            <a:ext cx="3593592" cy="2039112"/>
          </a:xfrm>
          <a:prstGeom prst="roundRect">
            <a:avLst>
              <a:gd name="adj" fmla="val 6278"/>
            </a:avLst>
          </a:prstGeom>
          <a:solidFill>
            <a:srgbClr val="E6F6EC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4270248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1C1A22"/>
                </a:solidFill>
                <a:latin typeface="Pretendard SemiBold"/>
                <a:ea typeface="Pretendard SemiBold"/>
                <a:cs typeface="Pretendard SemiBold"/>
              </a:rPr>
              <a:t>복수 거래 고객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4636008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F7A45"/>
                </a:solidFill>
                <a:latin typeface="Pretendard"/>
                <a:ea typeface="Pretendard"/>
                <a:cs typeface="Pretendard"/>
              </a:rPr>
              <a:t>8.03%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5367528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E3B47"/>
                </a:solidFill>
                <a:latin typeface="Pretendard Medium"/>
                <a:ea typeface="Pretendard Medium"/>
                <a:cs typeface="Pretendard Medium"/>
              </a:rPr>
              <a:t>반복 거래로 관계가 유지되는 고객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E4FCB"/>
                </a:solidFill>
                <a:latin typeface="Pretendard"/>
                <a:ea typeface="Pretendard"/>
                <a:cs typeface="Pretendard"/>
              </a:rPr>
              <a:t>04</a:t>
            </a:r>
            <a:r>
              <a:rPr sz="1100" b="0">
                <a:solidFill>
                  <a:srgbClr val="8C889A"/>
                </a:solidFill>
                <a:latin typeface="Pretendard Medium"/>
                <a:ea typeface="Pretendard Medium"/>
                <a:cs typeface="Pretendard Medium"/>
              </a:rPr>
              <a:t>   EDA · transaction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1C1A22"/>
                </a:solidFill>
                <a:latin typeface="Pretendard"/>
                <a:ea typeface="Pretendard"/>
                <a:cs typeface="Pretendard"/>
              </a:rPr>
              <a:t>가장 강한 신호: </a:t>
            </a:r>
            <a:r>
              <a:rPr sz="2400" b="1">
                <a:solidFill>
                  <a:srgbClr val="6E4FCB"/>
                </a:solidFill>
                <a:latin typeface="Pretendard"/>
                <a:ea typeface="Pretendard"/>
                <a:cs typeface="Pretendard"/>
              </a:rPr>
              <a:t>최근 자동갱신 상태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F5B6B"/>
                </a:solidFill>
                <a:latin typeface="Pretendard Medium"/>
                <a:ea typeface="Pretendard Medium"/>
                <a:cs typeface="Pretendard Medium"/>
              </a:rPr>
              <a:t>고객 속성보다 ‘구독 관계가 약해지는 상태’가 이탈과 더 직접 연결됩니다.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C889A"/>
                </a:solidFill>
                <a:latin typeface="Pretendard SemiBold"/>
                <a:ea typeface="Pretendard SemiBold"/>
                <a:cs typeface="Pretendard SemiBold"/>
              </a:rPr>
              <a:t>KKeeper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5912" y="640080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C889A"/>
                </a:solidFill>
                <a:latin typeface="Pretendard Medium"/>
                <a:ea typeface="Pretendard Medium"/>
                <a:cs typeface="Pretendard Medium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920240"/>
            <a:ext cx="5422392" cy="2834640"/>
          </a:xfrm>
          <a:prstGeom prst="roundRect">
            <a:avLst>
              <a:gd name="adj" fmla="val 5161"/>
            </a:avLst>
          </a:prstGeom>
          <a:solidFill>
            <a:srgbClr val="FBEAEA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24028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1C1A22"/>
                </a:solidFill>
                <a:latin typeface="Pretendard SemiBold"/>
                <a:ea typeface="Pretendard SemiBold"/>
                <a:cs typeface="Pretendard SemiBold"/>
              </a:rPr>
              <a:t>자동갱신 </a:t>
            </a:r>
            <a:r>
              <a:rPr sz="1500" b="1">
                <a:solidFill>
                  <a:srgbClr val="B23A32"/>
                </a:solidFill>
                <a:latin typeface="Pretendard"/>
                <a:ea typeface="Pretendard"/>
                <a:cs typeface="Pretendard"/>
              </a:rPr>
              <a:t>OFF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697480"/>
            <a:ext cx="457200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0" b="1">
                <a:solidFill>
                  <a:srgbClr val="B23A32"/>
                </a:solidFill>
                <a:latin typeface="Pretendard"/>
                <a:ea typeface="Pretendard"/>
                <a:cs typeface="Pretendard"/>
              </a:rPr>
              <a:t>41.33%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02336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E3B47"/>
                </a:solidFill>
                <a:latin typeface="Pretendard Medium"/>
                <a:ea typeface="Pretendard Medium"/>
                <a:cs typeface="Pretendard Medium"/>
              </a:rPr>
              <a:t>자동갱신을 해제한 고객의 이탈률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422392" cy="2834640"/>
          </a:xfrm>
          <a:prstGeom prst="roundRect">
            <a:avLst>
              <a:gd name="adj" fmla="val 5161"/>
            </a:avLst>
          </a:prstGeom>
          <a:solidFill>
            <a:srgbClr val="E6F6EC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224028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1C1A22"/>
                </a:solidFill>
                <a:latin typeface="Pretendard SemiBold"/>
                <a:ea typeface="Pretendard SemiBold"/>
                <a:cs typeface="Pretendard SemiBold"/>
              </a:rPr>
              <a:t>자동갱신 </a:t>
            </a:r>
            <a:r>
              <a:rPr sz="1500" b="1">
                <a:solidFill>
                  <a:srgbClr val="1F7A45"/>
                </a:solidFill>
                <a:latin typeface="Pretendard"/>
                <a:ea typeface="Pretendard"/>
                <a:cs typeface="Pretendard"/>
              </a:rPr>
              <a:t>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697480"/>
            <a:ext cx="457200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0" b="1">
                <a:solidFill>
                  <a:srgbClr val="1F7A45"/>
                </a:solidFill>
                <a:latin typeface="Pretendard"/>
                <a:ea typeface="Pretendard"/>
                <a:cs typeface="Pretendard"/>
              </a:rPr>
              <a:t>4.52%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402336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E3B47"/>
                </a:solidFill>
                <a:latin typeface="Pretendard Medium"/>
                <a:ea typeface="Pretendard Medium"/>
                <a:cs typeface="Pretendard Medium"/>
              </a:rPr>
              <a:t>자동갱신이 켜진 고객의 이탈률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074920"/>
            <a:ext cx="11091672" cy="502920"/>
          </a:xfrm>
          <a:prstGeom prst="roundRect">
            <a:avLst>
              <a:gd name="adj" fmla="val 21818"/>
            </a:avLst>
          </a:prstGeom>
          <a:solidFill>
            <a:srgbClr val="F3EEFD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507492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>
                <a:solidFill>
                  <a:srgbClr val="6E4FCB"/>
                </a:solidFill>
                <a:latin typeface="Pretendard SemiBold"/>
                <a:ea typeface="Pretendard SemiBold"/>
                <a:cs typeface="Pretendard SemiBold"/>
              </a:rPr>
              <a:t>모델링 핵심 변수  </a:t>
            </a:r>
            <a:r>
              <a:rPr sz="1250" b="1">
                <a:solidFill>
                  <a:srgbClr val="4F35A8"/>
                </a:solidFill>
                <a:latin typeface="Pretendard"/>
                <a:ea typeface="Pretendard"/>
                <a:cs typeface="Pretendard"/>
              </a:rPr>
              <a:t>last_auto_renew</a:t>
            </a:r>
            <a:r>
              <a:rPr sz="1250" b="0">
                <a:solidFill>
                  <a:srgbClr val="3E3B47"/>
                </a:solidFill>
                <a:latin typeface="Pretendard Medium"/>
                <a:ea typeface="Pretendard Medium"/>
                <a:cs typeface="Pretendard Medium"/>
              </a:rPr>
              <a:t>  +  최근 취소 상태 · 만료까지 남은 기간 · 거래 지속성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E4FCB"/>
                </a:solidFill>
                <a:latin typeface="Pretendard"/>
                <a:ea typeface="Pretendard"/>
                <a:cs typeface="Pretendard"/>
              </a:rPr>
              <a:t>04</a:t>
            </a:r>
            <a:r>
              <a:rPr sz="1100" b="0">
                <a:solidFill>
                  <a:srgbClr val="8C889A"/>
                </a:solidFill>
                <a:latin typeface="Pretendard Medium"/>
                <a:ea typeface="Pretendard Medium"/>
                <a:cs typeface="Pretendard Medium"/>
              </a:rPr>
              <a:t>   EDA · user log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1C1A22"/>
                </a:solidFill>
                <a:latin typeface="Pretendard"/>
                <a:ea typeface="Pretendard"/>
                <a:cs typeface="Pretendard"/>
              </a:rPr>
              <a:t>활발한 청취, 이탈과 반대로 가는 </a:t>
            </a:r>
            <a:r>
              <a:rPr sz="2400" b="1">
                <a:solidFill>
                  <a:srgbClr val="6E4FCB"/>
                </a:solidFill>
                <a:latin typeface="Pretendard"/>
                <a:ea typeface="Pretendard"/>
                <a:cs typeface="Pretendard"/>
              </a:rPr>
              <a:t>로그 유무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C889A"/>
                </a:solidFill>
                <a:latin typeface="Pretendard SemiBold"/>
                <a:ea typeface="Pretendard SemiBold"/>
                <a:cs typeface="Pretendard SemiBold"/>
              </a:rPr>
              <a:t>KKeeper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5912" y="640080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C889A"/>
                </a:solidFill>
                <a:latin typeface="Pretendard Medium"/>
                <a:ea typeface="Pretendard Medium"/>
                <a:cs typeface="Pretendard Medium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422392" cy="3931920"/>
          </a:xfrm>
          <a:prstGeom prst="roundRect">
            <a:avLst>
              <a:gd name="adj" fmla="val 3255"/>
            </a:avLst>
          </a:prstGeom>
          <a:solidFill>
            <a:srgbClr val="FFFFFF"/>
          </a:solidFill>
          <a:ln w="9525">
            <a:solidFill>
              <a:srgbClr val="E6E2EE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1031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C1A22"/>
                </a:solidFill>
                <a:latin typeface="Pretendard SemiBold"/>
                <a:ea typeface="Pretendard SemiBold"/>
                <a:cs typeface="Pretendard SemiBold"/>
              </a:rPr>
              <a:t>하루 평균 청취 (중앙값)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60604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6E4FCB"/>
                </a:solidFill>
                <a:latin typeface="Pretendard"/>
                <a:ea typeface="Pretendard"/>
                <a:cs typeface="Pretendard"/>
              </a:rPr>
              <a:t>17</a:t>
            </a:r>
            <a:r>
              <a:rPr sz="1400" b="0">
                <a:solidFill>
                  <a:srgbClr val="6E4FCB"/>
                </a:solidFill>
                <a:latin typeface="Pretendard SemiBold"/>
                <a:ea typeface="Pretendard SemiBold"/>
                <a:cs typeface="Pretendard SemiBold"/>
              </a:rPr>
              <a:t> 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24612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5F5B6B"/>
                </a:solidFill>
                <a:latin typeface="Pretendard Medium"/>
                <a:ea typeface="Pretendard Medium"/>
                <a:cs typeface="Pretendard Medium"/>
              </a:rPr>
              <a:t>끝까지 들은 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7560" y="260604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6E4FCB"/>
                </a:solidFill>
                <a:latin typeface="Pretendard"/>
                <a:ea typeface="Pretendard"/>
                <a:cs typeface="Pretendard"/>
              </a:rPr>
              <a:t>19</a:t>
            </a:r>
            <a:r>
              <a:rPr sz="1400" b="0">
                <a:solidFill>
                  <a:srgbClr val="6E4FCB"/>
                </a:solidFill>
                <a:latin typeface="Pretendard SemiBold"/>
                <a:ea typeface="Pretendard SemiBold"/>
                <a:cs typeface="Pretendard SemiBold"/>
              </a:rPr>
              <a:t> 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324612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5F5B6B"/>
                </a:solidFill>
                <a:latin typeface="Pretendard Medium"/>
                <a:ea typeface="Pretendard Medium"/>
                <a:cs typeface="Pretendard Medium"/>
              </a:rPr>
              <a:t>고유 곡 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06908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6E4FCB"/>
                </a:solidFill>
                <a:latin typeface="Pretendard"/>
                <a:ea typeface="Pretendard"/>
                <a:cs typeface="Pretendard"/>
              </a:rPr>
              <a:t>77</a:t>
            </a:r>
            <a:r>
              <a:rPr sz="1400" b="0">
                <a:solidFill>
                  <a:srgbClr val="6E4FCB"/>
                </a:solidFill>
                <a:latin typeface="Pretendard SemiBold"/>
                <a:ea typeface="Pretendard SemiBold"/>
                <a:cs typeface="Pretendard SemiBold"/>
              </a:rPr>
              <a:t> 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70916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5F5B6B"/>
                </a:solidFill>
                <a:latin typeface="Pretendard Medium"/>
                <a:ea typeface="Pretendard Medium"/>
                <a:cs typeface="Pretendard Medium"/>
              </a:rPr>
              <a:t>청취 시간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406908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6E4FCB"/>
                </a:solidFill>
                <a:latin typeface="Pretendard"/>
                <a:ea typeface="Pretendard"/>
                <a:cs typeface="Pretendard"/>
              </a:rPr>
              <a:t>78.1</a:t>
            </a:r>
            <a:r>
              <a:rPr sz="1400" b="0">
                <a:solidFill>
                  <a:srgbClr val="6E4FCB"/>
                </a:solidFill>
                <a:latin typeface="Pretendard SemiBold"/>
                <a:ea typeface="Pretendard SemiBold"/>
                <a:cs typeface="Pretendard SemiBold"/>
              </a:rPr>
              <a:t> 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470916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5F5B6B"/>
                </a:solidFill>
                <a:latin typeface="Pretendard Medium"/>
                <a:ea typeface="Pretendard Medium"/>
                <a:cs typeface="Pretendard Medium"/>
              </a:rPr>
              <a:t>완곡률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828800"/>
            <a:ext cx="5422392" cy="3931920"/>
          </a:xfrm>
          <a:prstGeom prst="roundRect">
            <a:avLst>
              <a:gd name="adj" fmla="val 3255"/>
            </a:avLst>
          </a:prstGeom>
          <a:solidFill>
            <a:srgbClr val="FFFFFF"/>
          </a:solidFill>
          <a:ln w="9525">
            <a:solidFill>
              <a:srgbClr val="E6E2EE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21031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C1A22"/>
                </a:solidFill>
                <a:latin typeface="Pretendard SemiBold"/>
                <a:ea typeface="Pretendard SemiBold"/>
                <a:cs typeface="Pretendard SemiBold"/>
              </a:rPr>
              <a:t>로그 유무별 이탈률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6492240" y="2468880"/>
          <a:ext cx="4846320" cy="2377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6537960" y="4983480"/>
            <a:ext cx="48463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F5B6B"/>
                </a:solidFill>
                <a:latin typeface="Pretendard Medium"/>
                <a:ea typeface="Pretendard Medium"/>
                <a:cs typeface="Pretendard Medium"/>
              </a:rPr>
              <a:t>‘로그가 없으면 위험하다’는 가설은 성립하지 않음. 최근성(recency)만으로도 뚜렷한 패턴은 없었음.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E4FCB"/>
                </a:solidFill>
                <a:latin typeface="Pretendard"/>
                <a:ea typeface="Pretendard"/>
                <a:cs typeface="Pretendard"/>
              </a:rPr>
              <a:t>05</a:t>
            </a:r>
            <a:r>
              <a:rPr sz="1100" b="0">
                <a:solidFill>
                  <a:srgbClr val="8C889A"/>
                </a:solidFill>
                <a:latin typeface="Pretendard Medium"/>
                <a:ea typeface="Pretendard Medium"/>
                <a:cs typeface="Pretendard Medium"/>
              </a:rPr>
              <a:t>   데이터 전처리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1C1A22"/>
                </a:solidFill>
                <a:latin typeface="Pretendard"/>
                <a:ea typeface="Pretendard"/>
                <a:cs typeface="Pretendard"/>
              </a:rPr>
              <a:t>의미를 살린 </a:t>
            </a:r>
            <a:r>
              <a:rPr sz="2400" b="1">
                <a:solidFill>
                  <a:srgbClr val="6E4FCB"/>
                </a:solidFill>
                <a:latin typeface="Pretendard"/>
                <a:ea typeface="Pretendard"/>
                <a:cs typeface="Pretendard"/>
              </a:rPr>
              <a:t>결측치</a:t>
            </a:r>
            <a:r>
              <a:rPr sz="2400" b="1">
                <a:solidFill>
                  <a:srgbClr val="1C1A22"/>
                </a:solidFill>
                <a:latin typeface="Pretendard"/>
                <a:ea typeface="Pretendard"/>
                <a:cs typeface="Pretendard"/>
              </a:rPr>
              <a:t> 처리와 </a:t>
            </a:r>
            <a:r>
              <a:rPr sz="2400" b="1">
                <a:solidFill>
                  <a:srgbClr val="6E4FCB"/>
                </a:solidFill>
                <a:latin typeface="Pretendard"/>
                <a:ea typeface="Pretendard"/>
                <a:cs typeface="Pretendard"/>
              </a:rPr>
              <a:t>중복</a:t>
            </a:r>
            <a:r>
              <a:rPr sz="2400" b="1">
                <a:solidFill>
                  <a:srgbClr val="1C1A22"/>
                </a:solidFill>
                <a:latin typeface="Pretendard"/>
                <a:ea typeface="Pretendard"/>
                <a:cs typeface="Pretendard"/>
              </a:rPr>
              <a:t> 제거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C889A"/>
                </a:solidFill>
                <a:latin typeface="Pretendard SemiBold"/>
                <a:ea typeface="Pretendard SemiBold"/>
                <a:cs typeface="Pretendard SemiBold"/>
              </a:rPr>
              <a:t>KKeeper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5912" y="640080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C889A"/>
                </a:solidFill>
                <a:latin typeface="Pretendard Medium"/>
                <a:ea typeface="Pretendard Medium"/>
                <a:cs typeface="Pretendard Medium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422392" cy="38404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6E2EE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1031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C1A22"/>
                </a:solidFill>
                <a:latin typeface="Pretendard SemiBold"/>
                <a:ea typeface="Pretendard SemiBold"/>
                <a:cs typeface="Pretendard SemiBold"/>
              </a:rPr>
              <a:t>결측치 처리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5059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5F5B6B"/>
                </a:solidFill>
                <a:latin typeface="Pretendard Medium"/>
                <a:ea typeface="Pretendard Medium"/>
                <a:cs typeface="Pretendard Medium"/>
              </a:rPr>
              <a:t>변수 특성에 맞는 값으로 대체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3017520"/>
            <a:ext cx="4782312" cy="566928"/>
          </a:xfrm>
          <a:prstGeom prst="roundRect">
            <a:avLst>
              <a:gd name="adj" fmla="val 16129"/>
            </a:avLst>
          </a:prstGeom>
          <a:solidFill>
            <a:srgbClr val="F3EEFD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017520"/>
            <a:ext cx="18288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>
                <a:solidFill>
                  <a:srgbClr val="1C1A22"/>
                </a:solidFill>
                <a:latin typeface="Pretendard SemiBold"/>
                <a:ea typeface="Pretendard SemiBold"/>
                <a:cs typeface="Pretendard SemiBold"/>
              </a:rPr>
              <a:t>city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3017520"/>
            <a:ext cx="26517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>
                <a:solidFill>
                  <a:srgbClr val="4F35A8"/>
                </a:solidFill>
                <a:latin typeface="Pretendard Medium"/>
                <a:ea typeface="Pretendard Medium"/>
                <a:cs typeface="Pretendard Medium"/>
              </a:rPr>
              <a:t>NaN → -1 (기타)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3749039"/>
            <a:ext cx="4782312" cy="566928"/>
          </a:xfrm>
          <a:prstGeom prst="roundRect">
            <a:avLst>
              <a:gd name="adj" fmla="val 16129"/>
            </a:avLst>
          </a:prstGeom>
          <a:solidFill>
            <a:srgbClr val="F3EEFD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749039"/>
            <a:ext cx="18288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>
                <a:solidFill>
                  <a:srgbClr val="1C1A22"/>
                </a:solidFill>
                <a:latin typeface="Pretendard SemiBold"/>
                <a:ea typeface="Pretendard SemiBold"/>
                <a:cs typeface="Pretendard SemiBold"/>
              </a:rPr>
              <a:t>reg_season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3749039"/>
            <a:ext cx="26517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>
                <a:solidFill>
                  <a:srgbClr val="4F35A8"/>
                </a:solidFill>
                <a:latin typeface="Pretendard Medium"/>
                <a:ea typeface="Pretendard Medium"/>
                <a:cs typeface="Pretendard Medium"/>
              </a:rPr>
              <a:t>NaN → 'unknown'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4480560"/>
            <a:ext cx="4782312" cy="566928"/>
          </a:xfrm>
          <a:prstGeom prst="roundRect">
            <a:avLst>
              <a:gd name="adj" fmla="val 16129"/>
            </a:avLst>
          </a:prstGeom>
          <a:solidFill>
            <a:srgbClr val="F3EEFD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480560"/>
            <a:ext cx="18288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>
                <a:solidFill>
                  <a:srgbClr val="1C1A22"/>
                </a:solidFill>
                <a:latin typeface="Pretendard SemiBold"/>
                <a:ea typeface="Pretendard SemiBold"/>
                <a:cs typeface="Pretendard SemiBold"/>
              </a:rPr>
              <a:t>gender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4480560"/>
            <a:ext cx="26517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>
                <a:solidFill>
                  <a:srgbClr val="4F35A8"/>
                </a:solidFill>
                <a:latin typeface="Pretendard Medium"/>
                <a:ea typeface="Pretendard Medium"/>
                <a:cs typeface="Pretendard Medium"/>
              </a:rPr>
              <a:t>NaN → '미입력'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828800"/>
            <a:ext cx="5422392" cy="38404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6E2EE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21031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C1A22"/>
                </a:solidFill>
                <a:latin typeface="Pretendard SemiBold"/>
                <a:ea typeface="Pretendard SemiBold"/>
                <a:cs typeface="Pretendard SemiBold"/>
              </a:rPr>
              <a:t>중복 제거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245059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5F5B6B"/>
                </a:solidFill>
                <a:latin typeface="Pretendard Medium"/>
                <a:ea typeface="Pretendard Medium"/>
                <a:cs typeface="Pretendard Medium"/>
              </a:rPr>
              <a:t>회원 · 거래 · 로그 데이터의 동일 기록 제거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37960" y="3017520"/>
            <a:ext cx="4782312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9525">
            <a:solidFill>
              <a:srgbClr val="E9E6E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66560" y="3017520"/>
            <a:ext cx="10972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>
                <a:solidFill>
                  <a:srgbClr val="1C1A22"/>
                </a:solidFill>
                <a:latin typeface="Pretendard SemiBold"/>
                <a:ea typeface="Pretendard SemiBold"/>
                <a:cs typeface="Pretendard SemiBold"/>
              </a:rPr>
              <a:t>A001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3017520"/>
            <a:ext cx="22860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>
                <a:solidFill>
                  <a:srgbClr val="3E3B47"/>
                </a:solidFill>
                <a:latin typeface="Pretendard Medium"/>
                <a:ea typeface="Pretendard Medium"/>
                <a:cs typeface="Pretendard Medium"/>
              </a:rPr>
              <a:t>2017-03-01 10:00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37960" y="3749039"/>
            <a:ext cx="4782312" cy="566928"/>
          </a:xfrm>
          <a:prstGeom prst="roundRect">
            <a:avLst>
              <a:gd name="adj" fmla="val 16129"/>
            </a:avLst>
          </a:prstGeom>
          <a:solidFill>
            <a:srgbClr val="FBEAEA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0" y="3749039"/>
            <a:ext cx="10972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>
                <a:solidFill>
                  <a:srgbClr val="B23A32"/>
                </a:solidFill>
                <a:latin typeface="Pretendard SemiBold"/>
                <a:ea typeface="Pretendard SemiBold"/>
                <a:cs typeface="Pretendard SemiBold"/>
              </a:rPr>
              <a:t>A001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0" y="3749039"/>
            <a:ext cx="22860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>
                <a:solidFill>
                  <a:srgbClr val="B23A32"/>
                </a:solidFill>
                <a:latin typeface="Pretendard Medium"/>
                <a:ea typeface="Pretendard Medium"/>
                <a:cs typeface="Pretendard Medium"/>
              </a:rPr>
              <a:t>2017-03-01 10:00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41280" y="3749039"/>
            <a:ext cx="9144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50" b="1">
                <a:solidFill>
                  <a:srgbClr val="B23A32"/>
                </a:solidFill>
                <a:latin typeface="Pretendard"/>
                <a:ea typeface="Pretendard"/>
                <a:cs typeface="Pretendard"/>
              </a:rPr>
              <a:t>삭제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37960" y="4480560"/>
            <a:ext cx="4782312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9525">
            <a:solidFill>
              <a:srgbClr val="E9E6E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66560" y="4480560"/>
            <a:ext cx="10972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>
                <a:solidFill>
                  <a:srgbClr val="1C1A22"/>
                </a:solidFill>
                <a:latin typeface="Pretendard SemiBold"/>
                <a:ea typeface="Pretendard SemiBold"/>
                <a:cs typeface="Pretendard SemiBold"/>
              </a:rPr>
              <a:t>A002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0" y="4480560"/>
            <a:ext cx="22860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>
                <a:solidFill>
                  <a:srgbClr val="3E3B47"/>
                </a:solidFill>
                <a:latin typeface="Pretendard Medium"/>
                <a:ea typeface="Pretendard Medium"/>
                <a:cs typeface="Pretendard Medium"/>
              </a:rPr>
              <a:t>2017-03-02 12:30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E4FCB"/>
                </a:solidFill>
                <a:latin typeface="Pretendard"/>
                <a:ea typeface="Pretendard"/>
                <a:cs typeface="Pretendard"/>
              </a:rPr>
              <a:t>05</a:t>
            </a:r>
            <a:r>
              <a:rPr sz="1100" b="0">
                <a:solidFill>
                  <a:srgbClr val="8C889A"/>
                </a:solidFill>
                <a:latin typeface="Pretendard Medium"/>
                <a:ea typeface="Pretendard Medium"/>
                <a:cs typeface="Pretendard Medium"/>
              </a:rPr>
              <a:t>   데이터 전처리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1C1A22"/>
                </a:solidFill>
                <a:latin typeface="Pretendard"/>
                <a:ea typeface="Pretendard"/>
                <a:cs typeface="Pretendard"/>
              </a:rPr>
              <a:t>누적값 → </a:t>
            </a:r>
            <a:r>
              <a:rPr sz="2400" b="1">
                <a:solidFill>
                  <a:srgbClr val="6E4FCB"/>
                </a:solidFill>
                <a:latin typeface="Pretendard"/>
                <a:ea typeface="Pretendard"/>
                <a:cs typeface="Pretendard"/>
              </a:rPr>
              <a:t>행동 강도</a:t>
            </a:r>
            <a:r>
              <a:rPr sz="2400" b="1">
                <a:solidFill>
                  <a:srgbClr val="1C1A22"/>
                </a:solidFill>
                <a:latin typeface="Pretendard"/>
                <a:ea typeface="Pretendard"/>
                <a:cs typeface="Pretendard"/>
              </a:rPr>
              <a:t> 지표 및 후보 피처 생성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C889A"/>
                </a:solidFill>
                <a:latin typeface="Pretendard SemiBold"/>
                <a:ea typeface="Pretendard SemiBold"/>
                <a:cs typeface="Pretendard SemiBold"/>
              </a:rPr>
              <a:t>KKeeper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5912" y="640080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C889A"/>
                </a:solidFill>
                <a:latin typeface="Pretendard Medium"/>
                <a:ea typeface="Pretendard Medium"/>
                <a:cs typeface="Pretendard Medium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4480560" cy="4023360"/>
          </a:xfrm>
          <a:prstGeom prst="roundRect">
            <a:avLst>
              <a:gd name="adj" fmla="val 3181"/>
            </a:avLst>
          </a:prstGeom>
          <a:solidFill>
            <a:srgbClr val="FFFFFF"/>
          </a:solidFill>
          <a:ln w="9525">
            <a:solidFill>
              <a:srgbClr val="E6E2EE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2103120"/>
            <a:ext cx="310896" cy="310896"/>
          </a:xfrm>
          <a:prstGeom prst="ellipse">
            <a:avLst/>
          </a:prstGeom>
          <a:solidFill>
            <a:srgbClr val="EFE9FC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  <a:r>
              <a:rPr sz="1100" b="1">
                <a:solidFill>
                  <a:srgbClr val="6E4FCB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61872" y="2103120"/>
            <a:ext cx="35661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0">
                <a:solidFill>
                  <a:srgbClr val="1C1A22"/>
                </a:solidFill>
                <a:latin typeface="Pretendard SemiBold"/>
                <a:ea typeface="Pretendard SemiBold"/>
                <a:cs typeface="Pretendard SemiBold"/>
              </a:rPr>
              <a:t>단위당 행동 강도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697480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5F5B6B"/>
                </a:solidFill>
                <a:latin typeface="Pretendard Medium"/>
                <a:ea typeface="Pretendard Medium"/>
                <a:cs typeface="Pretendard Medium"/>
              </a:rPr>
              <a:t>total_payment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23160" y="2697480"/>
            <a:ext cx="2743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B9A6EE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97480" y="2752344"/>
            <a:ext cx="2057400" cy="347472"/>
          </a:xfrm>
          <a:prstGeom prst="roundRect">
            <a:avLst>
              <a:gd name="adj" fmla="val 50000"/>
            </a:avLst>
          </a:prstGeom>
          <a:solidFill>
            <a:srgbClr val="EFE9FC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  <a:r>
              <a:rPr sz="1050" b="0">
                <a:solidFill>
                  <a:srgbClr val="4F35A8"/>
                </a:solidFill>
                <a:latin typeface="Pretendard SemiBold"/>
                <a:ea typeface="Pretendard SemiBold"/>
                <a:cs typeface="Pretendard SemiBold"/>
              </a:rPr>
              <a:t>avg_payment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3300984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5F5B6B"/>
                </a:solidFill>
                <a:latin typeface="Pretendard Medium"/>
                <a:ea typeface="Pretendard Medium"/>
                <a:cs typeface="Pretendard Medium"/>
              </a:rPr>
              <a:t>total_secs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3160" y="3300984"/>
            <a:ext cx="2743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B9A6EE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97480" y="3355848"/>
            <a:ext cx="2057400" cy="347472"/>
          </a:xfrm>
          <a:prstGeom prst="roundRect">
            <a:avLst>
              <a:gd name="adj" fmla="val 50000"/>
            </a:avLst>
          </a:prstGeom>
          <a:solidFill>
            <a:srgbClr val="EFE9FC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  <a:r>
              <a:rPr sz="1050" b="0">
                <a:solidFill>
                  <a:srgbClr val="4F35A8"/>
                </a:solidFill>
                <a:latin typeface="Pretendard SemiBold"/>
                <a:ea typeface="Pretendard SemiBold"/>
                <a:cs typeface="Pretendard SemiBold"/>
              </a:rPr>
              <a:t>avg_daily_secs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3904488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5F5B6B"/>
                </a:solidFill>
                <a:latin typeface="Pretendard Medium"/>
                <a:ea typeface="Pretendard Medium"/>
                <a:cs typeface="Pretendard Medium"/>
              </a:rPr>
              <a:t>total_num_100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23160" y="3904488"/>
            <a:ext cx="2743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B9A6EE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697480" y="3959352"/>
            <a:ext cx="2057400" cy="347472"/>
          </a:xfrm>
          <a:prstGeom prst="roundRect">
            <a:avLst>
              <a:gd name="adj" fmla="val 50000"/>
            </a:avLst>
          </a:prstGeom>
          <a:solidFill>
            <a:srgbClr val="EFE9FC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  <a:r>
              <a:rPr sz="1050" b="0">
                <a:solidFill>
                  <a:srgbClr val="4F35A8"/>
                </a:solidFill>
                <a:latin typeface="Pretendard SemiBold"/>
                <a:ea typeface="Pretendard SemiBold"/>
                <a:cs typeface="Pretendard SemiBold"/>
              </a:rPr>
              <a:t>avg_daily_complete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" y="4507992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5F5B6B"/>
                </a:solidFill>
                <a:latin typeface="Pretendard Medium"/>
                <a:ea typeface="Pretendard Medium"/>
                <a:cs typeface="Pretendard Medium"/>
              </a:rPr>
              <a:t>total_num_unq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23160" y="4507992"/>
            <a:ext cx="2743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B9A6EE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697480" y="4562855"/>
            <a:ext cx="2057400" cy="347472"/>
          </a:xfrm>
          <a:prstGeom prst="roundRect">
            <a:avLst>
              <a:gd name="adj" fmla="val 50000"/>
            </a:avLst>
          </a:prstGeom>
          <a:solidFill>
            <a:srgbClr val="EFE9FC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  <a:r>
              <a:rPr sz="1050" b="0">
                <a:solidFill>
                  <a:srgbClr val="4F35A8"/>
                </a:solidFill>
                <a:latin typeface="Pretendard SemiBold"/>
                <a:ea typeface="Pretendard SemiBold"/>
                <a:cs typeface="Pretendard SemiBold"/>
              </a:rPr>
              <a:t>avg_daily_unq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59" y="5111496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5F5B6B"/>
                </a:solidFill>
                <a:latin typeface="Pretendard Medium"/>
                <a:ea typeface="Pretendard Medium"/>
                <a:cs typeface="Pretendard Medium"/>
              </a:rPr>
              <a:t>avg_payment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23160" y="5111496"/>
            <a:ext cx="2743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B9A6EE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97480" y="5166359"/>
            <a:ext cx="2057400" cy="347472"/>
          </a:xfrm>
          <a:prstGeom prst="roundRect">
            <a:avLst>
              <a:gd name="adj" fmla="val 50000"/>
            </a:avLst>
          </a:prstGeom>
          <a:solidFill>
            <a:srgbClr val="EFE9FC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  <a:r>
              <a:rPr sz="1050" b="0">
                <a:solidFill>
                  <a:srgbClr val="4F35A8"/>
                </a:solidFill>
                <a:latin typeface="Pretendard SemiBold"/>
                <a:ea typeface="Pretendard SemiBold"/>
                <a:cs typeface="Pretendard SemiBold"/>
              </a:rPr>
              <a:t>payment_per_plan_day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257800" y="1828800"/>
            <a:ext cx="3108960" cy="4023360"/>
          </a:xfrm>
          <a:prstGeom prst="roundRect">
            <a:avLst>
              <a:gd name="adj" fmla="val 4117"/>
            </a:avLst>
          </a:prstGeom>
          <a:solidFill>
            <a:srgbClr val="FFFFFF"/>
          </a:solidFill>
          <a:ln w="9525">
            <a:solidFill>
              <a:srgbClr val="E6E2EE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532120" y="2103120"/>
            <a:ext cx="310896" cy="310896"/>
          </a:xfrm>
          <a:prstGeom prst="ellipse">
            <a:avLst/>
          </a:prstGeom>
          <a:solidFill>
            <a:srgbClr val="EFE9FC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  <a:r>
              <a:rPr sz="1100" b="1">
                <a:solidFill>
                  <a:srgbClr val="6E4FCB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71032" y="2103120"/>
            <a:ext cx="21945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0">
                <a:solidFill>
                  <a:srgbClr val="1C1A22"/>
                </a:solidFill>
                <a:latin typeface="Pretendard SemiBold"/>
                <a:ea typeface="Pretendard SemiBold"/>
                <a:cs typeface="Pretendard SemiBold"/>
              </a:rPr>
              <a:t>0에도 의미가 있는 경우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532120" y="2752344"/>
            <a:ext cx="1600200" cy="347472"/>
          </a:xfrm>
          <a:prstGeom prst="roundRect">
            <a:avLst>
              <a:gd name="adj" fmla="val 50000"/>
            </a:avLst>
          </a:prstGeom>
          <a:solidFill>
            <a:srgbClr val="EFE9FC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  <a:r>
              <a:rPr sz="1050" b="0">
                <a:solidFill>
                  <a:srgbClr val="4F35A8"/>
                </a:solidFill>
                <a:latin typeface="Pretendard SemiBold"/>
                <a:ea typeface="Pretendard SemiBold"/>
                <a:cs typeface="Pretendard SemiBold"/>
              </a:rPr>
              <a:t>no_unique_song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69480" y="2697480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5F5B6B"/>
                </a:solidFill>
                <a:latin typeface="Pretendard Medium"/>
                <a:ea typeface="Pretendard Medium"/>
                <a:cs typeface="Pretendard Medium"/>
              </a:rPr>
              <a:t>고유 곡 수 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532120" y="3355848"/>
            <a:ext cx="1600200" cy="347472"/>
          </a:xfrm>
          <a:prstGeom prst="roundRect">
            <a:avLst>
              <a:gd name="adj" fmla="val 50000"/>
            </a:avLst>
          </a:prstGeom>
          <a:solidFill>
            <a:srgbClr val="EFE9FC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  <a:r>
              <a:rPr sz="1050" b="0">
                <a:solidFill>
                  <a:srgbClr val="4F35A8"/>
                </a:solidFill>
                <a:latin typeface="Pretendard SemiBold"/>
                <a:ea typeface="Pretendard SemiBold"/>
                <a:cs typeface="Pretendard SemiBold"/>
              </a:rPr>
              <a:t>zero_plan_days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69480" y="3300984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5F5B6B"/>
                </a:solidFill>
                <a:latin typeface="Pretendard Medium"/>
                <a:ea typeface="Pretendard Medium"/>
                <a:cs typeface="Pretendard Medium"/>
              </a:rPr>
              <a:t>플랜 기간 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595360" y="1828800"/>
            <a:ext cx="3136392" cy="4023360"/>
          </a:xfrm>
          <a:prstGeom prst="roundRect">
            <a:avLst>
              <a:gd name="adj" fmla="val 4081"/>
            </a:avLst>
          </a:prstGeom>
          <a:solidFill>
            <a:srgbClr val="FFFFFF"/>
          </a:solidFill>
          <a:ln w="9525">
            <a:solidFill>
              <a:srgbClr val="E6E2EE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869680" y="2103120"/>
            <a:ext cx="310896" cy="310896"/>
          </a:xfrm>
          <a:prstGeom prst="ellipse">
            <a:avLst/>
          </a:prstGeom>
          <a:solidFill>
            <a:srgbClr val="EFE9FC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  <a:r>
              <a:rPr sz="1100" b="1">
                <a:solidFill>
                  <a:srgbClr val="6E4FCB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08592" y="2103120"/>
            <a:ext cx="222199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0">
                <a:solidFill>
                  <a:srgbClr val="1C1A22"/>
                </a:solidFill>
                <a:latin typeface="Pretendard SemiBold"/>
                <a:ea typeface="Pretendard SemiBold"/>
                <a:cs typeface="Pretendard SemiBold"/>
              </a:rPr>
              <a:t>후보 피처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69680" y="2752344"/>
            <a:ext cx="2587752" cy="347472"/>
          </a:xfrm>
          <a:prstGeom prst="roundRect">
            <a:avLst>
              <a:gd name="adj" fmla="val 50000"/>
            </a:avLst>
          </a:prstGeom>
          <a:solidFill>
            <a:srgbClr val="EFE9FC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  <a:r>
              <a:rPr sz="1050" b="0">
                <a:solidFill>
                  <a:srgbClr val="4F35A8"/>
                </a:solidFill>
                <a:latin typeface="Pretendard SemiBold"/>
                <a:ea typeface="Pretendard SemiBold"/>
                <a:cs typeface="Pretendard SemiBold"/>
              </a:rPr>
              <a:t>inactive_7days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869680" y="3355848"/>
            <a:ext cx="2587752" cy="347472"/>
          </a:xfrm>
          <a:prstGeom prst="roundRect">
            <a:avLst>
              <a:gd name="adj" fmla="val 50000"/>
            </a:avLst>
          </a:prstGeom>
          <a:solidFill>
            <a:srgbClr val="EFE9FC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  <a:r>
              <a:rPr sz="1050" b="0">
                <a:solidFill>
                  <a:srgbClr val="4F35A8"/>
                </a:solidFill>
                <a:latin typeface="Pretendard SemiBold"/>
                <a:ea typeface="Pretendard SemiBold"/>
                <a:cs typeface="Pretendard SemiBold"/>
              </a:rPr>
              <a:t>completed_per_hour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869680" y="3959352"/>
            <a:ext cx="2587752" cy="347472"/>
          </a:xfrm>
          <a:prstGeom prst="roundRect">
            <a:avLst>
              <a:gd name="adj" fmla="val 50000"/>
            </a:avLst>
          </a:prstGeom>
          <a:solidFill>
            <a:srgbClr val="EFE9FC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  <a:r>
              <a:rPr sz="1050" b="0">
                <a:solidFill>
                  <a:srgbClr val="4F35A8"/>
                </a:solidFill>
                <a:latin typeface="Pretendard SemiBold"/>
                <a:ea typeface="Pretendard SemiBold"/>
                <a:cs typeface="Pretendard SemiBold"/>
              </a:rPr>
              <a:t>cancel_rate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869680" y="4562855"/>
            <a:ext cx="2587752" cy="347472"/>
          </a:xfrm>
          <a:prstGeom prst="roundRect">
            <a:avLst>
              <a:gd name="adj" fmla="val 50000"/>
            </a:avLst>
          </a:prstGeom>
          <a:solidFill>
            <a:srgbClr val="EFE9FC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  <a:r>
              <a:rPr sz="1050" b="0">
                <a:solidFill>
                  <a:srgbClr val="4F35A8"/>
                </a:solidFill>
                <a:latin typeface="Pretendard SemiBold"/>
                <a:ea typeface="Pretendard SemiBold"/>
                <a:cs typeface="Pretendard SemiBold"/>
              </a:rPr>
              <a:t>no_auto_renew_low_activity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869680" y="5166359"/>
            <a:ext cx="2587752" cy="347472"/>
          </a:xfrm>
          <a:prstGeom prst="roundRect">
            <a:avLst>
              <a:gd name="adj" fmla="val 50000"/>
            </a:avLst>
          </a:prstGeom>
          <a:solidFill>
            <a:srgbClr val="EFE9FC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  <a:r>
              <a:rPr sz="1050" b="0">
                <a:solidFill>
                  <a:srgbClr val="4F35A8"/>
                </a:solidFill>
                <a:latin typeface="Pretendard SemiBold"/>
                <a:ea typeface="Pretendard SemiBold"/>
                <a:cs typeface="Pretendard SemiBold"/>
              </a:rPr>
              <a:t>long_tenure_low_activity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E4FCB"/>
                </a:solidFill>
                <a:latin typeface="Pretendard"/>
                <a:ea typeface="Pretendard"/>
                <a:cs typeface="Pretendard"/>
              </a:rPr>
              <a:t>06</a:t>
            </a:r>
            <a:r>
              <a:rPr sz="1100" b="0">
                <a:solidFill>
                  <a:srgbClr val="8C889A"/>
                </a:solidFill>
                <a:latin typeface="Pretendard Medium"/>
                <a:ea typeface="Pretendard Medium"/>
                <a:cs typeface="Pretendard Medium"/>
              </a:rPr>
              <a:t>   모델링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1C1A22"/>
                </a:solidFill>
                <a:latin typeface="Pretendard"/>
                <a:ea typeface="Pretendard"/>
                <a:cs typeface="Pretendard"/>
              </a:rPr>
              <a:t>정확도보다 </a:t>
            </a:r>
            <a:r>
              <a:rPr sz="2400" b="1">
                <a:solidFill>
                  <a:srgbClr val="6E4FCB"/>
                </a:solidFill>
                <a:latin typeface="Pretendard"/>
                <a:ea typeface="Pretendard"/>
                <a:cs typeface="Pretendard"/>
              </a:rPr>
              <a:t>이탈 고객을 찾아내는 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C889A"/>
                </a:solidFill>
                <a:latin typeface="Pretendard SemiBold"/>
                <a:ea typeface="Pretendard SemiBold"/>
                <a:cs typeface="Pretendard SemiBold"/>
              </a:rPr>
              <a:t>KKeeper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5912" y="640080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C889A"/>
                </a:solidFill>
                <a:latin typeface="Pretendard Medium"/>
                <a:ea typeface="Pretendard Medium"/>
                <a:cs typeface="Pretendard Medium"/>
              </a:rP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3502152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6E2EE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84831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C889A"/>
                </a:solidFill>
                <a:latin typeface="Pretendard Medium"/>
                <a:ea typeface="Pretendard Medium"/>
                <a:cs typeface="Pretendard Medium"/>
              </a:rPr>
              <a:t>이탈 비율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7744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6E4FCB"/>
                </a:solidFill>
                <a:latin typeface="Pretendard"/>
                <a:ea typeface="Pretendard"/>
                <a:cs typeface="Pretendard"/>
              </a:rPr>
              <a:t>8.95%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97180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5F5B6B"/>
                </a:solidFill>
                <a:latin typeface="Pretendard Medium"/>
                <a:ea typeface="Pretendard Medium"/>
                <a:cs typeface="Pretendard Medium"/>
              </a:rPr>
              <a:t>Accuracy만 보면 착시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828800"/>
            <a:ext cx="3502152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6E2EE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084831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C889A"/>
                </a:solidFill>
                <a:latin typeface="Pretendard Medium"/>
                <a:ea typeface="Pretendard Medium"/>
                <a:cs typeface="Pretendard Medium"/>
              </a:rPr>
              <a:t>문제 유형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37744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C1A22"/>
                </a:solidFill>
                <a:latin typeface="Pretendard"/>
                <a:ea typeface="Pretendard"/>
                <a:cs typeface="Pretendard"/>
              </a:rPr>
              <a:t>Binary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97180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5F5B6B"/>
                </a:solidFill>
                <a:latin typeface="Pretendard Medium"/>
                <a:ea typeface="Pretendard Medium"/>
                <a:cs typeface="Pretendard Medium"/>
              </a:rPr>
              <a:t>is_churn = 0 / 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828800"/>
            <a:ext cx="3502152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6E2EE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58200" y="2084831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C889A"/>
                </a:solidFill>
                <a:latin typeface="Pretendard Medium"/>
                <a:ea typeface="Pretendard Medium"/>
                <a:cs typeface="Pretendard Medium"/>
              </a:rPr>
              <a:t>검증 방법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237744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C1A22"/>
                </a:solidFill>
                <a:latin typeface="Pretendard"/>
                <a:ea typeface="Pretendard"/>
                <a:cs typeface="Pretendard"/>
              </a:rPr>
              <a:t>5-fold CV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297180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5F5B6B"/>
                </a:solidFill>
                <a:latin typeface="Pretendard Medium"/>
                <a:ea typeface="Pretendard Medium"/>
                <a:cs typeface="Pretendard Medium"/>
              </a:rPr>
              <a:t>일반화 성능 비교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8404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C1A22"/>
                </a:solidFill>
                <a:latin typeface="Pretendard SemiBold"/>
                <a:ea typeface="Pretendard SemiBold"/>
                <a:cs typeface="Pretendard SemiBold"/>
              </a:rPr>
              <a:t>평가 지표는 역할을 나눠 사용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251960"/>
            <a:ext cx="2926080" cy="1234440"/>
          </a:xfrm>
          <a:prstGeom prst="roundRect">
            <a:avLst>
              <a:gd name="adj" fmla="val 10370"/>
            </a:avLst>
          </a:prstGeom>
          <a:solidFill>
            <a:srgbClr val="F3EEFD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462272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4F35A8"/>
                </a:solidFill>
                <a:latin typeface="Pretendard"/>
                <a:ea typeface="Pretendard"/>
                <a:cs typeface="Pretendard"/>
              </a:rPr>
              <a:t>ROC-AUC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919472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3E3B47"/>
                </a:solidFill>
                <a:latin typeface="Pretendard Medium"/>
                <a:ea typeface="Pretendard Medium"/>
                <a:cs typeface="Pretendard Medium"/>
              </a:rPr>
              <a:t>모델 선택</a:t>
            </a:r>
          </a:p>
        </p:txBody>
      </p:sp>
      <p:pic>
        <p:nvPicPr>
          <p:cNvPr id="22" name="Picture 21" descr="arrow_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8728" y="4754880"/>
            <a:ext cx="219456" cy="219456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3822191" y="4251960"/>
            <a:ext cx="2926080" cy="1234440"/>
          </a:xfrm>
          <a:prstGeom prst="roundRect">
            <a:avLst>
              <a:gd name="adj" fmla="val 10370"/>
            </a:avLst>
          </a:prstGeom>
          <a:solidFill>
            <a:srgbClr val="F3EEFD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42231" y="4462272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4F35A8"/>
                </a:solidFill>
                <a:latin typeface="Pretendard"/>
                <a:ea typeface="Pretendard"/>
                <a:cs typeface="Pretendard"/>
              </a:rPr>
              <a:t>PR-AUC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42231" y="4919472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3E3B47"/>
                </a:solidFill>
                <a:latin typeface="Pretendard Medium"/>
                <a:ea typeface="Pretendard Medium"/>
                <a:cs typeface="Pretendard Medium"/>
              </a:rPr>
              <a:t>불균형 성능 확인</a:t>
            </a:r>
          </a:p>
        </p:txBody>
      </p:sp>
      <p:pic>
        <p:nvPicPr>
          <p:cNvPr id="26" name="Picture 25" descr="arrow_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4754880"/>
            <a:ext cx="219456" cy="219456"/>
          </a:xfrm>
          <a:prstGeom prst="rect">
            <a:avLst/>
          </a:prstGeom>
        </p:spPr>
      </p:pic>
      <p:sp>
        <p:nvSpPr>
          <p:cNvPr id="27" name="Rounded Rectangle 26"/>
          <p:cNvSpPr/>
          <p:nvPr/>
        </p:nvSpPr>
        <p:spPr>
          <a:xfrm>
            <a:off x="7095744" y="4251960"/>
            <a:ext cx="4544568" cy="1234440"/>
          </a:xfrm>
          <a:prstGeom prst="roundRect">
            <a:avLst>
              <a:gd name="adj" fmla="val 10370"/>
            </a:avLst>
          </a:prstGeom>
          <a:solidFill>
            <a:srgbClr val="F3EEFD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15783" y="4462272"/>
            <a:ext cx="39959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4F35A8"/>
                </a:solidFill>
                <a:latin typeface="Pretendard"/>
                <a:ea typeface="Pretendard"/>
                <a:cs typeface="Pretendard"/>
              </a:rPr>
              <a:t>Precision · Recall · F1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15783" y="4919472"/>
            <a:ext cx="39959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3E3B47"/>
                </a:solidFill>
                <a:latin typeface="Pretendard Medium"/>
                <a:ea typeface="Pretendard Medium"/>
                <a:cs typeface="Pretendard Medium"/>
              </a:rPr>
              <a:t>실제 개입 기준 (threshold)</a:t>
            </a:r>
          </a:p>
        </p:txBody>
      </p:sp>
    </p:spTree>
  </p:cSld>
  <p:clrMapOvr>
    <a:masterClrMapping/>
  </p:clrMapOvr>
</p:sld>
</file>

<file path=ppt/slides/slide1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a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5720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100" b="1">
                <a:solidFill>
                  <a:srgbClr val="6e4fcb"/>
                </a:solidFill>
                <a:latin typeface="Pretendard"/>
                <a:ea typeface="Pretendard"/>
                <a:cs typeface="Pretendard"/>
              </a:rPr>
              <a:t>06</a:t>
            </a:r>
            <a:r>
              <a:rPr sz="1100" b="0">
                <a:solidFill>
                  <a:srgbClr val="8c889a"/>
                </a:solidFill>
                <a:latin typeface="Pretendard Medium"/>
                <a:ea typeface="Pretendard Medium"/>
                <a:cs typeface="Pretendard Medium"/>
              </a:rPr>
              <a:t>   모델링</a:t>
            </a:r>
            <a:endParaRPr sz="1100" b="0">
              <a:solidFill>
                <a:srgbClr val="8c889a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/>
            </a:pPr>
            <a:r>
              <a:rPr sz="2400" b="1">
                <a:solidFill>
                  <a:srgbClr val="1c1a22"/>
                </a:solidFill>
                <a:latin typeface="Pretendard"/>
                <a:ea typeface="Pretendard"/>
                <a:cs typeface="Pretendard"/>
              </a:rPr>
              <a:t>후보 모델 선정 — </a:t>
            </a:r>
            <a:r>
              <a:rPr sz="2400" b="1">
                <a:solidFill>
                  <a:srgbClr val="6e4fcb"/>
                </a:solidFill>
                <a:latin typeface="Pretendard"/>
                <a:ea typeface="Pretendard"/>
                <a:cs typeface="Pretendard"/>
              </a:rPr>
              <a:t>Boosting 계열</a:t>
            </a:r>
            <a:endParaRPr sz="2400" b="1">
              <a:solidFill>
                <a:srgbClr val="6e4fcb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300" b="0">
                <a:solidFill>
                  <a:srgbClr val="5f5b6b"/>
                </a:solidFill>
                <a:latin typeface="Pretendard Medium"/>
                <a:ea typeface="Pretendard Medium"/>
                <a:cs typeface="Pretendard Medium"/>
              </a:rPr>
              <a:t>XGBoost · LightGBM · CatBoost — 실제 이탈 예측 같은 정형 데이터 분류에서 널리 쓰이는 모델</a:t>
            </a:r>
            <a:endParaRPr sz="1300" b="0">
              <a:solidFill>
                <a:srgbClr val="5f5b6b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2743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900" b="0">
                <a:solidFill>
                  <a:srgbClr val="8c889a"/>
                </a:solidFill>
                <a:latin typeface="Pretendard SemiBold"/>
                <a:ea typeface="Pretendard SemiBold"/>
                <a:cs typeface="Pretendard SemiBold"/>
              </a:rPr>
              <a:t>KKeeper</a:t>
            </a:r>
            <a:endParaRPr sz="900" b="0">
              <a:solidFill>
                <a:srgbClr val="8c889a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725912" y="6400800"/>
            <a:ext cx="914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defRPr/>
            </a:pPr>
            <a:r>
              <a:rPr sz="900" b="0">
                <a:solidFill>
                  <a:srgbClr val="8c889a"/>
                </a:solidFill>
                <a:latin typeface="Pretendard Medium"/>
                <a:ea typeface="Pretendard Medium"/>
                <a:cs typeface="Pretendard Medium"/>
              </a:rPr>
              <a:t>15</a:t>
            </a:r>
            <a:endParaRPr sz="900" b="0">
              <a:solidFill>
                <a:srgbClr val="8c889a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48640" y="1920240"/>
            <a:ext cx="5422392" cy="1645920"/>
          </a:xfrm>
          <a:prstGeom prst="roundRect">
            <a:avLst>
              <a:gd name="adj" fmla="val 7777"/>
            </a:avLst>
          </a:prstGeom>
          <a:solidFill>
            <a:srgbClr val="ffffff"/>
          </a:solidFill>
          <a:ln w="9525">
            <a:solidFill>
              <a:srgbClr val="e6e2ee"/>
            </a:solidFill>
          </a:ln>
          <a:effectLst/>
        </p:spPr>
        <p:txBody>
          <a:bodyPr lIns="0" tIns="0" rIns="0" bIns="0"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8" name="Oval 7"/>
          <p:cNvSpPr/>
          <p:nvPr/>
        </p:nvSpPr>
        <p:spPr>
          <a:xfrm>
            <a:off x="868679" y="2240280"/>
            <a:ext cx="310896" cy="310896"/>
          </a:xfrm>
          <a:prstGeom prst="ellipse">
            <a:avLst/>
          </a:prstGeom>
          <a:solidFill>
            <a:srgbClr val="efe9fc"/>
          </a:solidFill>
          <a:ln>
            <a:noFill/>
          </a:ln>
          <a:effectLst/>
        </p:spPr>
        <p:txBody>
          <a:bodyPr wrap="square" lIns="0" tIns="0" rIns="0" bIns="0" anchor="ctr"/>
          <a:lstStyle/>
          <a:p>
            <a:pPr algn="ctr">
              <a:defRPr/>
            </a:pPr>
            <a:r>
              <a:rPr sz="1100" b="1">
                <a:solidFill>
                  <a:srgbClr val="6e4fcb"/>
                </a:solidFill>
                <a:latin typeface="Pretendard"/>
                <a:ea typeface="Pretendard"/>
                <a:cs typeface="Pretendard"/>
              </a:rPr>
              <a:t>1</a:t>
            </a:r>
            <a:endParaRPr sz="1100" b="1">
              <a:solidFill>
                <a:srgbClr val="6e4fcb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371600" y="2240280"/>
            <a:ext cx="43891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/>
            </a:pPr>
            <a:r>
              <a:rPr sz="1500" b="0">
                <a:solidFill>
                  <a:srgbClr val="1c1a22"/>
                </a:solidFill>
                <a:latin typeface="Pretendard SemiBold"/>
                <a:ea typeface="Pretendard SemiBold"/>
                <a:cs typeface="Pretendard SemiBold"/>
              </a:rPr>
              <a:t>정형 데이터에 강함</a:t>
            </a:r>
            <a:endParaRPr sz="1500" b="0">
              <a:solidFill>
                <a:srgbClr val="1c1a2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371600" y="2697480"/>
            <a:ext cx="4343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defRPr/>
            </a:pPr>
            <a:r>
              <a:rPr sz="1200" b="0">
                <a:solidFill>
                  <a:srgbClr val="5f5b6b"/>
                </a:solidFill>
                <a:latin typeface="Pretendard Medium"/>
                <a:ea typeface="Pretendard Medium"/>
                <a:cs typeface="Pretendard Medium"/>
              </a:rPr>
              <a:t>수치형 · 범주형이 섞인 Tabular Data에서 높은 성능</a:t>
            </a:r>
            <a:endParaRPr sz="1200" b="0">
              <a:solidFill>
                <a:srgbClr val="5f5b6b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422392" cy="1645920"/>
          </a:xfrm>
          <a:prstGeom prst="roundRect">
            <a:avLst>
              <a:gd name="adj" fmla="val 7777"/>
            </a:avLst>
          </a:prstGeom>
          <a:solidFill>
            <a:srgbClr val="ffffff"/>
          </a:solidFill>
          <a:ln w="9525">
            <a:solidFill>
              <a:srgbClr val="e6e2ee"/>
            </a:solidFill>
          </a:ln>
          <a:effectLst/>
        </p:spPr>
        <p:txBody>
          <a:bodyPr lIns="0" tIns="0" rIns="0" bIns="0"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2" name="Oval 11"/>
          <p:cNvSpPr/>
          <p:nvPr/>
        </p:nvSpPr>
        <p:spPr>
          <a:xfrm>
            <a:off x="6537959" y="2240280"/>
            <a:ext cx="310896" cy="310896"/>
          </a:xfrm>
          <a:prstGeom prst="ellipse">
            <a:avLst/>
          </a:prstGeom>
          <a:solidFill>
            <a:srgbClr val="efe9fc"/>
          </a:solidFill>
          <a:ln>
            <a:noFill/>
          </a:ln>
          <a:effectLst/>
        </p:spPr>
        <p:txBody>
          <a:bodyPr wrap="square" lIns="0" tIns="0" rIns="0" bIns="0" anchor="ctr"/>
          <a:lstStyle/>
          <a:p>
            <a:pPr algn="ctr">
              <a:defRPr/>
            </a:pPr>
            <a:r>
              <a:rPr sz="1100" b="1">
                <a:solidFill>
                  <a:srgbClr val="6e4fcb"/>
                </a:solidFill>
                <a:latin typeface="Pretendard"/>
                <a:ea typeface="Pretendard"/>
                <a:cs typeface="Pretendard"/>
              </a:rPr>
              <a:t>2</a:t>
            </a:r>
            <a:endParaRPr sz="1100" b="1">
              <a:solidFill>
                <a:srgbClr val="6e4fcb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040880" y="2240280"/>
            <a:ext cx="43891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/>
            </a:pPr>
            <a:r>
              <a:rPr sz="1500" b="0">
                <a:solidFill>
                  <a:srgbClr val="1c1a22"/>
                </a:solidFill>
                <a:latin typeface="Pretendard SemiBold"/>
                <a:ea typeface="Pretendard SemiBold"/>
                <a:cs typeface="Pretendard SemiBold"/>
              </a:rPr>
              <a:t>복잡한 패턴 포착</a:t>
            </a:r>
            <a:endParaRPr sz="1500" b="0">
              <a:solidFill>
                <a:srgbClr val="1c1a2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040880" y="2697480"/>
            <a:ext cx="4343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defRPr/>
            </a:pPr>
            <a:r>
              <a:rPr sz="1200" b="0">
                <a:solidFill>
                  <a:srgbClr val="5f5b6b"/>
                </a:solidFill>
                <a:latin typeface="Pretendard Medium"/>
                <a:ea typeface="Pretendard Medium"/>
                <a:cs typeface="Pretendard Medium"/>
              </a:rPr>
              <a:t>청취 × 결제 × 가입 기간 × 자동결제 등 변수 간 상호작용 학습</a:t>
            </a:r>
            <a:endParaRPr sz="1200" b="0">
              <a:solidFill>
                <a:srgbClr val="5f5b6b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48640" y="3794760"/>
            <a:ext cx="5422392" cy="1645920"/>
          </a:xfrm>
          <a:prstGeom prst="roundRect">
            <a:avLst>
              <a:gd name="adj" fmla="val 7777"/>
            </a:avLst>
          </a:prstGeom>
          <a:solidFill>
            <a:srgbClr val="ffffff"/>
          </a:solidFill>
          <a:ln w="9525">
            <a:solidFill>
              <a:srgbClr val="e6e2ee"/>
            </a:solidFill>
          </a:ln>
          <a:effectLst/>
        </p:spPr>
        <p:txBody>
          <a:bodyPr lIns="0" tIns="0" rIns="0" bIns="0"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6" name="Oval 15"/>
          <p:cNvSpPr/>
          <p:nvPr/>
        </p:nvSpPr>
        <p:spPr>
          <a:xfrm>
            <a:off x="868679" y="4114800"/>
            <a:ext cx="310896" cy="310896"/>
          </a:xfrm>
          <a:prstGeom prst="ellipse">
            <a:avLst/>
          </a:prstGeom>
          <a:solidFill>
            <a:srgbClr val="efe9fc"/>
          </a:solidFill>
          <a:ln>
            <a:noFill/>
          </a:ln>
          <a:effectLst/>
        </p:spPr>
        <p:txBody>
          <a:bodyPr wrap="square" lIns="0" tIns="0" rIns="0" bIns="0" anchor="ctr"/>
          <a:lstStyle/>
          <a:p>
            <a:pPr algn="ctr">
              <a:defRPr/>
            </a:pPr>
            <a:r>
              <a:rPr sz="1100" b="1">
                <a:solidFill>
                  <a:srgbClr val="6e4fcb"/>
                </a:solidFill>
                <a:latin typeface="Pretendard"/>
                <a:ea typeface="Pretendard"/>
                <a:cs typeface="Pretendard"/>
              </a:rPr>
              <a:t>3</a:t>
            </a:r>
            <a:endParaRPr sz="1100" b="1">
              <a:solidFill>
                <a:srgbClr val="6e4fcb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371600" y="4114800"/>
            <a:ext cx="43891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/>
            </a:pPr>
            <a:r>
              <a:rPr sz="1500" b="0">
                <a:solidFill>
                  <a:srgbClr val="1c1a22"/>
                </a:solidFill>
                <a:latin typeface="Pretendard SemiBold"/>
                <a:ea typeface="Pretendard SemiBold"/>
                <a:cs typeface="Pretendard SemiBold"/>
              </a:rPr>
              <a:t>오류를 순차적으로 보완</a:t>
            </a:r>
            <a:endParaRPr sz="1500" b="0">
              <a:solidFill>
                <a:srgbClr val="1c1a2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371600" y="4572000"/>
            <a:ext cx="4343400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defRPr/>
            </a:pPr>
            <a:r>
              <a:rPr sz="1200" b="0">
                <a:solidFill>
                  <a:srgbClr val="5f5b6b"/>
                </a:solidFill>
                <a:latin typeface="Pretendard Medium"/>
                <a:ea typeface="Pretendard Medium"/>
                <a:cs typeface="Pretendard Medium"/>
              </a:rPr>
              <a:t>이전 Tree가 틀린 고객에 집중</a:t>
            </a:r>
            <a:endParaRPr sz="1200" b="0">
              <a:solidFill>
                <a:srgbClr val="5f5b6b"/>
              </a:solidFill>
              <a:latin typeface="Pretendard Medium"/>
              <a:ea typeface="Pretendard Medium"/>
              <a:cs typeface="Pretendard Medium"/>
            </a:endParaRPr>
          </a:p>
          <a:p>
            <a:pPr algn="l">
              <a:lnSpc>
                <a:spcPct val="115000"/>
              </a:lnSpc>
              <a:defRPr/>
            </a:pPr>
            <a:r>
              <a:rPr sz="1200" b="0">
                <a:solidFill>
                  <a:srgbClr val="5f5b6b"/>
                </a:solidFill>
                <a:latin typeface="Pretendard Medium"/>
                <a:ea typeface="Pretendard Medium"/>
                <a:cs typeface="Pretendard Medium"/>
              </a:rPr>
              <a:t>→ 구분이 어려운 위험 고객을 점점 더 잘 분류</a:t>
            </a:r>
            <a:endParaRPr sz="1200" b="0">
              <a:solidFill>
                <a:srgbClr val="5f5b6b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217920" y="3794760"/>
            <a:ext cx="5422392" cy="1645920"/>
          </a:xfrm>
          <a:prstGeom prst="roundRect">
            <a:avLst>
              <a:gd name="adj" fmla="val 7777"/>
            </a:avLst>
          </a:prstGeom>
          <a:solidFill>
            <a:srgbClr val="ffffff"/>
          </a:solidFill>
          <a:ln w="9525">
            <a:solidFill>
              <a:srgbClr val="e6e2ee"/>
            </a:solidFill>
          </a:ln>
          <a:effectLst/>
        </p:spPr>
        <p:txBody>
          <a:bodyPr lIns="0" tIns="0" rIns="0" bIns="0"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0" name="Oval 19"/>
          <p:cNvSpPr/>
          <p:nvPr/>
        </p:nvSpPr>
        <p:spPr>
          <a:xfrm>
            <a:off x="6537959" y="4114800"/>
            <a:ext cx="310896" cy="310896"/>
          </a:xfrm>
          <a:prstGeom prst="ellipse">
            <a:avLst/>
          </a:prstGeom>
          <a:solidFill>
            <a:srgbClr val="efe9fc"/>
          </a:solidFill>
          <a:ln>
            <a:noFill/>
          </a:ln>
          <a:effectLst/>
        </p:spPr>
        <p:txBody>
          <a:bodyPr wrap="square" lIns="0" tIns="0" rIns="0" bIns="0" anchor="ctr"/>
          <a:lstStyle/>
          <a:p>
            <a:pPr algn="ctr">
              <a:defRPr/>
            </a:pPr>
            <a:r>
              <a:rPr sz="1100" b="1">
                <a:solidFill>
                  <a:srgbClr val="6e4fcb"/>
                </a:solidFill>
                <a:latin typeface="Pretendard"/>
                <a:ea typeface="Pretendard"/>
                <a:cs typeface="Pretendard"/>
              </a:rPr>
              <a:t>4</a:t>
            </a:r>
            <a:endParaRPr sz="1100" b="1">
              <a:solidFill>
                <a:srgbClr val="6e4fcb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040880" y="4114800"/>
            <a:ext cx="43891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/>
            </a:pPr>
            <a:r>
              <a:rPr sz="1500" b="0">
                <a:solidFill>
                  <a:srgbClr val="1c1a22"/>
                </a:solidFill>
                <a:latin typeface="Pretendard SemiBold"/>
                <a:ea typeface="Pretendard SemiBold"/>
                <a:cs typeface="Pretendard SemiBold"/>
              </a:rPr>
              <a:t>대규모 데이터에 적합</a:t>
            </a:r>
            <a:endParaRPr sz="1500" b="0">
              <a:solidFill>
                <a:srgbClr val="1c1a2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040880" y="4572000"/>
            <a:ext cx="4343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defRPr/>
            </a:pPr>
            <a:r>
              <a:rPr sz="1200" b="0">
                <a:solidFill>
                  <a:srgbClr val="5f5b6b"/>
                </a:solidFill>
                <a:latin typeface="Pretendard Medium"/>
                <a:ea typeface="Pretendard Medium"/>
                <a:cs typeface="Pretendard Medium"/>
              </a:rPr>
              <a:t>대규모 고객 데이터에서도 빠르고 높은 성능</a:t>
            </a:r>
            <a:endParaRPr sz="1200" b="0">
              <a:solidFill>
                <a:srgbClr val="5f5b6b"/>
              </a:solidFill>
              <a:latin typeface="Pretendard Medium"/>
              <a:ea typeface="Pretendard Medium"/>
              <a:cs typeface="Pretendard Medium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a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5720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100" b="1">
                <a:solidFill>
                  <a:srgbClr val="6e4fcb"/>
                </a:solidFill>
                <a:latin typeface="Pretendard"/>
                <a:ea typeface="Pretendard"/>
                <a:cs typeface="Pretendard"/>
              </a:rPr>
              <a:t>06</a:t>
            </a:r>
            <a:r>
              <a:rPr sz="1100" b="0">
                <a:solidFill>
                  <a:srgbClr val="8c889a"/>
                </a:solidFill>
                <a:latin typeface="Pretendard Medium"/>
                <a:ea typeface="Pretendard Medium"/>
                <a:cs typeface="Pretendard Medium"/>
              </a:rPr>
              <a:t>   모델링</a:t>
            </a:r>
            <a:endParaRPr sz="1100" b="0">
              <a:solidFill>
                <a:srgbClr val="8c889a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/>
            </a:pPr>
            <a:r>
              <a:rPr sz="2400" b="1">
                <a:solidFill>
                  <a:srgbClr val="1c1a22"/>
                </a:solidFill>
                <a:latin typeface="Pretendard"/>
                <a:ea typeface="Pretendard"/>
                <a:cs typeface="Pretendard"/>
              </a:rPr>
              <a:t>40개 대신 </a:t>
            </a:r>
            <a:r>
              <a:rPr sz="2400" b="1">
                <a:solidFill>
                  <a:srgbClr val="6e4fcb"/>
                </a:solidFill>
                <a:latin typeface="Pretendard"/>
                <a:ea typeface="Pretendard"/>
                <a:cs typeface="Pretendard"/>
              </a:rPr>
              <a:t>33개 피처</a:t>
            </a:r>
            <a:r>
              <a:rPr sz="2400" b="1">
                <a:solidFill>
                  <a:srgbClr val="1c1a22"/>
                </a:solidFill>
                <a:latin typeface="Pretendard"/>
                <a:ea typeface="Pretendard"/>
                <a:cs typeface="Pretendard"/>
              </a:rPr>
              <a:t> — 성능은 그대로, 더 단순하게</a:t>
            </a:r>
            <a:endParaRPr sz="2400" b="1">
              <a:solidFill>
                <a:srgbClr val="1c1a22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2743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900" b="0">
                <a:solidFill>
                  <a:srgbClr val="8c889a"/>
                </a:solidFill>
                <a:latin typeface="Pretendard SemiBold"/>
                <a:ea typeface="Pretendard SemiBold"/>
                <a:cs typeface="Pretendard SemiBold"/>
              </a:rPr>
              <a:t>KKeeper</a:t>
            </a:r>
            <a:endParaRPr sz="900" b="0">
              <a:solidFill>
                <a:srgbClr val="8c889a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25912" y="6400800"/>
            <a:ext cx="914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defRPr/>
            </a:pPr>
            <a:r>
              <a:rPr sz="900" b="0">
                <a:solidFill>
                  <a:srgbClr val="8c889a"/>
                </a:solidFill>
                <a:latin typeface="Pretendard Medium"/>
                <a:ea typeface="Pretendard Medium"/>
                <a:cs typeface="Pretendard Medium"/>
              </a:rPr>
              <a:t>16</a:t>
            </a:r>
            <a:endParaRPr sz="900" b="0">
              <a:solidFill>
                <a:srgbClr val="8c889a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7223760" cy="4206240"/>
          </a:xfrm>
          <a:prstGeom prst="roundRect">
            <a:avLst>
              <a:gd name="adj" fmla="val 3043"/>
            </a:avLst>
          </a:prstGeom>
          <a:solidFill>
            <a:srgbClr val="ffffff"/>
          </a:solidFill>
          <a:ln w="9525">
            <a:solidFill>
              <a:srgbClr val="e6e2ee"/>
            </a:solidFill>
          </a:ln>
          <a:effectLst/>
        </p:spPr>
        <p:txBody>
          <a:bodyPr lIns="0" tIns="0" rIns="0" bIns="0"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868680" y="205740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200" b="0">
                <a:solidFill>
                  <a:srgbClr val="1c1a22"/>
                </a:solidFill>
                <a:latin typeface="Pretendard SemiBold"/>
                <a:ea typeface="Pretendard SemiBold"/>
                <a:cs typeface="Pretendard SemiBold"/>
              </a:rPr>
              <a:t>피처 수별 5-fold CV ROC-AUC</a:t>
            </a:r>
            <a:endParaRPr sz="1200" b="0">
              <a:solidFill>
                <a:srgbClr val="1c1a2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822960" y="2423160"/>
          <a:ext cx="6675120" cy="3474720"/>
        </p:xfrm>
        <a:graphic>
          <a:graphicData uri="http://schemas.openxmlformats.org/drawingml/2006/chart">
            <c:chart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046720" y="1828800"/>
            <a:ext cx="3593592" cy="4206240"/>
          </a:xfrm>
          <a:prstGeom prst="roundRect">
            <a:avLst>
              <a:gd name="adj" fmla="val 4071"/>
            </a:avLst>
          </a:prstGeom>
          <a:solidFill>
            <a:srgbClr val="f3eefd"/>
          </a:solidFill>
          <a:ln>
            <a:noFill/>
          </a:ln>
          <a:effectLst/>
        </p:spPr>
        <p:txBody>
          <a:bodyPr lIns="0" tIns="0" rIns="0" bIns="0"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8366760" y="2148840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/>
            </a:pPr>
            <a:r>
              <a:rPr sz="1200" b="0">
                <a:solidFill>
                  <a:srgbClr val="3e3b47"/>
                </a:solidFill>
                <a:latin typeface="Pretendard Medium"/>
                <a:ea typeface="Pretendard Medium"/>
                <a:cs typeface="Pretendard Medium"/>
              </a:rPr>
              <a:t>전체 40개</a:t>
            </a:r>
            <a:endParaRPr sz="1200" b="0">
              <a:solidFill>
                <a:srgbClr val="3e3b47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875520" y="214884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defRPr/>
            </a:pPr>
            <a:r>
              <a:rPr sz="2000" b="1">
                <a:solidFill>
                  <a:srgbClr val="1c1a22"/>
                </a:solidFill>
                <a:latin typeface="Pretendard"/>
                <a:ea typeface="Pretendard"/>
                <a:cs typeface="Pretendard"/>
              </a:rPr>
              <a:t>0.8701</a:t>
            </a:r>
            <a:endParaRPr sz="2000" b="1">
              <a:solidFill>
                <a:srgbClr val="1c1a22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366760" y="3108960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/>
            </a:pPr>
            <a:r>
              <a:rPr sz="1200" b="0">
                <a:solidFill>
                  <a:srgbClr val="3e3b47"/>
                </a:solidFill>
                <a:latin typeface="Pretendard Medium"/>
                <a:ea typeface="Pretendard Medium"/>
                <a:cs typeface="Pretendard Medium"/>
              </a:rPr>
              <a:t>최종 33개</a:t>
            </a:r>
            <a:endParaRPr sz="1200" b="0">
              <a:solidFill>
                <a:srgbClr val="3e3b47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875520" y="310896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defRPr/>
            </a:pPr>
            <a:r>
              <a:rPr sz="2000" b="1">
                <a:solidFill>
                  <a:srgbClr val="6e4fcb"/>
                </a:solidFill>
                <a:latin typeface="Pretendard"/>
                <a:ea typeface="Pretendard"/>
                <a:cs typeface="Pretendard"/>
              </a:rPr>
              <a:t>0.8690</a:t>
            </a:r>
            <a:endParaRPr sz="2000" b="1">
              <a:solidFill>
                <a:srgbClr val="6e4fcb"/>
              </a:solidFill>
              <a:latin typeface="Pretendard"/>
              <a:ea typeface="Pretendard"/>
              <a:cs typeface="Pretendard"/>
            </a:endParaRPr>
          </a:p>
        </p:txBody>
      </p:sp>
      <p:cxnSp>
        <p:nvCxnSpPr>
          <p:cNvPr id="14" name="Connector 13"/>
          <p:cNvCxnSpPr/>
          <p:nvPr/>
        </p:nvCxnSpPr>
        <p:spPr>
          <a:xfrm>
            <a:off x="8366760" y="3977639"/>
            <a:ext cx="2971800" cy="0"/>
          </a:xfrm>
          <a:prstGeom prst="line">
            <a:avLst/>
          </a:prstGeom>
          <a:ln w="9525">
            <a:solidFill>
              <a:srgbClr val="e2d8fa"/>
            </a:solidFill>
          </a:ln>
        </p:spPr>
      </p:cxnSp>
      <p:sp>
        <p:nvSpPr>
          <p:cNvPr id="15" name="TextBox 14"/>
          <p:cNvSpPr txBox="1"/>
          <p:nvPr/>
        </p:nvSpPr>
        <p:spPr>
          <a:xfrm>
            <a:off x="8366760" y="416052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700" b="1">
                <a:solidFill>
                  <a:srgbClr val="4f35a8"/>
                </a:solidFill>
                <a:latin typeface="Pretendard"/>
                <a:ea typeface="Pretendard"/>
                <a:cs typeface="Pretendard"/>
              </a:rPr>
              <a:t>차이 0.0011</a:t>
            </a:r>
            <a:endParaRPr sz="1700" b="1">
              <a:solidFill>
                <a:srgbClr val="4f35a8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366760" y="4617720"/>
            <a:ext cx="3017520" cy="5734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65000"/>
              </a:lnSpc>
              <a:defRPr/>
            </a:pPr>
            <a:r>
              <a:rPr sz="1150" b="0">
                <a:solidFill>
                  <a:srgbClr val="3e3b47"/>
                </a:solidFill>
                <a:latin typeface="Pretendard Medium"/>
                <a:ea typeface="Pretendard Medium"/>
                <a:cs typeface="Pretendard Medium"/>
              </a:rPr>
              <a:t>CV 표준편차보다 작은 차이. 중복 · 파생 변수를 줄여 해석성과 유지보수성을 우선했습니다.</a:t>
            </a:r>
            <a:endParaRPr sz="1150" b="0">
              <a:solidFill>
                <a:srgbClr val="3e3b47"/>
              </a:solidFill>
              <a:latin typeface="Pretendard Medium"/>
              <a:ea typeface="Pretendard Medium"/>
              <a:cs typeface="Pretendard Medium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a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5720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100" b="1">
                <a:solidFill>
                  <a:srgbClr val="6e4fcb"/>
                </a:solidFill>
                <a:latin typeface="Pretendard"/>
                <a:ea typeface="Pretendard"/>
                <a:cs typeface="Pretendard"/>
              </a:rPr>
              <a:t>06</a:t>
            </a:r>
            <a:r>
              <a:rPr sz="1100" b="0">
                <a:solidFill>
                  <a:srgbClr val="8c889a"/>
                </a:solidFill>
                <a:latin typeface="Pretendard Medium"/>
                <a:ea typeface="Pretendard Medium"/>
                <a:cs typeface="Pretendard Medium"/>
              </a:rPr>
              <a:t>   모델링</a:t>
            </a:r>
            <a:endParaRPr sz="1100" b="0">
              <a:solidFill>
                <a:srgbClr val="8c889a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/>
            </a:pPr>
            <a:r>
              <a:rPr sz="2400" b="1">
                <a:solidFill>
                  <a:srgbClr val="1c1a22"/>
                </a:solidFill>
                <a:latin typeface="Pretendard"/>
                <a:ea typeface="Pretendard"/>
                <a:cs typeface="Pretendard"/>
              </a:rPr>
              <a:t>Baseline — </a:t>
            </a:r>
            <a:r>
              <a:rPr sz="2400" b="1">
                <a:solidFill>
                  <a:srgbClr val="6e4fcb"/>
                </a:solidFill>
                <a:latin typeface="Pretendard"/>
                <a:ea typeface="Pretendard"/>
                <a:cs typeface="Pretendard"/>
              </a:rPr>
              <a:t>CatBoost와 LightGBM</a:t>
            </a:r>
            <a:r>
              <a:rPr sz="2400" b="1">
                <a:solidFill>
                  <a:srgbClr val="1c1a22"/>
                </a:solidFill>
                <a:latin typeface="Pretendard"/>
                <a:ea typeface="Pretendard"/>
                <a:cs typeface="Pretendard"/>
              </a:rPr>
              <a:t> 근소 우위</a:t>
            </a:r>
            <a:endParaRPr sz="2400" b="1">
              <a:solidFill>
                <a:srgbClr val="1c1a22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300" b="0">
                <a:solidFill>
                  <a:srgbClr val="5f5b6b"/>
                </a:solidFill>
                <a:latin typeface="Pretendard Medium"/>
                <a:ea typeface="Pretendard Medium"/>
                <a:cs typeface="Pretendard Medium"/>
              </a:rPr>
              <a:t>동일 조건(33개 피처)에서 5-fold CV ROC-AUC 비교</a:t>
            </a:r>
            <a:endParaRPr sz="1300" b="0">
              <a:solidFill>
                <a:srgbClr val="5f5b6b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2743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900" b="0">
                <a:solidFill>
                  <a:srgbClr val="8c889a"/>
                </a:solidFill>
                <a:latin typeface="Pretendard SemiBold"/>
                <a:ea typeface="Pretendard SemiBold"/>
                <a:cs typeface="Pretendard SemiBold"/>
              </a:rPr>
              <a:t>KKeeper</a:t>
            </a:r>
            <a:endParaRPr sz="900" b="0">
              <a:solidFill>
                <a:srgbClr val="8c889a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725912" y="6400800"/>
            <a:ext cx="914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defRPr/>
            </a:pPr>
            <a:r>
              <a:rPr sz="900" b="0">
                <a:solidFill>
                  <a:srgbClr val="8c889a"/>
                </a:solidFill>
                <a:latin typeface="Pretendard Medium"/>
                <a:ea typeface="Pretendard Medium"/>
                <a:cs typeface="Pretendard Medium"/>
              </a:rPr>
              <a:t>17</a:t>
            </a:r>
            <a:endParaRPr sz="900" b="0">
              <a:solidFill>
                <a:srgbClr val="8c889a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7223760" cy="4206240"/>
          </a:xfrm>
          <a:prstGeom prst="roundRect">
            <a:avLst>
              <a:gd name="adj" fmla="val 3043"/>
            </a:avLst>
          </a:prstGeom>
          <a:solidFill>
            <a:srgbClr val="ffffff"/>
          </a:solidFill>
          <a:ln w="9525">
            <a:solidFill>
              <a:srgbClr val="e6e2ee"/>
            </a:solidFill>
          </a:ln>
          <a:effectLst/>
        </p:spPr>
        <p:txBody>
          <a:bodyPr lIns="0" tIns="0" rIns="0" bIns="0" anchor="ctr"/>
          <a:lstStyle/>
          <a:p>
            <a:pPr algn="ctr">
              <a:defRPr/>
            </a:pPr>
            <a:endParaRPr lang="ko-KR" altLang="en-US"/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822960" y="2103120"/>
          <a:ext cx="6675120" cy="3794760"/>
        </p:xfrm>
        <a:graphic>
          <a:graphicData uri="http://schemas.openxmlformats.org/drawingml/2006/chart">
            <c:chart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046720" y="1828800"/>
            <a:ext cx="3593592" cy="4206240"/>
          </a:xfrm>
          <a:prstGeom prst="roundRect">
            <a:avLst>
              <a:gd name="adj" fmla="val 4071"/>
            </a:avLst>
          </a:prstGeom>
          <a:solidFill>
            <a:srgbClr val="f3eefd"/>
          </a:solidFill>
          <a:ln>
            <a:noFill/>
          </a:ln>
          <a:effectLst/>
        </p:spPr>
        <p:txBody>
          <a:bodyPr lIns="0" tIns="0" rIns="0" bIns="0"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8366760" y="2148840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200" b="0">
                <a:solidFill>
                  <a:srgbClr val="6e4fcb"/>
                </a:solidFill>
                <a:latin typeface="Pretendard SemiBold"/>
                <a:ea typeface="Pretendard SemiBold"/>
                <a:cs typeface="Pretendard SemiBold"/>
              </a:rPr>
              <a:t>결과</a:t>
            </a:r>
            <a:endParaRPr sz="1200" b="0">
              <a:solidFill>
                <a:srgbClr val="6e4fcb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366760" y="2514600"/>
            <a:ext cx="30175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defRPr/>
            </a:pPr>
            <a:r>
              <a:rPr sz="1700" b="1">
                <a:solidFill>
                  <a:srgbClr val="1c1a22"/>
                </a:solidFill>
                <a:latin typeface="Pretendard"/>
                <a:ea typeface="Pretendard"/>
                <a:cs typeface="Pretendard"/>
              </a:rPr>
              <a:t>상위 두 모델의 차이 0.0013</a:t>
            </a:r>
            <a:endParaRPr sz="1700" b="1">
              <a:solidFill>
                <a:srgbClr val="1c1a22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366760" y="3383280"/>
            <a:ext cx="3017520" cy="5981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65000"/>
              </a:lnSpc>
              <a:defRPr/>
            </a:pPr>
            <a:r>
              <a:rPr sz="1200" b="0">
                <a:solidFill>
                  <a:srgbClr val="3e3b47"/>
                </a:solidFill>
                <a:latin typeface="Pretendard Medium"/>
                <a:ea typeface="Pretendard Medium"/>
                <a:cs typeface="Pretendard Medium"/>
              </a:rPr>
              <a:t>우열이 크지 않아 CatBoost와 LightGBM을 모두 튜닝 대상으로 선정했습니다.</a:t>
            </a:r>
            <a:endParaRPr sz="1200" b="0">
              <a:solidFill>
                <a:srgbClr val="3e3b47"/>
              </a:solidFill>
              <a:latin typeface="Pretendard Medium"/>
              <a:ea typeface="Pretendard Medium"/>
              <a:cs typeface="Pretendard Medium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E4FCB"/>
                </a:solidFill>
                <a:latin typeface="Pretendard"/>
                <a:ea typeface="Pretendard"/>
                <a:cs typeface="Pretendard"/>
              </a:rPr>
              <a:t>06</a:t>
            </a:r>
            <a:r>
              <a:rPr sz="1100" b="0">
                <a:solidFill>
                  <a:srgbClr val="8C889A"/>
                </a:solidFill>
                <a:latin typeface="Pretendard Medium"/>
                <a:ea typeface="Pretendard Medium"/>
                <a:cs typeface="Pretendard Medium"/>
              </a:rPr>
              <a:t>   모델링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1C1A22"/>
                </a:solidFill>
                <a:latin typeface="Pretendard"/>
                <a:ea typeface="Pretendard"/>
                <a:cs typeface="Pretendard"/>
              </a:rPr>
              <a:t>튜닝 후 </a:t>
            </a:r>
            <a:r>
              <a:rPr sz="2400" b="1">
                <a:solidFill>
                  <a:srgbClr val="6E4FCB"/>
                </a:solidFill>
                <a:latin typeface="Pretendard"/>
                <a:ea typeface="Pretendard"/>
                <a:cs typeface="Pretendard"/>
              </a:rPr>
              <a:t>LightGBM</a:t>
            </a:r>
            <a:r>
              <a:rPr sz="2400" b="1">
                <a:solidFill>
                  <a:srgbClr val="1C1A22"/>
                </a:solidFill>
                <a:latin typeface="Pretendard"/>
                <a:ea typeface="Pretendard"/>
                <a:cs typeface="Pretendard"/>
              </a:rPr>
              <a:t> 선택, </a:t>
            </a:r>
            <a:r>
              <a:rPr sz="2400" b="1">
                <a:solidFill>
                  <a:srgbClr val="6E4FCB"/>
                </a:solidFill>
                <a:latin typeface="Pretendard"/>
                <a:ea typeface="Pretendard"/>
                <a:cs typeface="Pretendard"/>
              </a:rPr>
              <a:t>threshold</a:t>
            </a:r>
            <a:r>
              <a:rPr sz="2400" b="1">
                <a:solidFill>
                  <a:srgbClr val="1C1A22"/>
                </a:solidFill>
                <a:latin typeface="Pretendard"/>
                <a:ea typeface="Pretendard"/>
                <a:cs typeface="Pretendard"/>
              </a:rPr>
              <a:t> 조정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C889A"/>
                </a:solidFill>
                <a:latin typeface="Pretendard SemiBold"/>
                <a:ea typeface="Pretendard SemiBold"/>
                <a:cs typeface="Pretendard SemiBold"/>
              </a:rPr>
              <a:t>KKeeper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5912" y="640080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C889A"/>
                </a:solidFill>
                <a:latin typeface="Pretendard Medium"/>
                <a:ea typeface="Pretendard Medium"/>
                <a:cs typeface="Pretendard Medium"/>
              </a:rPr>
              <a:t>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4846320" cy="4206240"/>
          </a:xfrm>
          <a:prstGeom prst="roundRect">
            <a:avLst>
              <a:gd name="adj" fmla="val 3043"/>
            </a:avLst>
          </a:prstGeom>
          <a:solidFill>
            <a:srgbClr val="FFFFFF"/>
          </a:solidFill>
          <a:ln w="9525">
            <a:solidFill>
              <a:srgbClr val="E6E2EE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103120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6E4FCB"/>
                </a:solidFill>
                <a:latin typeface="Pretendard"/>
                <a:ea typeface="Pretendard"/>
                <a:cs typeface="Pretendard"/>
              </a:rPr>
              <a:t>① </a:t>
            </a:r>
            <a:r>
              <a:rPr sz="1300" b="0">
                <a:solidFill>
                  <a:srgbClr val="1C1A22"/>
                </a:solidFill>
                <a:latin typeface="Pretendard SemiBold"/>
                <a:ea typeface="Pretendard SemiBold"/>
                <a:cs typeface="Pretendard SemiBold"/>
              </a:rPr>
              <a:t>하이퍼파라미터 튜닝 (Optuna)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651760"/>
            <a:ext cx="4206240" cy="960120"/>
          </a:xfrm>
          <a:prstGeom prst="roundRect">
            <a:avLst>
              <a:gd name="adj" fmla="val 11428"/>
            </a:avLst>
          </a:prstGeom>
          <a:solidFill>
            <a:srgbClr val="FAF9FC"/>
          </a:solidFill>
          <a:ln w="9525">
            <a:solidFill>
              <a:srgbClr val="E9E6E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651760"/>
            <a:ext cx="164592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3E3B47"/>
                </a:solidFill>
                <a:latin typeface="Pretendard SemiBold"/>
                <a:ea typeface="Pretendard SemiBold"/>
                <a:cs typeface="Pretendard SemiBold"/>
              </a:rPr>
              <a:t>CatBoost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2651760"/>
            <a:ext cx="146304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2400" b="1">
                <a:solidFill>
                  <a:srgbClr val="1C1A22"/>
                </a:solidFill>
                <a:latin typeface="Pretendard"/>
                <a:ea typeface="Pretendard"/>
                <a:cs typeface="Pretendard"/>
              </a:rPr>
              <a:t>0.8701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651760"/>
            <a:ext cx="82296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0">
                <a:solidFill>
                  <a:srgbClr val="8C889A"/>
                </a:solidFill>
                <a:latin typeface="Pretendard Medium"/>
                <a:ea typeface="Pretendard Medium"/>
                <a:cs typeface="Pretendard Medium"/>
              </a:rPr>
              <a:t>+0.0011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3794760"/>
            <a:ext cx="4206240" cy="960120"/>
          </a:xfrm>
          <a:prstGeom prst="roundRect">
            <a:avLst>
              <a:gd name="adj" fmla="val 11428"/>
            </a:avLst>
          </a:prstGeom>
          <a:solidFill>
            <a:srgbClr val="EFE9FC"/>
          </a:solidFill>
          <a:ln w="9525">
            <a:solidFill>
              <a:srgbClr val="B9A6EE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3794760"/>
            <a:ext cx="164592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4F35A8"/>
                </a:solidFill>
                <a:latin typeface="Pretendard SemiBold"/>
                <a:ea typeface="Pretendard SemiBold"/>
                <a:cs typeface="Pretendard SemiBold"/>
              </a:rPr>
              <a:t>LightGBM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3794760"/>
            <a:ext cx="146304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2400" b="1">
                <a:solidFill>
                  <a:srgbClr val="6E4FCB"/>
                </a:solidFill>
                <a:latin typeface="Pretendard"/>
                <a:ea typeface="Pretendard"/>
                <a:cs typeface="Pretendard"/>
              </a:rPr>
              <a:t>0.8708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3794760"/>
            <a:ext cx="82296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0">
                <a:solidFill>
                  <a:srgbClr val="8C889A"/>
                </a:solidFill>
                <a:latin typeface="Pretendard Medium"/>
                <a:ea typeface="Pretendard Medium"/>
                <a:cs typeface="Pretendard Medium"/>
              </a:rPr>
              <a:t>+0.0016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166360"/>
            <a:ext cx="42062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5F5B6B"/>
                </a:solidFill>
                <a:latin typeface="Pretendard Medium"/>
                <a:ea typeface="Pretendard Medium"/>
                <a:cs typeface="Pretendard Medium"/>
              </a:rPr>
              <a:t>최종 선택  </a:t>
            </a:r>
            <a:r>
              <a:rPr sz="1500" b="1">
                <a:solidFill>
                  <a:srgbClr val="6E4FCB"/>
                </a:solidFill>
                <a:latin typeface="Pretendard"/>
                <a:ea typeface="Pretendard"/>
                <a:cs typeface="Pretendard"/>
              </a:rPr>
              <a:t>LightGBM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23560" y="1828800"/>
            <a:ext cx="6016752" cy="4206240"/>
          </a:xfrm>
          <a:prstGeom prst="roundRect">
            <a:avLst>
              <a:gd name="adj" fmla="val 3043"/>
            </a:avLst>
          </a:prstGeom>
          <a:solidFill>
            <a:srgbClr val="FFFFFF"/>
          </a:solidFill>
          <a:ln w="9525">
            <a:solidFill>
              <a:srgbClr val="E6E2EE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0" y="21031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6E4FCB"/>
                </a:solidFill>
                <a:latin typeface="Pretendard"/>
                <a:ea typeface="Pretendard"/>
                <a:cs typeface="Pretendard"/>
              </a:rPr>
              <a:t>② </a:t>
            </a:r>
            <a:r>
              <a:rPr sz="1300" b="0">
                <a:solidFill>
                  <a:srgbClr val="1C1A22"/>
                </a:solidFill>
                <a:latin typeface="Pretendard SemiBold"/>
                <a:ea typeface="Pretendard SemiBold"/>
                <a:cs typeface="Pretendard SemiBold"/>
              </a:rPr>
              <a:t>임계값 조정 (Threshold Optimization)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0" y="2606040"/>
            <a:ext cx="1993392" cy="2011680"/>
          </a:xfrm>
          <a:prstGeom prst="roundRect">
            <a:avLst>
              <a:gd name="adj" fmla="val 4587"/>
            </a:avLst>
          </a:prstGeom>
          <a:solidFill>
            <a:srgbClr val="EFE9FC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0" y="265176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8C889A"/>
                </a:solidFill>
                <a:latin typeface="Pretendard SemiBold"/>
                <a:ea typeface="Pretendard SemiBold"/>
                <a:cs typeface="Pretendard SemiBold"/>
              </a:rPr>
              <a:t>지표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26517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8C889A"/>
                </a:solidFill>
                <a:latin typeface="Pretendard SemiBold"/>
                <a:ea typeface="Pretendard SemiBold"/>
                <a:cs typeface="Pretendard SemiBold"/>
              </a:rPr>
              <a:t>기본 0.500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2651760"/>
            <a:ext cx="199339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6E4FCB"/>
                </a:solidFill>
                <a:latin typeface="Pretendard SemiBold"/>
                <a:ea typeface="Pretendard SemiBold"/>
                <a:cs typeface="Pretendard SemiBold"/>
              </a:rPr>
              <a:t>최적 0.282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943600" y="3063240"/>
            <a:ext cx="5193792" cy="0"/>
          </a:xfrm>
          <a:prstGeom prst="line">
            <a:avLst/>
          </a:prstGeom>
          <a:ln w="9525">
            <a:solidFill>
              <a:srgbClr val="E9E6EF"/>
            </a:solidFill>
          </a:ln>
        </p:spPr>
      </p:cxnSp>
      <p:sp>
        <p:nvSpPr>
          <p:cNvPr id="24" name="TextBox 23"/>
          <p:cNvSpPr txBox="1"/>
          <p:nvPr/>
        </p:nvSpPr>
        <p:spPr>
          <a:xfrm>
            <a:off x="5943600" y="3063240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1C1A22"/>
                </a:solidFill>
                <a:latin typeface="Pretendard SemiBold"/>
                <a:ea typeface="Pretendard SemiBold"/>
                <a:cs typeface="Pretendard SemiBold"/>
              </a:rPr>
              <a:t>Precision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3063240"/>
            <a:ext cx="1828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3E3B47"/>
                </a:solidFill>
                <a:latin typeface="Pretendard Medium"/>
                <a:ea typeface="Pretendard Medium"/>
                <a:cs typeface="Pretendard Medium"/>
              </a:rPr>
              <a:t>0.7895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3063240"/>
            <a:ext cx="199339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4F35A8"/>
                </a:solidFill>
                <a:latin typeface="Pretendard"/>
                <a:ea typeface="Pretendard"/>
                <a:cs typeface="Pretendard"/>
              </a:rPr>
              <a:t>0.6328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943600" y="3566160"/>
            <a:ext cx="5193792" cy="0"/>
          </a:xfrm>
          <a:prstGeom prst="line">
            <a:avLst/>
          </a:prstGeom>
          <a:ln w="9525">
            <a:solidFill>
              <a:srgbClr val="E9E6EF"/>
            </a:solidFill>
          </a:ln>
        </p:spPr>
      </p:cxnSp>
      <p:sp>
        <p:nvSpPr>
          <p:cNvPr id="28" name="TextBox 27"/>
          <p:cNvSpPr txBox="1"/>
          <p:nvPr/>
        </p:nvSpPr>
        <p:spPr>
          <a:xfrm>
            <a:off x="5943600" y="3566160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1C1A22"/>
                </a:solidFill>
                <a:latin typeface="Pretendard SemiBold"/>
                <a:ea typeface="Pretendard SemiBold"/>
                <a:cs typeface="Pretendard SemiBold"/>
              </a:rPr>
              <a:t>Recall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0" y="3566160"/>
            <a:ext cx="1828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3E3B47"/>
                </a:solidFill>
                <a:latin typeface="Pretendard Medium"/>
                <a:ea typeface="Pretendard Medium"/>
                <a:cs typeface="Pretendard Medium"/>
              </a:rPr>
              <a:t>0.4106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3566160"/>
            <a:ext cx="199339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4F35A8"/>
                </a:solidFill>
                <a:latin typeface="Pretendard"/>
                <a:ea typeface="Pretendard"/>
                <a:cs typeface="Pretendard"/>
              </a:rPr>
              <a:t>0.5363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943600" y="4069080"/>
            <a:ext cx="5193792" cy="0"/>
          </a:xfrm>
          <a:prstGeom prst="line">
            <a:avLst/>
          </a:prstGeom>
          <a:ln w="9525">
            <a:solidFill>
              <a:srgbClr val="E9E6EF"/>
            </a:solidFill>
          </a:ln>
        </p:spPr>
      </p:cxnSp>
      <p:sp>
        <p:nvSpPr>
          <p:cNvPr id="32" name="TextBox 31"/>
          <p:cNvSpPr txBox="1"/>
          <p:nvPr/>
        </p:nvSpPr>
        <p:spPr>
          <a:xfrm>
            <a:off x="5943600" y="4069080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1C1A22"/>
                </a:solidFill>
                <a:latin typeface="Pretendard SemiBold"/>
                <a:ea typeface="Pretendard SemiBold"/>
                <a:cs typeface="Pretendard SemiBold"/>
              </a:rPr>
              <a:t>F1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0" y="4069080"/>
            <a:ext cx="1828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3E3B47"/>
                </a:solidFill>
                <a:latin typeface="Pretendard Medium"/>
                <a:ea typeface="Pretendard Medium"/>
                <a:cs typeface="Pretendard Medium"/>
              </a:rPr>
              <a:t>0.5402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4069080"/>
            <a:ext cx="199339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4F35A8"/>
                </a:solidFill>
                <a:latin typeface="Pretendard"/>
                <a:ea typeface="Pretendard"/>
                <a:cs typeface="Pretendard"/>
              </a:rPr>
              <a:t>0.5806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0" y="48920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C1A22"/>
                </a:solidFill>
                <a:latin typeface="Pretendard SemiBold"/>
                <a:ea typeface="Pretendard SemiBold"/>
                <a:cs typeface="Pretendard SemiBold"/>
              </a:rPr>
              <a:t>Recall </a:t>
            </a:r>
            <a:r>
              <a:rPr sz="1600" b="1">
                <a:solidFill>
                  <a:srgbClr val="6E4FCB"/>
                </a:solidFill>
                <a:latin typeface="Pretendard"/>
                <a:ea typeface="Pretendard"/>
                <a:cs typeface="Pretendard"/>
              </a:rPr>
              <a:t>+0.126</a:t>
            </a:r>
            <a:r>
              <a:rPr sz="1400" b="0">
                <a:solidFill>
                  <a:srgbClr val="1C1A22"/>
                </a:solidFill>
                <a:latin typeface="Pretendard SemiBold"/>
                <a:ea typeface="Pretendard SemiBold"/>
                <a:cs typeface="Pretendard SemiBold"/>
              </a:rPr>
              <a:t>     F1 </a:t>
            </a:r>
            <a:r>
              <a:rPr sz="1600" b="1">
                <a:solidFill>
                  <a:srgbClr val="6E4FCB"/>
                </a:solidFill>
                <a:latin typeface="Pretendard"/>
                <a:ea typeface="Pretendard"/>
                <a:cs typeface="Pretendard"/>
              </a:rPr>
              <a:t>+0.040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0" y="5349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5F5B6B"/>
                </a:solidFill>
                <a:latin typeface="Pretendard Medium"/>
                <a:ea typeface="Pretendard Medium"/>
                <a:cs typeface="Pretendard Medium"/>
              </a:rPr>
              <a:t>오탐을 일부 허용하고 실제 이탈자를 더 많이 찾아냅니다.</a:t>
            </a:r>
          </a:p>
        </p:txBody>
      </p:sp>
    </p:spTree>
  </p:cSld>
  <p:clrMapOvr>
    <a:masterClrMapping/>
  </p:clrMapOvr>
</p:sld>
</file>

<file path=ppt/slides/slide1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a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5720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100" b="1">
                <a:solidFill>
                  <a:srgbClr val="6e4fcb"/>
                </a:solidFill>
                <a:latin typeface="Pretendard"/>
                <a:ea typeface="Pretendard"/>
                <a:cs typeface="Pretendard"/>
              </a:rPr>
              <a:t>06</a:t>
            </a:r>
            <a:r>
              <a:rPr sz="1100" b="0">
                <a:solidFill>
                  <a:srgbClr val="8c889a"/>
                </a:solidFill>
                <a:latin typeface="Pretendard Medium"/>
                <a:ea typeface="Pretendard Medium"/>
                <a:cs typeface="Pretendard Medium"/>
              </a:rPr>
              <a:t>   모델링</a:t>
            </a:r>
            <a:endParaRPr sz="1100" b="0">
              <a:solidFill>
                <a:srgbClr val="8c889a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/>
            </a:pPr>
            <a:r>
              <a:rPr sz="2400" b="1">
                <a:solidFill>
                  <a:srgbClr val="1c1a22"/>
                </a:solidFill>
                <a:latin typeface="Pretendard"/>
                <a:ea typeface="Pretendard"/>
                <a:cs typeface="Pretendard"/>
              </a:rPr>
              <a:t>딥러닝(MLP) 비교</a:t>
            </a:r>
            <a:endParaRPr sz="2400" b="1">
              <a:solidFill>
                <a:srgbClr val="1c1a22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300" b="0">
                <a:solidFill>
                  <a:srgbClr val="5f5b6b"/>
                </a:solidFill>
                <a:latin typeface="Pretendard Medium"/>
                <a:ea typeface="Pretendard Medium"/>
                <a:cs typeface="Pretendard Medium"/>
              </a:rPr>
              <a:t>같은 지표 조건에서 정규화 · 드롭아웃 · 조기 종료 적용 여부별 성능</a:t>
            </a:r>
            <a:endParaRPr sz="1300" b="0">
              <a:solidFill>
                <a:srgbClr val="5f5b6b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2743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900" b="0">
                <a:solidFill>
                  <a:srgbClr val="8c889a"/>
                </a:solidFill>
                <a:latin typeface="Pretendard SemiBold"/>
                <a:ea typeface="Pretendard SemiBold"/>
                <a:cs typeface="Pretendard SemiBold"/>
              </a:rPr>
              <a:t>KKeeper</a:t>
            </a:r>
            <a:endParaRPr sz="900" b="0">
              <a:solidFill>
                <a:srgbClr val="8c889a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725912" y="6400800"/>
            <a:ext cx="914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defRPr/>
            </a:pPr>
            <a:r>
              <a:rPr sz="900" b="0">
                <a:solidFill>
                  <a:srgbClr val="8c889a"/>
                </a:solidFill>
                <a:latin typeface="Pretendard Medium"/>
                <a:ea typeface="Pretendard Medium"/>
                <a:cs typeface="Pretendard Medium"/>
              </a:rPr>
              <a:t>19</a:t>
            </a:r>
            <a:endParaRPr sz="900" b="0">
              <a:solidFill>
                <a:srgbClr val="8c889a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11091672" cy="3246120"/>
          </a:xfrm>
          <a:prstGeom prst="roundRect">
            <a:avLst>
              <a:gd name="adj" fmla="val 3943"/>
            </a:avLst>
          </a:prstGeom>
          <a:solidFill>
            <a:srgbClr val="ffffff"/>
          </a:solidFill>
          <a:ln w="9525">
            <a:solidFill>
              <a:srgbClr val="e6e2ee"/>
            </a:solidFill>
          </a:ln>
          <a:effectLst/>
        </p:spPr>
        <p:txBody>
          <a:bodyPr lIns="0" tIns="0" rIns="0" bIns="0"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868680" y="1965960"/>
            <a:ext cx="41605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/>
            </a:pPr>
            <a:r>
              <a:rPr sz="1100" b="0">
                <a:solidFill>
                  <a:srgbClr val="8c889a"/>
                </a:solidFill>
                <a:latin typeface="Pretendard SemiBold"/>
                <a:ea typeface="Pretendard SemiBold"/>
                <a:cs typeface="Pretendard SemiBold"/>
              </a:rPr>
              <a:t>모델</a:t>
            </a:r>
            <a:endParaRPr sz="1100" b="0">
              <a:solidFill>
                <a:srgbClr val="8c889a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29200" y="196596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/>
            </a:pPr>
            <a:r>
              <a:rPr sz="1100" b="0">
                <a:solidFill>
                  <a:srgbClr val="8c889a"/>
                </a:solidFill>
                <a:latin typeface="Pretendard SemiBold"/>
                <a:ea typeface="Pretendard SemiBold"/>
                <a:cs typeface="Pretendard SemiBold"/>
              </a:rPr>
              <a:t>ROC-AUC</a:t>
            </a:r>
            <a:endParaRPr sz="1100" b="0">
              <a:solidFill>
                <a:srgbClr val="8c889a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223760" y="196596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/>
            </a:pPr>
            <a:r>
              <a:rPr sz="1100" b="0">
                <a:solidFill>
                  <a:srgbClr val="8c889a"/>
                </a:solidFill>
                <a:latin typeface="Pretendard SemiBold"/>
                <a:ea typeface="Pretendard SemiBold"/>
                <a:cs typeface="Pretendard SemiBold"/>
              </a:rPr>
              <a:t>Recall</a:t>
            </a:r>
            <a:endParaRPr sz="1100" b="0">
              <a:solidFill>
                <a:srgbClr val="8c889a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418320" y="1965960"/>
            <a:ext cx="222199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/>
            </a:pPr>
            <a:r>
              <a:rPr sz="1100" b="0">
                <a:solidFill>
                  <a:srgbClr val="8c889a"/>
                </a:solidFill>
                <a:latin typeface="Pretendard SemiBold"/>
                <a:ea typeface="Pretendard SemiBold"/>
                <a:cs typeface="Pretendard SemiBold"/>
              </a:rPr>
              <a:t>F1</a:t>
            </a:r>
            <a:endParaRPr sz="1100" b="0">
              <a:solidFill>
                <a:srgbClr val="8c889a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85800" y="2505456"/>
            <a:ext cx="10817352" cy="548640"/>
          </a:xfrm>
          <a:prstGeom prst="roundRect">
            <a:avLst>
              <a:gd name="adj" fmla="val 16666"/>
            </a:avLst>
          </a:prstGeom>
          <a:solidFill>
            <a:srgbClr val="efe9fc"/>
          </a:solidFill>
          <a:ln>
            <a:noFill/>
          </a:ln>
          <a:effectLst/>
        </p:spPr>
        <p:txBody>
          <a:bodyPr lIns="0" tIns="0" rIns="0" bIns="0"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868680" y="2468880"/>
            <a:ext cx="416052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/>
            </a:pPr>
            <a:r>
              <a:rPr sz="1300" b="1">
                <a:solidFill>
                  <a:srgbClr val="4f35a8"/>
                </a:solidFill>
                <a:latin typeface="Pretendard"/>
                <a:ea typeface="Pretendard"/>
                <a:cs typeface="Pretendard"/>
              </a:rPr>
              <a:t>BatchNorm + Dropout MLP</a:t>
            </a:r>
            <a:endParaRPr sz="1300" b="1">
              <a:solidFill>
                <a:srgbClr val="4f35a8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029200" y="2468880"/>
            <a:ext cx="219456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/>
            </a:pPr>
            <a:r>
              <a:rPr sz="1300" b="1">
                <a:solidFill>
                  <a:srgbClr val="4f35a8"/>
                </a:solidFill>
                <a:latin typeface="Pretendard"/>
                <a:ea typeface="Pretendard"/>
                <a:cs typeface="Pretendard"/>
              </a:rPr>
              <a:t>0.8485</a:t>
            </a:r>
            <a:endParaRPr sz="1300" b="1">
              <a:solidFill>
                <a:srgbClr val="4f35a8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223760" y="2468880"/>
            <a:ext cx="219456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/>
            </a:pPr>
            <a:r>
              <a:rPr sz="1300" b="1">
                <a:solidFill>
                  <a:srgbClr val="4f35a8"/>
                </a:solidFill>
                <a:latin typeface="Pretendard"/>
                <a:ea typeface="Pretendard"/>
                <a:cs typeface="Pretendard"/>
              </a:rPr>
              <a:t>0.5536</a:t>
            </a:r>
            <a:endParaRPr sz="1300" b="1">
              <a:solidFill>
                <a:srgbClr val="4f35a8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418320" y="2468880"/>
            <a:ext cx="2221992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/>
            </a:pPr>
            <a:r>
              <a:rPr sz="1300" b="1">
                <a:solidFill>
                  <a:srgbClr val="4f35a8"/>
                </a:solidFill>
                <a:latin typeface="Pretendard"/>
                <a:ea typeface="Pretendard"/>
                <a:cs typeface="Pretendard"/>
              </a:rPr>
              <a:t>0.5637</a:t>
            </a:r>
            <a:endParaRPr sz="1300" b="1">
              <a:solidFill>
                <a:srgbClr val="4f35a8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68680" y="3090672"/>
            <a:ext cx="416052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/>
            </a:pPr>
            <a:r>
              <a:rPr sz="1300" b="0">
                <a:solidFill>
                  <a:srgbClr val="1c1a22"/>
                </a:solidFill>
                <a:latin typeface="Pretendard Medium"/>
                <a:ea typeface="Pretendard Medium"/>
                <a:cs typeface="Pretendard Medium"/>
              </a:rPr>
              <a:t>BatchNorm MLP</a:t>
            </a:r>
            <a:endParaRPr sz="1300" b="0">
              <a:solidFill>
                <a:srgbClr val="1c1a22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029200" y="3090672"/>
            <a:ext cx="219456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/>
            </a:pPr>
            <a:r>
              <a:rPr sz="1300" b="0">
                <a:solidFill>
                  <a:srgbClr val="3e3b47"/>
                </a:solidFill>
                <a:latin typeface="Pretendard Medium"/>
                <a:ea typeface="Pretendard Medium"/>
                <a:cs typeface="Pretendard Medium"/>
              </a:rPr>
              <a:t>0.8458</a:t>
            </a:r>
            <a:endParaRPr sz="1300" b="0">
              <a:solidFill>
                <a:srgbClr val="3e3b47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223760" y="3090672"/>
            <a:ext cx="219456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/>
            </a:pPr>
            <a:r>
              <a:rPr sz="1300" b="0">
                <a:solidFill>
                  <a:srgbClr val="3e3b47"/>
                </a:solidFill>
                <a:latin typeface="Pretendard Medium"/>
                <a:ea typeface="Pretendard Medium"/>
                <a:cs typeface="Pretendard Medium"/>
              </a:rPr>
              <a:t>0.3849</a:t>
            </a:r>
            <a:endParaRPr sz="1300" b="0">
              <a:solidFill>
                <a:srgbClr val="3e3b47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418320" y="3090672"/>
            <a:ext cx="2221992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/>
            </a:pPr>
            <a:r>
              <a:rPr sz="1300" b="0">
                <a:solidFill>
                  <a:srgbClr val="3e3b47"/>
                </a:solidFill>
                <a:latin typeface="Pretendard Medium"/>
                <a:ea typeface="Pretendard Medium"/>
                <a:cs typeface="Pretendard Medium"/>
              </a:rPr>
              <a:t>0.5157</a:t>
            </a:r>
            <a:endParaRPr sz="1300" b="0">
              <a:solidFill>
                <a:srgbClr val="3e3b47"/>
              </a:solidFill>
              <a:latin typeface="Pretendard Medium"/>
              <a:ea typeface="Pretendard Medium"/>
              <a:cs typeface="Pretendard Medium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868680" y="3712464"/>
            <a:ext cx="10451592" cy="0"/>
          </a:xfrm>
          <a:prstGeom prst="line">
            <a:avLst/>
          </a:prstGeom>
          <a:ln w="9525">
            <a:solidFill>
              <a:srgbClr val="e9e6ef"/>
            </a:solidFill>
          </a:ln>
        </p:spPr>
      </p:cxnSp>
      <p:sp>
        <p:nvSpPr>
          <p:cNvPr id="23" name="TextBox 22"/>
          <p:cNvSpPr txBox="1"/>
          <p:nvPr/>
        </p:nvSpPr>
        <p:spPr>
          <a:xfrm>
            <a:off x="868680" y="3712464"/>
            <a:ext cx="416052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/>
            </a:pPr>
            <a:r>
              <a:rPr sz="1300" b="0">
                <a:solidFill>
                  <a:srgbClr val="1c1a22"/>
                </a:solidFill>
                <a:latin typeface="Pretendard Medium"/>
                <a:ea typeface="Pretendard Medium"/>
                <a:cs typeface="Pretendard Medium"/>
              </a:rPr>
              <a:t>Dropout MLP</a:t>
            </a:r>
            <a:endParaRPr sz="1300" b="0">
              <a:solidFill>
                <a:srgbClr val="1c1a22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029200" y="3712464"/>
            <a:ext cx="219456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/>
            </a:pPr>
            <a:r>
              <a:rPr sz="1300" b="0">
                <a:solidFill>
                  <a:srgbClr val="3e3b47"/>
                </a:solidFill>
                <a:latin typeface="Pretendard Medium"/>
                <a:ea typeface="Pretendard Medium"/>
                <a:cs typeface="Pretendard Medium"/>
              </a:rPr>
              <a:t>0.8399</a:t>
            </a:r>
            <a:endParaRPr sz="1300" b="0">
              <a:solidFill>
                <a:srgbClr val="3e3b47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223760" y="3712464"/>
            <a:ext cx="219456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/>
            </a:pPr>
            <a:r>
              <a:rPr sz="1300" b="0">
                <a:solidFill>
                  <a:srgbClr val="3e3b47"/>
                </a:solidFill>
                <a:latin typeface="Pretendard Medium"/>
                <a:ea typeface="Pretendard Medium"/>
                <a:cs typeface="Pretendard Medium"/>
              </a:rPr>
              <a:t>0.3777</a:t>
            </a:r>
            <a:endParaRPr sz="1300" b="0">
              <a:solidFill>
                <a:srgbClr val="3e3b47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418320" y="3712464"/>
            <a:ext cx="2221992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/>
            </a:pPr>
            <a:r>
              <a:rPr sz="1300" b="0">
                <a:solidFill>
                  <a:srgbClr val="3e3b47"/>
                </a:solidFill>
                <a:latin typeface="Pretendard Medium"/>
                <a:ea typeface="Pretendard Medium"/>
                <a:cs typeface="Pretendard Medium"/>
              </a:rPr>
              <a:t>0.5119</a:t>
            </a:r>
            <a:endParaRPr sz="1300" b="0">
              <a:solidFill>
                <a:srgbClr val="3e3b47"/>
              </a:solidFill>
              <a:latin typeface="Pretendard Medium"/>
              <a:ea typeface="Pretendard Medium"/>
              <a:cs typeface="Pretendard Medium"/>
            </a:endParaRPr>
          </a:p>
        </p:txBody>
      </p:sp>
      <p:cxnSp>
        <p:nvCxnSpPr>
          <p:cNvPr id="27" name="Connector 26"/>
          <p:cNvCxnSpPr/>
          <p:nvPr/>
        </p:nvCxnSpPr>
        <p:spPr>
          <a:xfrm>
            <a:off x="868680" y="4334256"/>
            <a:ext cx="10451592" cy="0"/>
          </a:xfrm>
          <a:prstGeom prst="line">
            <a:avLst/>
          </a:prstGeom>
          <a:ln w="9525">
            <a:solidFill>
              <a:srgbClr val="e9e6ef"/>
            </a:solidFill>
          </a:ln>
        </p:spPr>
      </p:cxnSp>
      <p:sp>
        <p:nvSpPr>
          <p:cNvPr id="28" name="TextBox 27"/>
          <p:cNvSpPr txBox="1"/>
          <p:nvPr/>
        </p:nvSpPr>
        <p:spPr>
          <a:xfrm>
            <a:off x="868680" y="4334256"/>
            <a:ext cx="416052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/>
            </a:pPr>
            <a:r>
              <a:rPr sz="1300" b="0">
                <a:solidFill>
                  <a:srgbClr val="1c1a22"/>
                </a:solidFill>
                <a:latin typeface="Pretendard Medium"/>
                <a:ea typeface="Pretendard Medium"/>
                <a:cs typeface="Pretendard Medium"/>
              </a:rPr>
              <a:t>Baseline MLP</a:t>
            </a:r>
            <a:endParaRPr sz="1300" b="0">
              <a:solidFill>
                <a:srgbClr val="1c1a22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029200" y="4334256"/>
            <a:ext cx="219456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/>
            </a:pPr>
            <a:r>
              <a:rPr sz="1300" b="0">
                <a:solidFill>
                  <a:srgbClr val="3e3b47"/>
                </a:solidFill>
                <a:latin typeface="Pretendard Medium"/>
                <a:ea typeface="Pretendard Medium"/>
                <a:cs typeface="Pretendard Medium"/>
              </a:rPr>
              <a:t>0.8338</a:t>
            </a:r>
            <a:endParaRPr sz="1300" b="0">
              <a:solidFill>
                <a:srgbClr val="3e3b47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223760" y="4334256"/>
            <a:ext cx="219456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/>
            </a:pPr>
            <a:r>
              <a:rPr sz="1300" b="0">
                <a:solidFill>
                  <a:srgbClr val="3e3b47"/>
                </a:solidFill>
                <a:latin typeface="Pretendard Medium"/>
                <a:ea typeface="Pretendard Medium"/>
                <a:cs typeface="Pretendard Medium"/>
              </a:rPr>
              <a:t>0.6592</a:t>
            </a:r>
            <a:endParaRPr sz="1300" b="0">
              <a:solidFill>
                <a:srgbClr val="3e3b47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9418320" y="4334256"/>
            <a:ext cx="2221992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/>
            </a:pPr>
            <a:r>
              <a:rPr sz="1300" b="0">
                <a:solidFill>
                  <a:srgbClr val="3e3b47"/>
                </a:solidFill>
                <a:latin typeface="Pretendard Medium"/>
                <a:ea typeface="Pretendard Medium"/>
                <a:cs typeface="Pretendard Medium"/>
              </a:rPr>
              <a:t>0.5087</a:t>
            </a:r>
            <a:endParaRPr sz="1300" b="0">
              <a:solidFill>
                <a:srgbClr val="3e3b47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548640" y="5349240"/>
            <a:ext cx="11091672" cy="502920"/>
          </a:xfrm>
          <a:prstGeom prst="roundRect">
            <a:avLst>
              <a:gd name="adj" fmla="val 21818"/>
            </a:avLst>
          </a:prstGeom>
          <a:solidFill>
            <a:srgbClr val="f3eefd"/>
          </a:solidFill>
          <a:ln>
            <a:noFill/>
          </a:ln>
          <a:effectLst/>
        </p:spPr>
        <p:txBody>
          <a:bodyPr lIns="0" tIns="0" rIns="0" bIns="0"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3" name="TextBox 32"/>
          <p:cNvSpPr txBox="1"/>
          <p:nvPr/>
        </p:nvSpPr>
        <p:spPr>
          <a:xfrm>
            <a:off x="868680" y="5349240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/>
            </a:pPr>
            <a:r>
              <a:rPr sz="1250" b="0">
                <a:solidFill>
                  <a:srgbClr val="6e4fcb"/>
                </a:solidFill>
                <a:latin typeface="Pretendard SemiBold"/>
                <a:ea typeface="Pretendard SemiBold"/>
                <a:cs typeface="Pretendard SemiBold"/>
              </a:rPr>
              <a:t>최종 DL 모델  </a:t>
            </a:r>
            <a:r>
              <a:rPr sz="1250" b="1">
                <a:solidFill>
                  <a:srgbClr val="4f35a8"/>
                </a:solidFill>
                <a:latin typeface="Pretendard"/>
                <a:ea typeface="Pretendard"/>
                <a:cs typeface="Pretendard"/>
              </a:rPr>
              <a:t>BatchNorm + Dropout MLP + EarlyStopping</a:t>
            </a:r>
            <a:r>
              <a:rPr sz="1250" b="0">
                <a:solidFill>
                  <a:srgbClr val="3e3b47"/>
                </a:solidFill>
                <a:latin typeface="Pretendard Medium"/>
                <a:ea typeface="Pretendard Medium"/>
                <a:cs typeface="Pretendard Medium"/>
              </a:rPr>
              <a:t>   ·   ROC-AUC 0.8485로 MLP 중 최고</a:t>
            </a:r>
            <a:endParaRPr sz="1250" b="0">
              <a:solidFill>
                <a:srgbClr val="3e3b47"/>
              </a:solidFill>
              <a:latin typeface="Pretendard Medium"/>
              <a:ea typeface="Pretendard Medium"/>
              <a:cs typeface="Pretendard Medium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0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25146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B59AEC"/>
                </a:solidFill>
                <a:latin typeface="Pretendard"/>
                <a:ea typeface="Pretendard"/>
                <a:cs typeface="Pretendard"/>
              </a:rPr>
              <a:t>06</a:t>
            </a:r>
            <a:r>
              <a:rPr sz="1200" b="0">
                <a:solidFill>
                  <a:srgbClr val="C3BEC9"/>
                </a:solidFill>
                <a:latin typeface="Pretendard Medium"/>
                <a:ea typeface="Pretendard Medium"/>
                <a:cs typeface="Pretendard Medium"/>
              </a:rPr>
              <a:t>   Model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88036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7F5F8"/>
                </a:solidFill>
                <a:latin typeface="Pretendard"/>
                <a:ea typeface="Pretendard"/>
                <a:cs typeface="Pretendard"/>
              </a:rPr>
              <a:t>최종 모델</a:t>
            </a:r>
          </a:p>
          <a:p>
            <a:pPr algn="l">
              <a:lnSpc>
                <a:spcPct val="105000"/>
              </a:lnSpc>
            </a:pPr>
            <a:r>
              <a:rPr sz="4000" b="1">
                <a:solidFill>
                  <a:srgbClr val="B59AEC"/>
                </a:solidFill>
                <a:latin typeface="Pretendard"/>
                <a:ea typeface="Pretendard"/>
                <a:cs typeface="Pretendard"/>
              </a:rPr>
              <a:t>LightGBM</a:t>
            </a:r>
            <a:r>
              <a:rPr sz="4000" b="1">
                <a:solidFill>
                  <a:srgbClr val="F7F5F8"/>
                </a:solidFill>
                <a:latin typeface="Pretendard"/>
                <a:ea typeface="Pretendard"/>
                <a:cs typeface="Pretendard"/>
              </a:rPr>
              <a:t> 선정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43434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C3BEC9"/>
                </a:solidFill>
                <a:latin typeface="Pretendard Medium"/>
                <a:ea typeface="Pretendard Medium"/>
                <a:cs typeface="Pretendard Medium"/>
              </a:rPr>
              <a:t>ROC-AUC 0.8708  ·  threshold 0.282  ·  Recall 0.536</a:t>
            </a:r>
          </a:p>
        </p:txBody>
      </p:sp>
    </p:spTree>
  </p:cSld>
  <p:clrMapOvr>
    <a:masterClrMapping/>
  </p:clrMapOvr>
</p:sld>
</file>

<file path=ppt/slides/slide2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a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5720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100" b="1">
                <a:solidFill>
                  <a:srgbClr val="6e4fcb"/>
                </a:solidFill>
                <a:latin typeface="Pretendard"/>
                <a:ea typeface="Pretendard"/>
                <a:cs typeface="Pretendard"/>
              </a:rPr>
              <a:t>07</a:t>
            </a:r>
            <a:r>
              <a:rPr sz="1100" b="0">
                <a:solidFill>
                  <a:srgbClr val="8c889a"/>
                </a:solidFill>
                <a:latin typeface="Pretendard Medium"/>
                <a:ea typeface="Pretendard Medium"/>
                <a:cs typeface="Pretendard Medium"/>
              </a:rPr>
              <a:t>   XAI 분석</a:t>
            </a:r>
            <a:endParaRPr sz="1100" b="0">
              <a:solidFill>
                <a:srgbClr val="8c889a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/>
            </a:pPr>
            <a:r>
              <a:rPr sz="2400" b="1">
                <a:solidFill>
                  <a:srgbClr val="6e4fcb"/>
                </a:solidFill>
                <a:latin typeface="Pretendard"/>
                <a:ea typeface="Pretendard"/>
                <a:cs typeface="Pretendard"/>
              </a:rPr>
              <a:t>SHAP</a:t>
            </a:r>
            <a:r>
              <a:rPr sz="2400" b="1">
                <a:solidFill>
                  <a:srgbClr val="1c1a22"/>
                </a:solidFill>
                <a:latin typeface="Pretendard"/>
                <a:ea typeface="Pretendard"/>
                <a:cs typeface="Pretendard"/>
              </a:rPr>
              <a:t>으로 본 이탈의 주요 원인</a:t>
            </a:r>
            <a:endParaRPr sz="2400" b="1">
              <a:solidFill>
                <a:srgbClr val="1c1a22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300" b="0">
                <a:solidFill>
                  <a:srgbClr val="5f5b6b"/>
                </a:solidFill>
                <a:latin typeface="Pretendard Medium"/>
                <a:ea typeface="Pretendard Medium"/>
                <a:cs typeface="Pretendard Medium"/>
              </a:rPr>
              <a:t>자동갱신 상태(last_auto_renew)와 결제 · 플랜 관련 변수가 예측을 이끄는 신호</a:t>
            </a:r>
            <a:endParaRPr sz="1300" b="0">
              <a:solidFill>
                <a:srgbClr val="5f5b6b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2743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900" b="0">
                <a:solidFill>
                  <a:srgbClr val="8c889a"/>
                </a:solidFill>
                <a:latin typeface="Pretendard SemiBold"/>
                <a:ea typeface="Pretendard SemiBold"/>
                <a:cs typeface="Pretendard SemiBold"/>
              </a:rPr>
              <a:t>KKeeper</a:t>
            </a:r>
            <a:endParaRPr sz="900" b="0">
              <a:solidFill>
                <a:srgbClr val="8c889a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725912" y="6400800"/>
            <a:ext cx="914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defRPr/>
            </a:pPr>
            <a:r>
              <a:rPr sz="900" b="0">
                <a:solidFill>
                  <a:srgbClr val="8c889a"/>
                </a:solidFill>
                <a:latin typeface="Pretendard Medium"/>
                <a:ea typeface="Pretendard Medium"/>
                <a:cs typeface="Pretendard Medium"/>
              </a:rPr>
              <a:t>21</a:t>
            </a:r>
            <a:endParaRPr sz="900" b="0">
              <a:solidFill>
                <a:srgbClr val="8c889a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5422392" cy="4343400"/>
          </a:xfrm>
          <a:prstGeom prst="roundRect">
            <a:avLst>
              <a:gd name="adj" fmla="val 2947"/>
            </a:avLst>
          </a:prstGeom>
          <a:solidFill>
            <a:srgbClr val="ffffff"/>
          </a:solidFill>
          <a:ln w="9525">
            <a:solidFill>
              <a:srgbClr val="e6e2ee"/>
            </a:solidFill>
          </a:ln>
          <a:effectLst/>
        </p:spPr>
        <p:txBody>
          <a:bodyPr lIns="0" tIns="0" rIns="0" bIns="0" anchor="ctr"/>
          <a:lstStyle/>
          <a:p>
            <a:pPr algn="ctr">
              <a:defRPr/>
            </a:pPr>
            <a:endParaRPr lang="ko-KR" altLang="en-US"/>
          </a:p>
        </p:txBody>
      </p:sp>
      <p:pic>
        <p:nvPicPr>
          <p:cNvPr id="8" name="Picture 7" descr="image28_hq.png"/>
          <p:cNvPicPr>
            <a:picLocks noChangeAspect="1"/>
          </p:cNvPicPr>
          <p:nvPr/>
        </p:nvPicPr>
        <p:blipFill rotWithShape="1">
          <a:blip r:embed="rId2"/>
          <a:srcRect t="11130" b="2960"/>
          <a:stretch>
            <a:fillRect/>
          </a:stretch>
        </p:blipFill>
        <p:spPr>
          <a:xfrm>
            <a:off x="747561" y="1900561"/>
            <a:ext cx="5024549" cy="4199877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217920" y="1828800"/>
            <a:ext cx="5422392" cy="4343400"/>
          </a:xfrm>
          <a:prstGeom prst="roundRect">
            <a:avLst>
              <a:gd name="adj" fmla="val 2947"/>
            </a:avLst>
          </a:prstGeom>
          <a:solidFill>
            <a:srgbClr val="ffffff"/>
          </a:solidFill>
          <a:ln w="9525">
            <a:solidFill>
              <a:srgbClr val="e6e2ee"/>
            </a:solidFill>
          </a:ln>
          <a:effectLst/>
        </p:spPr>
        <p:txBody>
          <a:bodyPr lIns="0" tIns="0" rIns="0" bIns="0" anchor="ctr"/>
          <a:lstStyle/>
          <a:p>
            <a:pPr algn="ctr">
              <a:defRPr/>
            </a:pPr>
            <a:endParaRPr lang="ko-KR" altLang="en-US"/>
          </a:p>
        </p:txBody>
      </p:sp>
      <p:pic>
        <p:nvPicPr>
          <p:cNvPr id="10" name="Picture 9" descr="image29_hq.png"/>
          <p:cNvPicPr>
            <a:picLocks noChangeAspect="1"/>
          </p:cNvPicPr>
          <p:nvPr/>
        </p:nvPicPr>
        <p:blipFill rotWithShape="1">
          <a:blip r:embed="rId3"/>
          <a:srcRect t="10060" b="1700"/>
          <a:stretch>
            <a:fillRect/>
          </a:stretch>
        </p:blipFill>
        <p:spPr>
          <a:xfrm>
            <a:off x="6404046" y="1900561"/>
            <a:ext cx="5050139" cy="4199878"/>
          </a:xfrm>
          <a:prstGeom prst="rect">
            <a:avLst/>
          </a:prstGeom>
        </p:spPr>
      </p:pic>
      <p:sp>
        <p:nvSpPr>
          <p:cNvPr id="11" name="TextBox 3"/>
          <p:cNvSpPr txBox="1"/>
          <p:nvPr/>
        </p:nvSpPr>
        <p:spPr>
          <a:xfrm>
            <a:off x="548640" y="1621155"/>
            <a:ext cx="3494371" cy="1962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lang="ko-KR" altLang="en-US" sz="1300" b="0">
                <a:solidFill>
                  <a:schemeClr val="dk1"/>
                </a:solidFill>
                <a:latin typeface="Pretendard Medium"/>
                <a:ea typeface="Pretendard Medium"/>
                <a:cs typeface="Pretendard Medium"/>
              </a:rPr>
              <a:t>① </a:t>
            </a:r>
            <a:r>
              <a:rPr lang="en-US" altLang="ko-KR" sz="1300" b="0">
                <a:solidFill>
                  <a:schemeClr val="dk1"/>
                </a:solidFill>
                <a:latin typeface="Pretendard Medium"/>
                <a:ea typeface="Pretendard Medium"/>
                <a:cs typeface="Pretendard Medium"/>
              </a:rPr>
              <a:t>Global Feature Importance (mean |SHAP|)</a:t>
            </a:r>
            <a:endParaRPr lang="en-US" altLang="ko-KR" sz="1300" b="0">
              <a:solidFill>
                <a:schemeClr val="dk1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12" name="TextBox 3"/>
          <p:cNvSpPr txBox="1"/>
          <p:nvPr/>
        </p:nvSpPr>
        <p:spPr>
          <a:xfrm>
            <a:off x="6280684" y="1621155"/>
            <a:ext cx="3494371" cy="198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lang="ko-KR" altLang="en-US" sz="1300" b="0">
                <a:solidFill>
                  <a:schemeClr val="dk1"/>
                </a:solidFill>
                <a:latin typeface="Pretendard Medium"/>
                <a:ea typeface="Pretendard Medium"/>
                <a:cs typeface="Pretendard Medium"/>
              </a:rPr>
              <a:t>② </a:t>
            </a:r>
            <a:r>
              <a:rPr lang="en-US" altLang="ko-KR" sz="1300" b="0">
                <a:solidFill>
                  <a:schemeClr val="dk1"/>
                </a:solidFill>
                <a:latin typeface="Pretendard Medium"/>
                <a:ea typeface="Pretendard Medium"/>
                <a:cs typeface="Pretendard Medium"/>
              </a:rPr>
              <a:t>Test SHAP Summary (Beeswarm)</a:t>
            </a:r>
            <a:endParaRPr lang="en-US" altLang="ko-KR" sz="1300" b="0">
              <a:solidFill>
                <a:schemeClr val="dk1"/>
              </a:solidFill>
              <a:latin typeface="Pretendard Medium"/>
              <a:ea typeface="Pretendard Medium"/>
              <a:cs typeface="Pretendard Medium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a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5720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100" b="1">
                <a:solidFill>
                  <a:srgbClr val="6e4fcb"/>
                </a:solidFill>
                <a:latin typeface="Pretendard"/>
                <a:ea typeface="Pretendard"/>
                <a:cs typeface="Pretendard"/>
              </a:rPr>
              <a:t>07</a:t>
            </a:r>
            <a:r>
              <a:rPr sz="1100" b="0">
                <a:solidFill>
                  <a:srgbClr val="8c889a"/>
                </a:solidFill>
                <a:latin typeface="Pretendard Medium"/>
                <a:ea typeface="Pretendard Medium"/>
                <a:cs typeface="Pretendard Medium"/>
              </a:rPr>
              <a:t>   고객 클러스터링</a:t>
            </a:r>
            <a:endParaRPr sz="1100" b="0">
              <a:solidFill>
                <a:srgbClr val="8c889a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/>
            </a:pPr>
            <a:r>
              <a:rPr sz="2400" b="1">
                <a:solidFill>
                  <a:srgbClr val="1c1a22"/>
                </a:solidFill>
                <a:latin typeface="Pretendard"/>
                <a:ea typeface="Pretendard"/>
                <a:cs typeface="Pretendard"/>
              </a:rPr>
              <a:t>위험 고객 </a:t>
            </a:r>
            <a:r>
              <a:rPr sz="2400" b="1">
                <a:solidFill>
                  <a:srgbClr val="6e4fcb"/>
                </a:solidFill>
                <a:latin typeface="Pretendard"/>
                <a:ea typeface="Pretendard"/>
                <a:cs typeface="Pretendard"/>
              </a:rPr>
              <a:t>4개 유형</a:t>
            </a:r>
            <a:r>
              <a:rPr sz="2400" b="1">
                <a:solidFill>
                  <a:srgbClr val="1c1a22"/>
                </a:solidFill>
                <a:latin typeface="Pretendard"/>
                <a:ea typeface="Pretendard"/>
                <a:cs typeface="Pretendard"/>
              </a:rPr>
              <a:t> 분류 과정</a:t>
            </a:r>
            <a:endParaRPr sz="2400" b="1">
              <a:solidFill>
                <a:srgbClr val="1c1a22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300" b="0">
                <a:solidFill>
                  <a:srgbClr val="5f5b6b"/>
                </a:solidFill>
                <a:latin typeface="Pretendard Medium"/>
                <a:ea typeface="Pretendard Medium"/>
                <a:cs typeface="Pretendard Medium"/>
              </a:rPr>
              <a:t>K-Means 클러스터링 수행 과정</a:t>
            </a:r>
            <a:endParaRPr sz="1300" b="0">
              <a:solidFill>
                <a:srgbClr val="5f5b6b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2743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900" b="0">
                <a:solidFill>
                  <a:srgbClr val="8c889a"/>
                </a:solidFill>
                <a:latin typeface="Pretendard SemiBold"/>
                <a:ea typeface="Pretendard SemiBold"/>
                <a:cs typeface="Pretendard SemiBold"/>
              </a:rPr>
              <a:t>KKeeper</a:t>
            </a:r>
            <a:endParaRPr sz="900" b="0">
              <a:solidFill>
                <a:srgbClr val="8c889a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725912" y="6400800"/>
            <a:ext cx="914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defRPr/>
            </a:pPr>
            <a:r>
              <a:rPr sz="900" b="0">
                <a:solidFill>
                  <a:srgbClr val="8c889a"/>
                </a:solidFill>
                <a:latin typeface="Pretendard Medium"/>
                <a:ea typeface="Pretendard Medium"/>
                <a:cs typeface="Pretendard Medium"/>
              </a:rPr>
              <a:t>22</a:t>
            </a:r>
            <a:endParaRPr sz="900" b="0">
              <a:solidFill>
                <a:srgbClr val="8c889a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48640" y="2194560"/>
            <a:ext cx="2606040" cy="3017520"/>
          </a:xfrm>
          <a:prstGeom prst="roundRect">
            <a:avLst>
              <a:gd name="adj" fmla="val 4912"/>
            </a:avLst>
          </a:prstGeom>
          <a:solidFill>
            <a:srgbClr val="ffffff"/>
          </a:solidFill>
          <a:ln w="9525">
            <a:solidFill>
              <a:srgbClr val="e6e2ee"/>
            </a:solidFill>
          </a:ln>
          <a:effectLst/>
        </p:spPr>
        <p:txBody>
          <a:bodyPr lIns="0" tIns="0" rIns="0" bIns="0"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822959" y="251460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2600" b="1">
                <a:solidFill>
                  <a:srgbClr val="6e4fcb"/>
                </a:solidFill>
                <a:latin typeface="Pretendard"/>
                <a:ea typeface="Pretendard"/>
                <a:cs typeface="Pretendard"/>
              </a:rPr>
              <a:t>01</a:t>
            </a:r>
            <a:endParaRPr sz="2600" b="1">
              <a:solidFill>
                <a:srgbClr val="6e4fcb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59" y="3291840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500" b="0">
                <a:solidFill>
                  <a:srgbClr val="1c1a22"/>
                </a:solidFill>
                <a:latin typeface="Pretendard SemiBold"/>
                <a:ea typeface="Pretendard SemiBold"/>
                <a:cs typeface="Pretendard SemiBold"/>
              </a:rPr>
              <a:t>데이터 구성</a:t>
            </a:r>
            <a:endParaRPr sz="1500" b="0">
              <a:solidFill>
                <a:srgbClr val="1c1a2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22959" y="3703320"/>
            <a:ext cx="2103120" cy="6496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65000"/>
              </a:lnSpc>
              <a:defRPr/>
            </a:pPr>
            <a:r>
              <a:rPr sz="1300" b="0">
                <a:solidFill>
                  <a:srgbClr val="5f5b6b"/>
                </a:solidFill>
                <a:latin typeface="Pretendard Medium"/>
                <a:ea typeface="Pretendard Medium"/>
                <a:cs typeface="Pretendard Medium"/>
              </a:rPr>
              <a:t>Train + Test를 다시 합쳐</a:t>
            </a:r>
            <a:endParaRPr sz="1300" b="0">
              <a:solidFill>
                <a:srgbClr val="5f5b6b"/>
              </a:solidFill>
              <a:latin typeface="Pretendard Medium"/>
              <a:ea typeface="Pretendard Medium"/>
              <a:cs typeface="Pretendard Medium"/>
            </a:endParaRPr>
          </a:p>
          <a:p>
            <a:pPr algn="l">
              <a:lnSpc>
                <a:spcPct val="165000"/>
              </a:lnSpc>
              <a:defRPr/>
            </a:pPr>
            <a:r>
              <a:rPr sz="1300" b="0">
                <a:solidFill>
                  <a:srgbClr val="5f5b6b"/>
                </a:solidFill>
                <a:latin typeface="Pretendard Medium"/>
                <a:ea typeface="Pretendard Medium"/>
                <a:cs typeface="Pretendard Medium"/>
              </a:rPr>
              <a:t>전체 고객 대상</a:t>
            </a:r>
            <a:endParaRPr sz="1300" b="0">
              <a:solidFill>
                <a:srgbClr val="5f5b6b"/>
              </a:solidFill>
              <a:latin typeface="Pretendard Medium"/>
              <a:ea typeface="Pretendard Medium"/>
              <a:cs typeface="Pretendard Medium"/>
            </a:endParaRPr>
          </a:p>
        </p:txBody>
      </p:sp>
      <p:pic>
        <p:nvPicPr>
          <p:cNvPr id="11" name="Picture 10" descr="arrow_p.pn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3182112" y="3611880"/>
            <a:ext cx="182880" cy="1828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383280" y="2194560"/>
            <a:ext cx="2606040" cy="3017520"/>
          </a:xfrm>
          <a:prstGeom prst="roundRect">
            <a:avLst>
              <a:gd name="adj" fmla="val 4912"/>
            </a:avLst>
          </a:prstGeom>
          <a:solidFill>
            <a:srgbClr val="ffffff"/>
          </a:solidFill>
          <a:ln w="9525">
            <a:solidFill>
              <a:srgbClr val="e6e2ee"/>
            </a:solidFill>
          </a:ln>
          <a:effectLst/>
        </p:spPr>
        <p:txBody>
          <a:bodyPr lIns="0" tIns="0" rIns="0" bIns="0"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3657600" y="251460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2600" b="1">
                <a:solidFill>
                  <a:srgbClr val="6e4fcb"/>
                </a:solidFill>
                <a:latin typeface="Pretendard"/>
                <a:ea typeface="Pretendard"/>
                <a:cs typeface="Pretendard"/>
              </a:rPr>
              <a:t>02</a:t>
            </a:r>
            <a:endParaRPr sz="2600" b="1">
              <a:solidFill>
                <a:srgbClr val="6e4fcb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657600" y="3291840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500" b="0">
                <a:solidFill>
                  <a:srgbClr val="1c1a22"/>
                </a:solidFill>
                <a:latin typeface="Pretendard SemiBold"/>
                <a:ea typeface="Pretendard SemiBold"/>
                <a:cs typeface="Pretendard SemiBold"/>
              </a:rPr>
              <a:t>피처 선정</a:t>
            </a:r>
            <a:endParaRPr sz="1500" b="0">
              <a:solidFill>
                <a:srgbClr val="1c1a2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657600" y="3703320"/>
            <a:ext cx="2103120" cy="3162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65000"/>
              </a:lnSpc>
              <a:defRPr/>
            </a:pPr>
            <a:r>
              <a:rPr sz="1300" b="0">
                <a:solidFill>
                  <a:srgbClr val="5f5b6b"/>
                </a:solidFill>
                <a:latin typeface="Pretendard Medium"/>
                <a:ea typeface="Pretendard Medium"/>
                <a:cs typeface="Pretendard Medium"/>
              </a:rPr>
              <a:t>행동 지표 피처로 clustering</a:t>
            </a:r>
            <a:endParaRPr sz="1300" b="0">
              <a:solidFill>
                <a:srgbClr val="5f5b6b"/>
              </a:solidFill>
              <a:latin typeface="Pretendard Medium"/>
              <a:ea typeface="Pretendard Medium"/>
              <a:cs typeface="Pretendard Medium"/>
            </a:endParaRPr>
          </a:p>
        </p:txBody>
      </p:sp>
      <p:pic>
        <p:nvPicPr>
          <p:cNvPr id="16" name="Picture 15" descr="arrow_p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016752" y="3611880"/>
            <a:ext cx="182880" cy="182880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6217920" y="2194560"/>
            <a:ext cx="2606040" cy="3017520"/>
          </a:xfrm>
          <a:prstGeom prst="roundRect">
            <a:avLst>
              <a:gd name="adj" fmla="val 4912"/>
            </a:avLst>
          </a:prstGeom>
          <a:solidFill>
            <a:srgbClr val="ffffff"/>
          </a:solidFill>
          <a:ln w="9525">
            <a:solidFill>
              <a:srgbClr val="e6e2ee"/>
            </a:solidFill>
          </a:ln>
          <a:effectLst/>
        </p:spPr>
        <p:txBody>
          <a:bodyPr lIns="0" tIns="0" rIns="0" bIns="0"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8" name="TextBox 17"/>
          <p:cNvSpPr txBox="1"/>
          <p:nvPr/>
        </p:nvSpPr>
        <p:spPr>
          <a:xfrm>
            <a:off x="6492240" y="251460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2600" b="1">
                <a:solidFill>
                  <a:srgbClr val="6e4fcb"/>
                </a:solidFill>
                <a:latin typeface="Pretendard"/>
                <a:ea typeface="Pretendard"/>
                <a:cs typeface="Pretendard"/>
              </a:rPr>
              <a:t>03</a:t>
            </a:r>
            <a:endParaRPr sz="2600" b="1">
              <a:solidFill>
                <a:srgbClr val="6e4fcb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492240" y="3291840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500" b="0">
                <a:solidFill>
                  <a:srgbClr val="1c1a22"/>
                </a:solidFill>
                <a:latin typeface="Pretendard SemiBold"/>
                <a:ea typeface="Pretendard SemiBold"/>
                <a:cs typeface="Pretendard SemiBold"/>
              </a:rPr>
              <a:t>k 탐색</a:t>
            </a:r>
            <a:endParaRPr sz="1500" b="0">
              <a:solidFill>
                <a:srgbClr val="1c1a2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492240" y="3703320"/>
            <a:ext cx="2103120" cy="6496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65000"/>
              </a:lnSpc>
              <a:defRPr/>
            </a:pPr>
            <a:r>
              <a:rPr sz="1300" b="0">
                <a:solidFill>
                  <a:srgbClr val="5f5b6b"/>
                </a:solidFill>
                <a:latin typeface="Pretendard Medium"/>
                <a:ea typeface="Pretendard Medium"/>
                <a:cs typeface="Pretendard Medium"/>
              </a:rPr>
              <a:t>실루엣 점수로 적절한</a:t>
            </a:r>
            <a:endParaRPr sz="1300" b="0">
              <a:solidFill>
                <a:srgbClr val="5f5b6b"/>
              </a:solidFill>
              <a:latin typeface="Pretendard Medium"/>
              <a:ea typeface="Pretendard Medium"/>
              <a:cs typeface="Pretendard Medium"/>
            </a:endParaRPr>
          </a:p>
          <a:p>
            <a:pPr algn="l">
              <a:lnSpc>
                <a:spcPct val="165000"/>
              </a:lnSpc>
              <a:defRPr/>
            </a:pPr>
            <a:r>
              <a:rPr sz="1300" b="0">
                <a:solidFill>
                  <a:srgbClr val="5f5b6b"/>
                </a:solidFill>
                <a:latin typeface="Pretendard Medium"/>
                <a:ea typeface="Pretendard Medium"/>
                <a:cs typeface="Pretendard Medium"/>
              </a:rPr>
              <a:t>클러스터 수 탐색</a:t>
            </a:r>
            <a:endParaRPr sz="1300" b="0">
              <a:solidFill>
                <a:srgbClr val="5f5b6b"/>
              </a:solidFill>
              <a:latin typeface="Pretendard Medium"/>
              <a:ea typeface="Pretendard Medium"/>
              <a:cs typeface="Pretendard Medium"/>
            </a:endParaRPr>
          </a:p>
        </p:txBody>
      </p:sp>
      <p:pic>
        <p:nvPicPr>
          <p:cNvPr id="21" name="Picture 20" descr="arrow_p.png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8851392" y="3611880"/>
            <a:ext cx="182880" cy="182880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9052560" y="2194560"/>
            <a:ext cx="2606040" cy="3017520"/>
          </a:xfrm>
          <a:prstGeom prst="roundRect">
            <a:avLst>
              <a:gd name="adj" fmla="val 4912"/>
            </a:avLst>
          </a:prstGeom>
          <a:solidFill>
            <a:srgbClr val="ffffff"/>
          </a:solidFill>
          <a:ln w="9525">
            <a:solidFill>
              <a:srgbClr val="e6e2ee"/>
            </a:solidFill>
          </a:ln>
          <a:effectLst/>
        </p:spPr>
        <p:txBody>
          <a:bodyPr lIns="0" tIns="0" rIns="0" bIns="0"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3" name="TextBox 22"/>
          <p:cNvSpPr txBox="1"/>
          <p:nvPr/>
        </p:nvSpPr>
        <p:spPr>
          <a:xfrm>
            <a:off x="9326880" y="251460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2600" b="1">
                <a:solidFill>
                  <a:srgbClr val="6e4fcb"/>
                </a:solidFill>
                <a:latin typeface="Pretendard"/>
                <a:ea typeface="Pretendard"/>
                <a:cs typeface="Pretendard"/>
              </a:rPr>
              <a:t>04</a:t>
            </a:r>
            <a:endParaRPr sz="2600" b="1">
              <a:solidFill>
                <a:srgbClr val="6e4fcb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326880" y="3291840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500" b="0">
                <a:solidFill>
                  <a:srgbClr val="1c1a22"/>
                </a:solidFill>
                <a:latin typeface="Pretendard SemiBold"/>
                <a:ea typeface="Pretendard SemiBold"/>
                <a:cs typeface="Pretendard SemiBold"/>
              </a:rPr>
              <a:t>k = 4 선정</a:t>
            </a:r>
            <a:endParaRPr sz="1500" b="0">
              <a:solidFill>
                <a:srgbClr val="1c1a2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326880" y="3703320"/>
            <a:ext cx="2103120" cy="6496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65000"/>
              </a:lnSpc>
              <a:defRPr/>
            </a:pPr>
            <a:r>
              <a:rPr sz="1300" b="0">
                <a:solidFill>
                  <a:srgbClr val="5f5b6b"/>
                </a:solidFill>
                <a:latin typeface="Pretendard Medium"/>
                <a:ea typeface="Pretendard Medium"/>
                <a:cs typeface="Pretendard Medium"/>
              </a:rPr>
              <a:t>k=2가 가장 높았지만,</a:t>
            </a:r>
            <a:endParaRPr sz="1300" b="0">
              <a:solidFill>
                <a:srgbClr val="5f5b6b"/>
              </a:solidFill>
              <a:latin typeface="Pretendard Medium"/>
              <a:ea typeface="Pretendard Medium"/>
              <a:cs typeface="Pretendard Medium"/>
            </a:endParaRPr>
          </a:p>
          <a:p>
            <a:pPr algn="l">
              <a:lnSpc>
                <a:spcPct val="165000"/>
              </a:lnSpc>
              <a:defRPr/>
            </a:pPr>
            <a:r>
              <a:rPr sz="1300" b="0">
                <a:solidFill>
                  <a:srgbClr val="5f5b6b"/>
                </a:solidFill>
                <a:latin typeface="Pretendard Medium"/>
                <a:ea typeface="Pretendard Medium"/>
                <a:cs typeface="Pretendard Medium"/>
              </a:rPr>
              <a:t>분류 목적을 고려해 4개로</a:t>
            </a:r>
            <a:r>
              <a:rPr lang="en-US" altLang="ko-KR" sz="1300" b="0">
                <a:solidFill>
                  <a:srgbClr val="5f5b6b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ko-KR" altLang="en-US" sz="1300" b="0">
                <a:solidFill>
                  <a:srgbClr val="5f5b6b"/>
                </a:solidFill>
                <a:latin typeface="Pretendard Medium"/>
                <a:ea typeface="Pretendard Medium"/>
                <a:cs typeface="Pretendard Medium"/>
              </a:rPr>
              <a:t>선정</a:t>
            </a:r>
            <a:endParaRPr lang="ko-KR" altLang="en-US" sz="1300" b="0">
              <a:solidFill>
                <a:srgbClr val="5f5b6b"/>
              </a:solidFill>
              <a:latin typeface="Pretendard Medium"/>
              <a:ea typeface="Pretendard Medium"/>
              <a:cs typeface="Pretendard Medium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E4FCB"/>
                </a:solidFill>
                <a:latin typeface="Pretendard"/>
                <a:ea typeface="Pretendard"/>
                <a:cs typeface="Pretendard"/>
              </a:rPr>
              <a:t>07</a:t>
            </a:r>
            <a:r>
              <a:rPr sz="1100" b="0">
                <a:solidFill>
                  <a:srgbClr val="8C889A"/>
                </a:solidFill>
                <a:latin typeface="Pretendard Medium"/>
                <a:ea typeface="Pretendard Medium"/>
                <a:cs typeface="Pretendard Medium"/>
              </a:rPr>
              <a:t>   고객 클러스터링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1C1A22"/>
                </a:solidFill>
                <a:latin typeface="Pretendard"/>
                <a:ea typeface="Pretendard"/>
                <a:cs typeface="Pretendard"/>
              </a:rPr>
              <a:t>K-Means 기반 </a:t>
            </a:r>
            <a:r>
              <a:rPr sz="2400" b="1">
                <a:solidFill>
                  <a:srgbClr val="6E4FCB"/>
                </a:solidFill>
                <a:latin typeface="Pretendard"/>
                <a:ea typeface="Pretendard"/>
                <a:cs typeface="Pretendard"/>
              </a:rPr>
              <a:t>4개 위험 고객 유형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C889A"/>
                </a:solidFill>
                <a:latin typeface="Pretendard SemiBold"/>
                <a:ea typeface="Pretendard SemiBold"/>
                <a:cs typeface="Pretendard SemiBold"/>
              </a:rPr>
              <a:t>KKeeper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5912" y="640080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C889A"/>
                </a:solidFill>
                <a:latin typeface="Pretendard Medium"/>
                <a:ea typeface="Pretendard Medium"/>
                <a:cs typeface="Pretendard Medium"/>
              </a:rPr>
              <a:t>23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2606040" cy="4206240"/>
          </a:xfrm>
          <a:prstGeom prst="roundRect">
            <a:avLst>
              <a:gd name="adj" fmla="val 4912"/>
            </a:avLst>
          </a:prstGeom>
          <a:solidFill>
            <a:srgbClr val="FFFFFF"/>
          </a:solidFill>
          <a:ln w="9525">
            <a:solidFill>
              <a:srgbClr val="E6E2EE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59" y="2103120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9C7EDB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  <a:r>
              <a:rPr sz="1000" b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Cluster 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56032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C1A22"/>
                </a:solidFill>
                <a:latin typeface="Pretendard SemiBold"/>
                <a:ea typeface="Pretendard SemiBold"/>
                <a:cs typeface="Pretendard SemiBold"/>
              </a:rPr>
              <a:t>저활동 · 단기 고객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301752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6E4FCB"/>
                </a:solidFill>
                <a:latin typeface="Pretendard"/>
                <a:ea typeface="Pretendard"/>
                <a:cs typeface="Pretendard"/>
              </a:rPr>
              <a:t>3,437</a:t>
            </a:r>
            <a:r>
              <a:rPr sz="1200" b="0">
                <a:solidFill>
                  <a:srgbClr val="6E4FCB"/>
                </a:solidFill>
                <a:latin typeface="Pretendard SemiBold"/>
                <a:ea typeface="Pretendard SemiBold"/>
                <a:cs typeface="Pretendard SemiBold"/>
              </a:rPr>
              <a:t> 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52044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F5B6B"/>
                </a:solidFill>
                <a:latin typeface="Pretendard Medium"/>
                <a:ea typeface="Pretendard Medium"/>
                <a:cs typeface="Pretendard Medium"/>
              </a:rPr>
              <a:t>위험 고객의 51.3%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22959" y="3977639"/>
            <a:ext cx="2057401" cy="0"/>
          </a:xfrm>
          <a:prstGeom prst="line">
            <a:avLst/>
          </a:prstGeom>
          <a:ln w="9525">
            <a:solidFill>
              <a:srgbClr val="E9E6EF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822959" y="3977639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5F5B6B"/>
                </a:solidFill>
                <a:latin typeface="Pretendard Medium"/>
                <a:ea typeface="Pretendard Medium"/>
                <a:cs typeface="Pretendard Medium"/>
              </a:rPr>
              <a:t>평균 위험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3977639"/>
            <a:ext cx="10515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1">
                <a:solidFill>
                  <a:srgbClr val="6E4FCB"/>
                </a:solidFill>
                <a:latin typeface="Pretendard"/>
                <a:ea typeface="Pretendard"/>
                <a:cs typeface="Pretendard"/>
              </a:rPr>
              <a:t>45.2%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22959" y="4434840"/>
            <a:ext cx="2057401" cy="0"/>
          </a:xfrm>
          <a:prstGeom prst="line">
            <a:avLst/>
          </a:prstGeom>
          <a:ln w="9525">
            <a:solidFill>
              <a:srgbClr val="E9E6EF"/>
            </a:solidFill>
          </a:ln>
        </p:spPr>
      </p:cxnSp>
      <p:sp>
        <p:nvSpPr>
          <p:cNvPr id="15" name="TextBox 14"/>
          <p:cNvSpPr txBox="1"/>
          <p:nvPr/>
        </p:nvSpPr>
        <p:spPr>
          <a:xfrm>
            <a:off x="822959" y="4434840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5F5B6B"/>
                </a:solidFill>
                <a:latin typeface="Pretendard Medium"/>
                <a:ea typeface="Pretendard Medium"/>
                <a:cs typeface="Pretendard Medium"/>
              </a:rPr>
              <a:t>실제 이탈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4434840"/>
            <a:ext cx="10515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1">
                <a:solidFill>
                  <a:srgbClr val="6E4FCB"/>
                </a:solidFill>
                <a:latin typeface="Pretendard"/>
                <a:ea typeface="Pretendard"/>
                <a:cs typeface="Pretendard"/>
              </a:rPr>
              <a:t>51.6%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59" y="5120640"/>
            <a:ext cx="2057400" cy="566928"/>
          </a:xfrm>
          <a:prstGeom prst="roundRect">
            <a:avLst>
              <a:gd name="adj" fmla="val 16129"/>
            </a:avLst>
          </a:prstGeom>
          <a:solidFill>
            <a:srgbClr val="EFE9FC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59" y="5120640"/>
            <a:ext cx="20574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6E4FCB"/>
                </a:solidFill>
                <a:latin typeface="Pretendard SemiBold"/>
                <a:ea typeface="Pretendard SemiBold"/>
                <a:cs typeface="Pretendard SemiBold"/>
              </a:rPr>
              <a:t>재이용 유도 캠페인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83280" y="1828800"/>
            <a:ext cx="2606040" cy="4206240"/>
          </a:xfrm>
          <a:prstGeom prst="roundRect">
            <a:avLst>
              <a:gd name="adj" fmla="val 4912"/>
            </a:avLst>
          </a:prstGeom>
          <a:solidFill>
            <a:srgbClr val="FFFFFF"/>
          </a:solidFill>
          <a:ln w="9525">
            <a:solidFill>
              <a:srgbClr val="E6E2EE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657600" y="2103120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CC9EB8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  <a:r>
              <a:rPr sz="1000" b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Cluster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56032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C1A22"/>
                </a:solidFill>
                <a:latin typeface="Pretendard SemiBold"/>
                <a:ea typeface="Pretendard SemiBold"/>
                <a:cs typeface="Pretendard SemiBold"/>
              </a:rPr>
              <a:t>반복 거래 · 취소 고객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301752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A0507A"/>
                </a:solidFill>
                <a:latin typeface="Pretendard"/>
                <a:ea typeface="Pretendard"/>
                <a:cs typeface="Pretendard"/>
              </a:rPr>
              <a:t>681</a:t>
            </a:r>
            <a:r>
              <a:rPr sz="1200" b="0">
                <a:solidFill>
                  <a:srgbClr val="A0507A"/>
                </a:solidFill>
                <a:latin typeface="Pretendard SemiBold"/>
                <a:ea typeface="Pretendard SemiBold"/>
                <a:cs typeface="Pretendard SemiBold"/>
              </a:rPr>
              <a:t> 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352044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F5B6B"/>
                </a:solidFill>
                <a:latin typeface="Pretendard Medium"/>
                <a:ea typeface="Pretendard Medium"/>
                <a:cs typeface="Pretendard Medium"/>
              </a:rPr>
              <a:t>위험 고객의 10.2%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657600" y="3977639"/>
            <a:ext cx="2057400" cy="0"/>
          </a:xfrm>
          <a:prstGeom prst="line">
            <a:avLst/>
          </a:prstGeom>
          <a:ln w="9525">
            <a:solidFill>
              <a:srgbClr val="E9E6EF"/>
            </a:solidFill>
          </a:ln>
        </p:spPr>
      </p:cxnSp>
      <p:sp>
        <p:nvSpPr>
          <p:cNvPr id="25" name="TextBox 24"/>
          <p:cNvSpPr txBox="1"/>
          <p:nvPr/>
        </p:nvSpPr>
        <p:spPr>
          <a:xfrm>
            <a:off x="3657600" y="3977639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5F5B6B"/>
                </a:solidFill>
                <a:latin typeface="Pretendard Medium"/>
                <a:ea typeface="Pretendard Medium"/>
                <a:cs typeface="Pretendard Medium"/>
              </a:rPr>
              <a:t>평균 위험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3977639"/>
            <a:ext cx="10515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1">
                <a:solidFill>
                  <a:srgbClr val="A0507A"/>
                </a:solidFill>
                <a:latin typeface="Pretendard"/>
                <a:ea typeface="Pretendard"/>
                <a:cs typeface="Pretendard"/>
              </a:rPr>
              <a:t>73.7%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3657600" y="4434840"/>
            <a:ext cx="2057400" cy="0"/>
          </a:xfrm>
          <a:prstGeom prst="line">
            <a:avLst/>
          </a:prstGeom>
          <a:ln w="9525">
            <a:solidFill>
              <a:srgbClr val="E9E6EF"/>
            </a:solidFill>
          </a:ln>
        </p:spPr>
      </p:cxnSp>
      <p:sp>
        <p:nvSpPr>
          <p:cNvPr id="28" name="TextBox 27"/>
          <p:cNvSpPr txBox="1"/>
          <p:nvPr/>
        </p:nvSpPr>
        <p:spPr>
          <a:xfrm>
            <a:off x="3657600" y="4434840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5F5B6B"/>
                </a:solidFill>
                <a:latin typeface="Pretendard Medium"/>
                <a:ea typeface="Pretendard Medium"/>
                <a:cs typeface="Pretendard Medium"/>
              </a:rPr>
              <a:t>실제 이탈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3440" y="4434840"/>
            <a:ext cx="10515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1">
                <a:solidFill>
                  <a:srgbClr val="A0507A"/>
                </a:solidFill>
                <a:latin typeface="Pretendard"/>
                <a:ea typeface="Pretendard"/>
                <a:cs typeface="Pretendard"/>
              </a:rPr>
              <a:t>75.8%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657600" y="5120640"/>
            <a:ext cx="2057400" cy="566928"/>
          </a:xfrm>
          <a:prstGeom prst="roundRect">
            <a:avLst>
              <a:gd name="adj" fmla="val 16129"/>
            </a:avLst>
          </a:prstGeom>
          <a:solidFill>
            <a:srgbClr val="F8E9F1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0" y="5120640"/>
            <a:ext cx="20574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A0507A"/>
                </a:solidFill>
                <a:latin typeface="Pretendard SemiBold"/>
                <a:ea typeface="Pretendard SemiBold"/>
                <a:cs typeface="Pretendard SemiBold"/>
              </a:rPr>
              <a:t>취소 시점 방어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1828800"/>
            <a:ext cx="2606040" cy="4206240"/>
          </a:xfrm>
          <a:prstGeom prst="roundRect">
            <a:avLst>
              <a:gd name="adj" fmla="val 4912"/>
            </a:avLst>
          </a:prstGeom>
          <a:solidFill>
            <a:srgbClr val="FFFFFF"/>
          </a:solidFill>
          <a:ln w="9525">
            <a:solidFill>
              <a:srgbClr val="E6E2EE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492240" y="2103120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93BBA3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  <a:r>
              <a:rPr sz="1000" b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Cluster 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256032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C1A22"/>
                </a:solidFill>
                <a:latin typeface="Pretendard SemiBold"/>
                <a:ea typeface="Pretendard SemiBold"/>
                <a:cs typeface="Pretendard SemiBold"/>
              </a:rPr>
              <a:t>장기 플랜 · 고결제 고객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301752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3F7F5A"/>
                </a:solidFill>
                <a:latin typeface="Pretendard"/>
                <a:ea typeface="Pretendard"/>
                <a:cs typeface="Pretendard"/>
              </a:rPr>
              <a:t>1,748</a:t>
            </a:r>
            <a:r>
              <a:rPr sz="1200" b="0">
                <a:solidFill>
                  <a:srgbClr val="3F7F5A"/>
                </a:solidFill>
                <a:latin typeface="Pretendard SemiBold"/>
                <a:ea typeface="Pretendard SemiBold"/>
                <a:cs typeface="Pretendard SemiBold"/>
              </a:rPr>
              <a:t> 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352044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F5B6B"/>
                </a:solidFill>
                <a:latin typeface="Pretendard Medium"/>
                <a:ea typeface="Pretendard Medium"/>
                <a:cs typeface="Pretendard Medium"/>
              </a:rPr>
              <a:t>위험 고객의 26.1%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492240" y="3977639"/>
            <a:ext cx="2057400" cy="0"/>
          </a:xfrm>
          <a:prstGeom prst="line">
            <a:avLst/>
          </a:prstGeom>
          <a:ln w="9525">
            <a:solidFill>
              <a:srgbClr val="E9E6EF"/>
            </a:solidFill>
          </a:ln>
        </p:spPr>
      </p:cxnSp>
      <p:sp>
        <p:nvSpPr>
          <p:cNvPr id="38" name="TextBox 37"/>
          <p:cNvSpPr txBox="1"/>
          <p:nvPr/>
        </p:nvSpPr>
        <p:spPr>
          <a:xfrm>
            <a:off x="6492240" y="3977639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5F5B6B"/>
                </a:solidFill>
                <a:latin typeface="Pretendard Medium"/>
                <a:ea typeface="Pretendard Medium"/>
                <a:cs typeface="Pretendard Medium"/>
              </a:rPr>
              <a:t>평균 위험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98079" y="3977639"/>
            <a:ext cx="10515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1">
                <a:solidFill>
                  <a:srgbClr val="3F7F5A"/>
                </a:solidFill>
                <a:latin typeface="Pretendard"/>
                <a:ea typeface="Pretendard"/>
                <a:cs typeface="Pretendard"/>
              </a:rPr>
              <a:t>84.4%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492240" y="4434840"/>
            <a:ext cx="2057400" cy="0"/>
          </a:xfrm>
          <a:prstGeom prst="line">
            <a:avLst/>
          </a:prstGeom>
          <a:ln w="9525">
            <a:solidFill>
              <a:srgbClr val="E9E6EF"/>
            </a:solidFill>
          </a:ln>
        </p:spPr>
      </p:cxnSp>
      <p:sp>
        <p:nvSpPr>
          <p:cNvPr id="41" name="TextBox 40"/>
          <p:cNvSpPr txBox="1"/>
          <p:nvPr/>
        </p:nvSpPr>
        <p:spPr>
          <a:xfrm>
            <a:off x="6492240" y="4434840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5F5B6B"/>
                </a:solidFill>
                <a:latin typeface="Pretendard Medium"/>
                <a:ea typeface="Pretendard Medium"/>
                <a:cs typeface="Pretendard Medium"/>
              </a:rPr>
              <a:t>실제 이탈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98079" y="4434840"/>
            <a:ext cx="10515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1">
                <a:solidFill>
                  <a:srgbClr val="3F7F5A"/>
                </a:solidFill>
                <a:latin typeface="Pretendard"/>
                <a:ea typeface="Pretendard"/>
                <a:cs typeface="Pretendard"/>
              </a:rPr>
              <a:t>86.3%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492240" y="5120640"/>
            <a:ext cx="2057400" cy="566928"/>
          </a:xfrm>
          <a:prstGeom prst="roundRect">
            <a:avLst>
              <a:gd name="adj" fmla="val 16129"/>
            </a:avLst>
          </a:prstGeom>
          <a:solidFill>
            <a:srgbClr val="E6F3EC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92240" y="5120640"/>
            <a:ext cx="20574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3F7F5A"/>
                </a:solidFill>
                <a:latin typeface="Pretendard SemiBold"/>
                <a:ea typeface="Pretendard SemiBold"/>
                <a:cs typeface="Pretendard SemiBold"/>
              </a:rPr>
              <a:t>고가치 고객 선제 유지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052560" y="1828800"/>
            <a:ext cx="2606040" cy="4206240"/>
          </a:xfrm>
          <a:prstGeom prst="roundRect">
            <a:avLst>
              <a:gd name="adj" fmla="val 4912"/>
            </a:avLst>
          </a:prstGeom>
          <a:solidFill>
            <a:srgbClr val="FFFFFF"/>
          </a:solidFill>
          <a:ln w="9525">
            <a:solidFill>
              <a:srgbClr val="E6E2EE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9326880" y="2103120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8A9BCC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  <a:r>
              <a:rPr sz="1000" b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Cluster 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326880" y="256032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C1A22"/>
                </a:solidFill>
                <a:latin typeface="Pretendard SemiBold"/>
                <a:ea typeface="Pretendard SemiBold"/>
                <a:cs typeface="Pretendard SemiBold"/>
              </a:rPr>
              <a:t>장기 관계 · 고빈도 고객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326880" y="301752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4A5F9E"/>
                </a:solidFill>
                <a:latin typeface="Pretendard"/>
                <a:ea typeface="Pretendard"/>
                <a:cs typeface="Pretendard"/>
              </a:rPr>
              <a:t>830</a:t>
            </a:r>
            <a:r>
              <a:rPr sz="1200" b="0">
                <a:solidFill>
                  <a:srgbClr val="4A5F9E"/>
                </a:solidFill>
                <a:latin typeface="Pretendard SemiBold"/>
                <a:ea typeface="Pretendard SemiBold"/>
                <a:cs typeface="Pretendard SemiBold"/>
              </a:rPr>
              <a:t> 명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326880" y="352044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F5B6B"/>
                </a:solidFill>
                <a:latin typeface="Pretendard Medium"/>
                <a:ea typeface="Pretendard Medium"/>
                <a:cs typeface="Pretendard Medium"/>
              </a:rPr>
              <a:t>위험 고객의 12.4%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9326880" y="3977639"/>
            <a:ext cx="2057400" cy="0"/>
          </a:xfrm>
          <a:prstGeom prst="line">
            <a:avLst/>
          </a:prstGeom>
          <a:ln w="9525">
            <a:solidFill>
              <a:srgbClr val="E9E6EF"/>
            </a:solidFill>
          </a:ln>
        </p:spPr>
      </p:cxnSp>
      <p:sp>
        <p:nvSpPr>
          <p:cNvPr id="51" name="TextBox 50"/>
          <p:cNvSpPr txBox="1"/>
          <p:nvPr/>
        </p:nvSpPr>
        <p:spPr>
          <a:xfrm>
            <a:off x="9326880" y="3977639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5F5B6B"/>
                </a:solidFill>
                <a:latin typeface="Pretendard Medium"/>
                <a:ea typeface="Pretendard Medium"/>
                <a:cs typeface="Pretendard Medium"/>
              </a:rPr>
              <a:t>평균 위험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332720" y="3977639"/>
            <a:ext cx="10515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1">
                <a:solidFill>
                  <a:srgbClr val="4A5F9E"/>
                </a:solidFill>
                <a:latin typeface="Pretendard"/>
                <a:ea typeface="Pretendard"/>
                <a:cs typeface="Pretendard"/>
              </a:rPr>
              <a:t>57.0%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9326880" y="4434840"/>
            <a:ext cx="2057400" cy="0"/>
          </a:xfrm>
          <a:prstGeom prst="line">
            <a:avLst/>
          </a:prstGeom>
          <a:ln w="9525">
            <a:solidFill>
              <a:srgbClr val="E9E6EF"/>
            </a:solidFill>
          </a:ln>
        </p:spPr>
      </p:cxnSp>
      <p:sp>
        <p:nvSpPr>
          <p:cNvPr id="54" name="TextBox 53"/>
          <p:cNvSpPr txBox="1"/>
          <p:nvPr/>
        </p:nvSpPr>
        <p:spPr>
          <a:xfrm>
            <a:off x="9326880" y="4434840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5F5B6B"/>
                </a:solidFill>
                <a:latin typeface="Pretendard Medium"/>
                <a:ea typeface="Pretendard Medium"/>
                <a:cs typeface="Pretendard Medium"/>
              </a:rPr>
              <a:t>실제 이탈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332720" y="4434840"/>
            <a:ext cx="10515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1">
                <a:solidFill>
                  <a:srgbClr val="4A5F9E"/>
                </a:solidFill>
                <a:latin typeface="Pretendard"/>
                <a:ea typeface="Pretendard"/>
                <a:cs typeface="Pretendard"/>
              </a:rPr>
              <a:t>63.7%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326880" y="5120640"/>
            <a:ext cx="2057400" cy="566928"/>
          </a:xfrm>
          <a:prstGeom prst="roundRect">
            <a:avLst>
              <a:gd name="adj" fmla="val 16129"/>
            </a:avLst>
          </a:prstGeom>
          <a:solidFill>
            <a:srgbClr val="E8ECF7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326880" y="5120640"/>
            <a:ext cx="20574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4A5F9E"/>
                </a:solidFill>
                <a:latin typeface="Pretendard SemiBold"/>
                <a:ea typeface="Pretendard SemiBold"/>
                <a:cs typeface="Pretendard SemiBold"/>
              </a:rPr>
              <a:t>장기 충성도 강화</a:t>
            </a:r>
          </a:p>
        </p:txBody>
      </p:sp>
    </p:spTree>
  </p:cSld>
  <p:clrMapOvr>
    <a:masterClrMapping/>
  </p:clrMapOvr>
</p:sld>
</file>

<file path=ppt/slides/slide2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a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5720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100" b="1">
                <a:solidFill>
                  <a:srgbClr val="6e4fcb"/>
                </a:solidFill>
                <a:latin typeface="Pretendard"/>
                <a:ea typeface="Pretendard"/>
                <a:cs typeface="Pretendard"/>
              </a:rPr>
              <a:t>07</a:t>
            </a:r>
            <a:r>
              <a:rPr sz="1100" b="0">
                <a:solidFill>
                  <a:srgbClr val="8c889a"/>
                </a:solidFill>
                <a:latin typeface="Pretendard Medium"/>
                <a:ea typeface="Pretendard Medium"/>
                <a:cs typeface="Pretendard Medium"/>
              </a:rPr>
              <a:t>   유형별 SHAP</a:t>
            </a:r>
            <a:endParaRPr sz="1100" b="0">
              <a:solidFill>
                <a:srgbClr val="8c889a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/>
            </a:pPr>
            <a:r>
              <a:rPr sz="2400" b="1">
                <a:solidFill>
                  <a:srgbClr val="6e4fcb"/>
                </a:solidFill>
                <a:latin typeface="Pretendard"/>
                <a:ea typeface="Pretendard"/>
                <a:cs typeface="Pretendard"/>
              </a:rPr>
              <a:t>Cluster 0</a:t>
            </a:r>
            <a:r>
              <a:rPr sz="2400" b="1">
                <a:solidFill>
                  <a:srgbClr val="1c1a22"/>
                </a:solidFill>
                <a:latin typeface="Pretendard"/>
                <a:ea typeface="Pretendard"/>
                <a:cs typeface="Pretendard"/>
              </a:rPr>
              <a:t>  저활동 · 단기 고객</a:t>
            </a:r>
            <a:endParaRPr sz="2400" b="1">
              <a:solidFill>
                <a:srgbClr val="1c1a22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2743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900" b="0">
                <a:solidFill>
                  <a:srgbClr val="8c889a"/>
                </a:solidFill>
                <a:latin typeface="Pretendard SemiBold"/>
                <a:ea typeface="Pretendard SemiBold"/>
                <a:cs typeface="Pretendard SemiBold"/>
              </a:rPr>
              <a:t>KKeeper</a:t>
            </a:r>
            <a:endParaRPr sz="900" b="0">
              <a:solidFill>
                <a:srgbClr val="8c889a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25912" y="6400800"/>
            <a:ext cx="914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defRPr/>
            </a:pPr>
            <a:r>
              <a:rPr sz="900" b="0">
                <a:solidFill>
                  <a:srgbClr val="8c889a"/>
                </a:solidFill>
                <a:latin typeface="Pretendard Medium"/>
                <a:ea typeface="Pretendard Medium"/>
                <a:cs typeface="Pretendard Medium"/>
              </a:rPr>
              <a:t>24</a:t>
            </a:r>
            <a:endParaRPr sz="900" b="0">
              <a:solidFill>
                <a:srgbClr val="8c889a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3108960" cy="4206240"/>
          </a:xfrm>
          <a:prstGeom prst="roundRect">
            <a:avLst>
              <a:gd name="adj" fmla="val 4705"/>
            </a:avLst>
          </a:prstGeom>
          <a:solidFill>
            <a:srgbClr val="efe9fc"/>
          </a:solidFill>
          <a:ln>
            <a:noFill/>
          </a:ln>
          <a:effectLst/>
        </p:spPr>
        <p:txBody>
          <a:bodyPr lIns="0" tIns="0" rIns="0" bIns="0"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868680" y="2103120"/>
            <a:ext cx="25603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100" b="0">
                <a:solidFill>
                  <a:srgbClr val="5f5b6b"/>
                </a:solidFill>
                <a:latin typeface="Pretendard Medium"/>
                <a:ea typeface="Pretendard Medium"/>
                <a:cs typeface="Pretendard Medium"/>
              </a:rPr>
              <a:t>고객 수</a:t>
            </a:r>
            <a:endParaRPr sz="1100" b="0">
              <a:solidFill>
                <a:srgbClr val="5f5b6b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68680" y="2377440"/>
            <a:ext cx="2560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2600" b="1">
                <a:solidFill>
                  <a:srgbClr val="6e4fcb"/>
                </a:solidFill>
                <a:latin typeface="Pretendard"/>
                <a:ea typeface="Pretendard"/>
                <a:cs typeface="Pretendard"/>
              </a:rPr>
              <a:t>3,437</a:t>
            </a:r>
            <a:r>
              <a:rPr sz="1300" b="0">
                <a:solidFill>
                  <a:srgbClr val="6e4fcb"/>
                </a:solidFill>
                <a:latin typeface="Pretendard SemiBold"/>
                <a:ea typeface="Pretendard SemiBold"/>
                <a:cs typeface="Pretendard SemiBold"/>
              </a:rPr>
              <a:t> 명</a:t>
            </a:r>
            <a:endParaRPr sz="1300" b="0">
              <a:solidFill>
                <a:srgbClr val="6e4fcb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68680" y="2926080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150" b="0">
                <a:solidFill>
                  <a:srgbClr val="3e3b47"/>
                </a:solidFill>
                <a:latin typeface="Pretendard Medium"/>
                <a:ea typeface="Pretendard Medium"/>
                <a:cs typeface="Pretendard Medium"/>
              </a:rPr>
              <a:t>위험 고객의 51.3%</a:t>
            </a:r>
            <a:endParaRPr sz="1150" b="0">
              <a:solidFill>
                <a:srgbClr val="3e3b47"/>
              </a:solidFill>
              <a:latin typeface="Pretendard Medium"/>
              <a:ea typeface="Pretendard Medium"/>
              <a:cs typeface="Pretendard Medium"/>
            </a:endParaRPr>
          </a:p>
        </p:txBody>
      </p:sp>
      <p:cxnSp>
        <p:nvCxnSpPr>
          <p:cNvPr id="10" name="Connector 9"/>
          <p:cNvCxnSpPr/>
          <p:nvPr/>
        </p:nvCxnSpPr>
        <p:spPr>
          <a:xfrm>
            <a:off x="868680" y="3566160"/>
            <a:ext cx="2468880" cy="0"/>
          </a:xfrm>
          <a:prstGeom prst="line">
            <a:avLst/>
          </a:prstGeom>
          <a:ln w="12700">
            <a:solidFill>
              <a:srgbClr val="ffffff"/>
            </a:solidFill>
          </a:ln>
        </p:spPr>
      </p:cxnSp>
      <p:sp>
        <p:nvSpPr>
          <p:cNvPr id="11" name="TextBox 10"/>
          <p:cNvSpPr txBox="1"/>
          <p:nvPr/>
        </p:nvSpPr>
        <p:spPr>
          <a:xfrm>
            <a:off x="868680" y="3566160"/>
            <a:ext cx="13716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/>
            </a:pPr>
            <a:r>
              <a:rPr sz="1200" b="0">
                <a:solidFill>
                  <a:srgbClr val="3e3b47"/>
                </a:solidFill>
                <a:latin typeface="Pretendard Medium"/>
                <a:ea typeface="Pretendard Medium"/>
                <a:cs typeface="Pretendard Medium"/>
              </a:rPr>
              <a:t>평균 위험</a:t>
            </a:r>
            <a:endParaRPr sz="1200" b="0">
              <a:solidFill>
                <a:srgbClr val="3e3b47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011680" y="3566160"/>
            <a:ext cx="13258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defRPr/>
            </a:pPr>
            <a:r>
              <a:rPr sz="1500" b="1">
                <a:solidFill>
                  <a:srgbClr val="6e4fcb"/>
                </a:solidFill>
                <a:latin typeface="Pretendard"/>
                <a:ea typeface="Pretendard"/>
                <a:cs typeface="Pretendard"/>
              </a:rPr>
              <a:t>45.2%</a:t>
            </a:r>
            <a:endParaRPr sz="1500" b="1">
              <a:solidFill>
                <a:srgbClr val="6e4fcb"/>
              </a:solidFill>
              <a:latin typeface="Pretendard"/>
              <a:ea typeface="Pretendard"/>
              <a:cs typeface="Pretendard"/>
            </a:endParaRPr>
          </a:p>
        </p:txBody>
      </p:sp>
      <p:cxnSp>
        <p:nvCxnSpPr>
          <p:cNvPr id="13" name="Connector 12"/>
          <p:cNvCxnSpPr/>
          <p:nvPr/>
        </p:nvCxnSpPr>
        <p:spPr>
          <a:xfrm>
            <a:off x="868680" y="4133087"/>
            <a:ext cx="2468880" cy="0"/>
          </a:xfrm>
          <a:prstGeom prst="line">
            <a:avLst/>
          </a:prstGeom>
          <a:ln w="12700">
            <a:solidFill>
              <a:srgbClr val="ffffff"/>
            </a:solidFill>
          </a:ln>
        </p:spPr>
      </p:cxnSp>
      <p:sp>
        <p:nvSpPr>
          <p:cNvPr id="14" name="TextBox 13"/>
          <p:cNvSpPr txBox="1"/>
          <p:nvPr/>
        </p:nvSpPr>
        <p:spPr>
          <a:xfrm>
            <a:off x="868680" y="4133087"/>
            <a:ext cx="13716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/>
            </a:pPr>
            <a:r>
              <a:rPr sz="1200" b="0">
                <a:solidFill>
                  <a:srgbClr val="3e3b47"/>
                </a:solidFill>
                <a:latin typeface="Pretendard Medium"/>
                <a:ea typeface="Pretendard Medium"/>
                <a:cs typeface="Pretendard Medium"/>
              </a:rPr>
              <a:t>실제 이탈</a:t>
            </a:r>
            <a:endParaRPr sz="1200" b="0">
              <a:solidFill>
                <a:srgbClr val="3e3b47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011680" y="4133087"/>
            <a:ext cx="13258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defRPr/>
            </a:pPr>
            <a:r>
              <a:rPr sz="1500" b="1">
                <a:solidFill>
                  <a:srgbClr val="6e4fcb"/>
                </a:solidFill>
                <a:latin typeface="Pretendard"/>
                <a:ea typeface="Pretendard"/>
                <a:cs typeface="Pretendard"/>
              </a:rPr>
              <a:t>51.6%</a:t>
            </a:r>
            <a:endParaRPr sz="1500" b="1">
              <a:solidFill>
                <a:srgbClr val="6e4fcb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68680" y="4937760"/>
            <a:ext cx="25603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100" b="0">
                <a:solidFill>
                  <a:srgbClr val="5f5b6b"/>
                </a:solidFill>
                <a:latin typeface="Pretendard Medium"/>
                <a:ea typeface="Pretendard Medium"/>
                <a:cs typeface="Pretendard Medium"/>
              </a:rPr>
              <a:t>추천 전략</a:t>
            </a:r>
            <a:endParaRPr sz="1100" b="0">
              <a:solidFill>
                <a:srgbClr val="5f5b6b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68680" y="521208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400" b="1">
                <a:solidFill>
                  <a:srgbClr val="6e4fcb"/>
                </a:solidFill>
                <a:latin typeface="Pretendard"/>
                <a:ea typeface="Pretendard"/>
                <a:cs typeface="Pretendard"/>
              </a:rPr>
              <a:t>재이용 유도 캠페인</a:t>
            </a:r>
            <a:endParaRPr sz="1400" b="1">
              <a:solidFill>
                <a:srgbClr val="6e4fcb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3886200" y="1828800"/>
            <a:ext cx="7754112" cy="4206240"/>
          </a:xfrm>
          <a:prstGeom prst="roundRect">
            <a:avLst>
              <a:gd name="adj" fmla="val 3043"/>
            </a:avLst>
          </a:prstGeom>
          <a:solidFill>
            <a:srgbClr val="ffffff"/>
          </a:solidFill>
          <a:ln w="9525">
            <a:solidFill>
              <a:srgbClr val="e6e2ee"/>
            </a:solidFill>
          </a:ln>
          <a:effectLst/>
        </p:spPr>
        <p:txBody>
          <a:bodyPr lIns="0" tIns="0" rIns="0" bIns="0"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3886200" y="15544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150" b="0">
                <a:solidFill>
                  <a:srgbClr val="1c1a22"/>
                </a:solidFill>
                <a:latin typeface="Pretendard SemiBold"/>
                <a:ea typeface="Pretendard SemiBold"/>
                <a:cs typeface="Pretendard SemiBold"/>
              </a:rPr>
              <a:t>유형별 평균 |SHAP| Top 10</a:t>
            </a:r>
            <a:endParaRPr sz="1150" b="0">
              <a:solidFill>
                <a:srgbClr val="1c1a2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pic>
        <p:nvPicPr>
          <p:cNvPr id="20" name="Picture 19" descr="image33_hq.png"/>
          <p:cNvPicPr>
            <a:picLocks noChangeAspect="1"/>
          </p:cNvPicPr>
          <p:nvPr/>
        </p:nvPicPr>
        <p:blipFill rotWithShape="1">
          <a:blip r:embed="rId2"/>
          <a:srcRect l="5970" t="4440"/>
          <a:stretch>
            <a:fillRect/>
          </a:stretch>
        </p:blipFill>
        <p:spPr>
          <a:xfrm>
            <a:off x="4515487" y="1965773"/>
            <a:ext cx="6495536" cy="393229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a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5720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100" b="1">
                <a:solidFill>
                  <a:srgbClr val="6e4fcb"/>
                </a:solidFill>
                <a:latin typeface="Pretendard"/>
                <a:ea typeface="Pretendard"/>
                <a:cs typeface="Pretendard"/>
              </a:rPr>
              <a:t>07</a:t>
            </a:r>
            <a:r>
              <a:rPr sz="1100" b="0">
                <a:solidFill>
                  <a:srgbClr val="8c889a"/>
                </a:solidFill>
                <a:latin typeface="Pretendard Medium"/>
                <a:ea typeface="Pretendard Medium"/>
                <a:cs typeface="Pretendard Medium"/>
              </a:rPr>
              <a:t>   대표 고객 페르소나</a:t>
            </a:r>
            <a:endParaRPr sz="1100" b="0">
              <a:solidFill>
                <a:srgbClr val="8c889a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/>
            </a:pPr>
            <a:r>
              <a:rPr sz="2400" b="1">
                <a:solidFill>
                  <a:srgbClr val="6e4fcb"/>
                </a:solidFill>
                <a:latin typeface="Pretendard"/>
                <a:ea typeface="Pretendard"/>
                <a:cs typeface="Pretendard"/>
              </a:rPr>
              <a:t>Cluster 0</a:t>
            </a:r>
            <a:r>
              <a:rPr sz="2400" b="1">
                <a:solidFill>
                  <a:srgbClr val="1c1a22"/>
                </a:solidFill>
                <a:latin typeface="Pretendard"/>
                <a:ea typeface="Pretendard"/>
                <a:cs typeface="Pretendard"/>
              </a:rPr>
              <a:t>  대표 고객 위험 요인</a:t>
            </a:r>
            <a:endParaRPr sz="2400" b="1">
              <a:solidFill>
                <a:srgbClr val="1c1a22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2743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900" b="0">
                <a:solidFill>
                  <a:srgbClr val="8c889a"/>
                </a:solidFill>
                <a:latin typeface="Pretendard SemiBold"/>
                <a:ea typeface="Pretendard SemiBold"/>
                <a:cs typeface="Pretendard SemiBold"/>
              </a:rPr>
              <a:t>KKeeper</a:t>
            </a:r>
            <a:endParaRPr sz="900" b="0">
              <a:solidFill>
                <a:srgbClr val="8c889a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25912" y="6400800"/>
            <a:ext cx="914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defRPr/>
            </a:pPr>
            <a:r>
              <a:rPr sz="900" b="0">
                <a:solidFill>
                  <a:srgbClr val="8c889a"/>
                </a:solidFill>
                <a:latin typeface="Pretendard Medium"/>
                <a:ea typeface="Pretendard Medium"/>
                <a:cs typeface="Pretendard Medium"/>
              </a:rPr>
              <a:t>25</a:t>
            </a:r>
            <a:endParaRPr sz="900" b="0">
              <a:solidFill>
                <a:srgbClr val="8c889a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760720" cy="4206240"/>
          </a:xfrm>
          <a:prstGeom prst="roundRect">
            <a:avLst>
              <a:gd name="adj" fmla="val 3043"/>
            </a:avLst>
          </a:prstGeom>
          <a:solidFill>
            <a:srgbClr val="ffffff"/>
          </a:solidFill>
          <a:ln w="9525">
            <a:solidFill>
              <a:srgbClr val="e6e2ee"/>
            </a:solidFill>
          </a:ln>
          <a:effectLst/>
        </p:spPr>
        <p:txBody>
          <a:bodyPr lIns="0" tIns="0" rIns="0" bIns="0"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150" b="0">
                <a:solidFill>
                  <a:srgbClr val="1c1a22"/>
                </a:solidFill>
                <a:latin typeface="Pretendard SemiBold"/>
                <a:ea typeface="Pretendard SemiBold"/>
                <a:cs typeface="Pretendard SemiBold"/>
              </a:rPr>
              <a:t>개별 Waterfall Plot</a:t>
            </a:r>
            <a:endParaRPr sz="1150" b="0">
              <a:solidFill>
                <a:srgbClr val="1c1a2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pic>
        <p:nvPicPr>
          <p:cNvPr id="8" name="Picture 7" descr="wf34_hq.pn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727273" y="1934500"/>
            <a:ext cx="5129133" cy="3994838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537960" y="1828800"/>
            <a:ext cx="5102352" cy="2697480"/>
          </a:xfrm>
          <a:prstGeom prst="roundRect">
            <a:avLst>
              <a:gd name="adj" fmla="val 4745"/>
            </a:avLst>
          </a:prstGeom>
          <a:solidFill>
            <a:srgbClr val="ffffff"/>
          </a:solidFill>
          <a:ln w="9525">
            <a:solidFill>
              <a:srgbClr val="e6e2ee"/>
            </a:solidFill>
          </a:ln>
          <a:effectLst/>
        </p:spPr>
        <p:txBody>
          <a:bodyPr lIns="0" tIns="0" rIns="0" bIns="0"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6858000" y="2057400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100" b="0">
                <a:solidFill>
                  <a:srgbClr val="5f5b6b"/>
                </a:solidFill>
                <a:latin typeface="Pretendard Medium"/>
                <a:ea typeface="Pretendard Medium"/>
                <a:cs typeface="Pretendard Medium"/>
              </a:rPr>
              <a:t>이탈 확률</a:t>
            </a:r>
            <a:endParaRPr sz="1100" b="0">
              <a:solidFill>
                <a:srgbClr val="5f5b6b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858000" y="2286000"/>
            <a:ext cx="22860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2600" b="1">
                <a:solidFill>
                  <a:srgbClr val="6e4fcb"/>
                </a:solidFill>
                <a:latin typeface="Pretendard"/>
                <a:ea typeface="Pretendard"/>
                <a:cs typeface="Pretendard"/>
              </a:rPr>
              <a:t>41.9%</a:t>
            </a:r>
            <a:endParaRPr sz="2600" b="1">
              <a:solidFill>
                <a:srgbClr val="6e4fcb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10012680" y="2194560"/>
            <a:ext cx="1325880" cy="292608"/>
          </a:xfrm>
          <a:prstGeom prst="roundRect">
            <a:avLst>
              <a:gd name="adj" fmla="val 50000"/>
            </a:avLst>
          </a:prstGeom>
          <a:solidFill>
            <a:srgbClr val="efe9fc"/>
          </a:solidFill>
          <a:ln>
            <a:noFill/>
          </a:ln>
          <a:effectLst/>
        </p:spPr>
        <p:txBody>
          <a:bodyPr wrap="square" lIns="0" tIns="0" rIns="0" bIns="0" anchor="ctr"/>
          <a:lstStyle/>
          <a:p>
            <a:pPr algn="ctr">
              <a:defRPr/>
            </a:pPr>
            <a:r>
              <a:rPr sz="1000" b="0">
                <a:solidFill>
                  <a:srgbClr val="6e4fcb"/>
                </a:solidFill>
                <a:latin typeface="Pretendard SemiBold"/>
                <a:ea typeface="Pretendard SemiBold"/>
                <a:cs typeface="Pretendard SemiBold"/>
              </a:rPr>
              <a:t>실제 이탈 0</a:t>
            </a:r>
            <a:endParaRPr sz="1000" b="0">
              <a:solidFill>
                <a:srgbClr val="6e4fcb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858000" y="2880360"/>
            <a:ext cx="44805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100" b="0">
                <a:solidFill>
                  <a:srgbClr val="5f5b6b"/>
                </a:solidFill>
                <a:latin typeface="Pretendard Medium"/>
                <a:ea typeface="Pretendard Medium"/>
                <a:cs typeface="Pretendard Medium"/>
              </a:rPr>
              <a:t>주요 SHAP 요인</a:t>
            </a:r>
            <a:endParaRPr sz="1100" b="0">
              <a:solidFill>
                <a:srgbClr val="5f5b6b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858000" y="3154680"/>
            <a:ext cx="35661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/>
            </a:pPr>
            <a:r>
              <a:rPr sz="1150" b="0">
                <a:solidFill>
                  <a:srgbClr val="1c1a22"/>
                </a:solidFill>
                <a:latin typeface="Pretendard Medium"/>
                <a:ea typeface="Pretendard Medium"/>
                <a:cs typeface="Pretendard Medium"/>
              </a:rPr>
              <a:t>last_auto_renew = 0</a:t>
            </a:r>
            <a:endParaRPr sz="1150" b="0">
              <a:solidFill>
                <a:srgbClr val="1c1a22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332720" y="3154680"/>
            <a:ext cx="10058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defRPr/>
            </a:pPr>
            <a:r>
              <a:rPr sz="1150" b="0">
                <a:solidFill>
                  <a:srgbClr val="c2185b"/>
                </a:solidFill>
                <a:latin typeface="Pretendard SemiBold"/>
                <a:ea typeface="Pretendard SemiBold"/>
                <a:cs typeface="Pretendard SemiBold"/>
              </a:rPr>
              <a:t>+2.27</a:t>
            </a:r>
            <a:endParaRPr sz="1150" b="0">
              <a:solidFill>
                <a:srgbClr val="c2185b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858000" y="3483864"/>
            <a:ext cx="35661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/>
            </a:pPr>
            <a:r>
              <a:rPr sz="1150" b="0">
                <a:solidFill>
                  <a:srgbClr val="1c1a22"/>
                </a:solidFill>
                <a:latin typeface="Pretendard Medium"/>
                <a:ea typeface="Pretendard Medium"/>
                <a:cs typeface="Pretendard Medium"/>
              </a:rPr>
              <a:t>activity_days = 14</a:t>
            </a:r>
            <a:endParaRPr sz="1150" b="0">
              <a:solidFill>
                <a:srgbClr val="1c1a22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332720" y="3483864"/>
            <a:ext cx="10058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defRPr/>
            </a:pPr>
            <a:r>
              <a:rPr sz="1150" b="0">
                <a:solidFill>
                  <a:srgbClr val="c2185b"/>
                </a:solidFill>
                <a:latin typeface="Pretendard SemiBold"/>
                <a:ea typeface="Pretendard SemiBold"/>
                <a:cs typeface="Pretendard SemiBold"/>
              </a:rPr>
              <a:t>+0.22</a:t>
            </a:r>
            <a:endParaRPr sz="1150" b="0">
              <a:solidFill>
                <a:srgbClr val="c2185b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858000" y="3813048"/>
            <a:ext cx="35661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/>
            </a:pPr>
            <a:r>
              <a:rPr sz="1150" b="0">
                <a:solidFill>
                  <a:srgbClr val="1c1a22"/>
                </a:solidFill>
                <a:latin typeface="Pretendard Medium"/>
                <a:ea typeface="Pretendard Medium"/>
                <a:cs typeface="Pretendard Medium"/>
              </a:rPr>
              <a:t>payment_per_plan_day = 6.0</a:t>
            </a:r>
            <a:endParaRPr sz="1150" b="0">
              <a:solidFill>
                <a:srgbClr val="1c1a22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332720" y="3813048"/>
            <a:ext cx="10058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defRPr/>
            </a:pPr>
            <a:r>
              <a:rPr sz="1150" b="0">
                <a:solidFill>
                  <a:srgbClr val="c2185b"/>
                </a:solidFill>
                <a:latin typeface="Pretendard SemiBold"/>
                <a:ea typeface="Pretendard SemiBold"/>
                <a:cs typeface="Pretendard SemiBold"/>
              </a:rPr>
              <a:t>+0.16</a:t>
            </a:r>
            <a:endParaRPr sz="1150" b="0">
              <a:solidFill>
                <a:srgbClr val="c2185b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858000" y="4160520"/>
            <a:ext cx="4480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050" b="0">
                <a:solidFill>
                  <a:srgbClr val="8c889a"/>
                </a:solidFill>
                <a:latin typeface="Pretendard Medium"/>
                <a:ea typeface="Pretendard Medium"/>
                <a:cs typeface="Pretendard Medium"/>
              </a:rPr>
              <a:t>자동갱신 해제가 가장 크게 작용하고, 낮은 활동량도 함께 영향을 준 사례</a:t>
            </a:r>
            <a:endParaRPr sz="1050" b="0">
              <a:solidFill>
                <a:srgbClr val="8c889a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537960" y="4709160"/>
            <a:ext cx="5102352" cy="1325880"/>
          </a:xfrm>
          <a:prstGeom prst="roundRect">
            <a:avLst>
              <a:gd name="adj" fmla="val 9655"/>
            </a:avLst>
          </a:prstGeom>
          <a:solidFill>
            <a:srgbClr val="efe9fc"/>
          </a:solidFill>
          <a:ln>
            <a:noFill/>
          </a:ln>
          <a:effectLst/>
        </p:spPr>
        <p:txBody>
          <a:bodyPr lIns="0" tIns="0" rIns="0" bIns="0"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2" name="TextBox 21"/>
          <p:cNvSpPr txBox="1"/>
          <p:nvPr/>
        </p:nvSpPr>
        <p:spPr>
          <a:xfrm>
            <a:off x="6858000" y="489204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100" b="0">
                <a:solidFill>
                  <a:srgbClr val="6e4fcb"/>
                </a:solidFill>
                <a:latin typeface="Pretendard SemiBold"/>
                <a:ea typeface="Pretendard SemiBold"/>
                <a:cs typeface="Pretendard SemiBold"/>
              </a:rPr>
              <a:t>마케팅 전략</a:t>
            </a:r>
            <a:endParaRPr sz="1100" b="0">
              <a:solidFill>
                <a:srgbClr val="6e4fcb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858000" y="5212080"/>
            <a:ext cx="45262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defRPr/>
            </a:pPr>
            <a:r>
              <a:rPr sz="1400" b="0">
                <a:solidFill>
                  <a:srgbClr val="1c1a22"/>
                </a:solidFill>
                <a:latin typeface="Pretendard SemiBold"/>
                <a:ea typeface="Pretendard SemiBold"/>
                <a:cs typeface="Pretendard SemiBold"/>
              </a:rPr>
              <a:t>개인화 음악 추천  ·  앱 재방문 유도 메시지  ·  접속 유도 미션형 프로모션</a:t>
            </a:r>
            <a:endParaRPr sz="1400" b="0">
              <a:solidFill>
                <a:srgbClr val="1c1a22"/>
              </a:solidFill>
              <a:latin typeface="Pretendard SemiBold"/>
              <a:ea typeface="Pretendard SemiBold"/>
              <a:cs typeface="Pretendard SemiBold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a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5720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100" b="1">
                <a:solidFill>
                  <a:srgbClr val="6e4fcb"/>
                </a:solidFill>
                <a:latin typeface="Pretendard"/>
                <a:ea typeface="Pretendard"/>
                <a:cs typeface="Pretendard"/>
              </a:rPr>
              <a:t>07</a:t>
            </a:r>
            <a:r>
              <a:rPr sz="1100" b="0">
                <a:solidFill>
                  <a:srgbClr val="8c889a"/>
                </a:solidFill>
                <a:latin typeface="Pretendard Medium"/>
                <a:ea typeface="Pretendard Medium"/>
                <a:cs typeface="Pretendard Medium"/>
              </a:rPr>
              <a:t>   유형별 SHAP</a:t>
            </a:r>
            <a:endParaRPr sz="1100" b="0">
              <a:solidFill>
                <a:srgbClr val="8c889a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/>
            </a:pPr>
            <a:r>
              <a:rPr sz="2400" b="1">
                <a:solidFill>
                  <a:srgbClr val="a0507a"/>
                </a:solidFill>
                <a:latin typeface="Pretendard"/>
                <a:ea typeface="Pretendard"/>
                <a:cs typeface="Pretendard"/>
              </a:rPr>
              <a:t>Cluster 1</a:t>
            </a:r>
            <a:r>
              <a:rPr sz="2400" b="1">
                <a:solidFill>
                  <a:srgbClr val="1c1a22"/>
                </a:solidFill>
                <a:latin typeface="Pretendard"/>
                <a:ea typeface="Pretendard"/>
                <a:cs typeface="Pretendard"/>
              </a:rPr>
              <a:t>  반복 거래 · 취소 고객</a:t>
            </a:r>
            <a:endParaRPr sz="2400" b="1">
              <a:solidFill>
                <a:srgbClr val="1c1a22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2743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900" b="0">
                <a:solidFill>
                  <a:srgbClr val="8c889a"/>
                </a:solidFill>
                <a:latin typeface="Pretendard SemiBold"/>
                <a:ea typeface="Pretendard SemiBold"/>
                <a:cs typeface="Pretendard SemiBold"/>
              </a:rPr>
              <a:t>KKeeper</a:t>
            </a:r>
            <a:endParaRPr sz="900" b="0">
              <a:solidFill>
                <a:srgbClr val="8c889a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25912" y="6400800"/>
            <a:ext cx="914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defRPr/>
            </a:pPr>
            <a:r>
              <a:rPr sz="900" b="0">
                <a:solidFill>
                  <a:srgbClr val="8c889a"/>
                </a:solidFill>
                <a:latin typeface="Pretendard Medium"/>
                <a:ea typeface="Pretendard Medium"/>
                <a:cs typeface="Pretendard Medium"/>
              </a:rPr>
              <a:t>26</a:t>
            </a:r>
            <a:endParaRPr sz="900" b="0">
              <a:solidFill>
                <a:srgbClr val="8c889a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3108960" cy="4206240"/>
          </a:xfrm>
          <a:prstGeom prst="roundRect">
            <a:avLst>
              <a:gd name="adj" fmla="val 4705"/>
            </a:avLst>
          </a:prstGeom>
          <a:solidFill>
            <a:srgbClr val="f8e9f1"/>
          </a:solidFill>
          <a:ln>
            <a:noFill/>
          </a:ln>
          <a:effectLst/>
        </p:spPr>
        <p:txBody>
          <a:bodyPr lIns="0" tIns="0" rIns="0" bIns="0"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868680" y="2103120"/>
            <a:ext cx="25603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100" b="0">
                <a:solidFill>
                  <a:srgbClr val="5f5b6b"/>
                </a:solidFill>
                <a:latin typeface="Pretendard Medium"/>
                <a:ea typeface="Pretendard Medium"/>
                <a:cs typeface="Pretendard Medium"/>
              </a:rPr>
              <a:t>고객 수</a:t>
            </a:r>
            <a:endParaRPr sz="1100" b="0">
              <a:solidFill>
                <a:srgbClr val="5f5b6b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68680" y="2377440"/>
            <a:ext cx="2560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2600" b="1">
                <a:solidFill>
                  <a:srgbClr val="a0507a"/>
                </a:solidFill>
                <a:latin typeface="Pretendard"/>
                <a:ea typeface="Pretendard"/>
                <a:cs typeface="Pretendard"/>
              </a:rPr>
              <a:t>681</a:t>
            </a:r>
            <a:r>
              <a:rPr sz="1300" b="0">
                <a:solidFill>
                  <a:srgbClr val="a0507a"/>
                </a:solidFill>
                <a:latin typeface="Pretendard SemiBold"/>
                <a:ea typeface="Pretendard SemiBold"/>
                <a:cs typeface="Pretendard SemiBold"/>
              </a:rPr>
              <a:t> 명</a:t>
            </a:r>
            <a:endParaRPr sz="1300" b="0">
              <a:solidFill>
                <a:srgbClr val="a0507a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68680" y="2926080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150" b="0">
                <a:solidFill>
                  <a:srgbClr val="3e3b47"/>
                </a:solidFill>
                <a:latin typeface="Pretendard Medium"/>
                <a:ea typeface="Pretendard Medium"/>
                <a:cs typeface="Pretendard Medium"/>
              </a:rPr>
              <a:t>위험 고객의 10.2%</a:t>
            </a:r>
            <a:endParaRPr sz="1150" b="0">
              <a:solidFill>
                <a:srgbClr val="3e3b47"/>
              </a:solidFill>
              <a:latin typeface="Pretendard Medium"/>
              <a:ea typeface="Pretendard Medium"/>
              <a:cs typeface="Pretendard Medium"/>
            </a:endParaRPr>
          </a:p>
        </p:txBody>
      </p:sp>
      <p:cxnSp>
        <p:nvCxnSpPr>
          <p:cNvPr id="10" name="Connector 9"/>
          <p:cNvCxnSpPr/>
          <p:nvPr/>
        </p:nvCxnSpPr>
        <p:spPr>
          <a:xfrm>
            <a:off x="868680" y="3566160"/>
            <a:ext cx="2468880" cy="0"/>
          </a:xfrm>
          <a:prstGeom prst="line">
            <a:avLst/>
          </a:prstGeom>
          <a:ln w="12700">
            <a:solidFill>
              <a:srgbClr val="ffffff"/>
            </a:solidFill>
          </a:ln>
        </p:spPr>
      </p:cxnSp>
      <p:sp>
        <p:nvSpPr>
          <p:cNvPr id="11" name="TextBox 10"/>
          <p:cNvSpPr txBox="1"/>
          <p:nvPr/>
        </p:nvSpPr>
        <p:spPr>
          <a:xfrm>
            <a:off x="868680" y="3566160"/>
            <a:ext cx="13716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/>
            </a:pPr>
            <a:r>
              <a:rPr sz="1200" b="0">
                <a:solidFill>
                  <a:srgbClr val="3e3b47"/>
                </a:solidFill>
                <a:latin typeface="Pretendard Medium"/>
                <a:ea typeface="Pretendard Medium"/>
                <a:cs typeface="Pretendard Medium"/>
              </a:rPr>
              <a:t>평균 위험</a:t>
            </a:r>
            <a:endParaRPr sz="1200" b="0">
              <a:solidFill>
                <a:srgbClr val="3e3b47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011680" y="3566160"/>
            <a:ext cx="13258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defRPr/>
            </a:pPr>
            <a:r>
              <a:rPr sz="1500" b="1">
                <a:solidFill>
                  <a:srgbClr val="a0507a"/>
                </a:solidFill>
                <a:latin typeface="Pretendard"/>
                <a:ea typeface="Pretendard"/>
                <a:cs typeface="Pretendard"/>
              </a:rPr>
              <a:t>73.7%</a:t>
            </a:r>
            <a:endParaRPr sz="1500" b="1">
              <a:solidFill>
                <a:srgbClr val="a0507a"/>
              </a:solidFill>
              <a:latin typeface="Pretendard"/>
              <a:ea typeface="Pretendard"/>
              <a:cs typeface="Pretendard"/>
            </a:endParaRPr>
          </a:p>
        </p:txBody>
      </p:sp>
      <p:cxnSp>
        <p:nvCxnSpPr>
          <p:cNvPr id="13" name="Connector 12"/>
          <p:cNvCxnSpPr/>
          <p:nvPr/>
        </p:nvCxnSpPr>
        <p:spPr>
          <a:xfrm>
            <a:off x="868680" y="4133087"/>
            <a:ext cx="2468880" cy="0"/>
          </a:xfrm>
          <a:prstGeom prst="line">
            <a:avLst/>
          </a:prstGeom>
          <a:ln w="12700">
            <a:solidFill>
              <a:srgbClr val="ffffff"/>
            </a:solidFill>
          </a:ln>
        </p:spPr>
      </p:cxnSp>
      <p:sp>
        <p:nvSpPr>
          <p:cNvPr id="14" name="TextBox 13"/>
          <p:cNvSpPr txBox="1"/>
          <p:nvPr/>
        </p:nvSpPr>
        <p:spPr>
          <a:xfrm>
            <a:off x="868680" y="4133087"/>
            <a:ext cx="13716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/>
            </a:pPr>
            <a:r>
              <a:rPr sz="1200" b="0">
                <a:solidFill>
                  <a:srgbClr val="3e3b47"/>
                </a:solidFill>
                <a:latin typeface="Pretendard Medium"/>
                <a:ea typeface="Pretendard Medium"/>
                <a:cs typeface="Pretendard Medium"/>
              </a:rPr>
              <a:t>실제 이탈</a:t>
            </a:r>
            <a:endParaRPr sz="1200" b="0">
              <a:solidFill>
                <a:srgbClr val="3e3b47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011680" y="4133087"/>
            <a:ext cx="13258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defRPr/>
            </a:pPr>
            <a:r>
              <a:rPr sz="1500" b="1">
                <a:solidFill>
                  <a:srgbClr val="a0507a"/>
                </a:solidFill>
                <a:latin typeface="Pretendard"/>
                <a:ea typeface="Pretendard"/>
                <a:cs typeface="Pretendard"/>
              </a:rPr>
              <a:t>75.8%</a:t>
            </a:r>
            <a:endParaRPr sz="1500" b="1">
              <a:solidFill>
                <a:srgbClr val="a0507a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68680" y="4937760"/>
            <a:ext cx="25603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100" b="0">
                <a:solidFill>
                  <a:srgbClr val="5f5b6b"/>
                </a:solidFill>
                <a:latin typeface="Pretendard Medium"/>
                <a:ea typeface="Pretendard Medium"/>
                <a:cs typeface="Pretendard Medium"/>
              </a:rPr>
              <a:t>추천 전략</a:t>
            </a:r>
            <a:endParaRPr sz="1100" b="0">
              <a:solidFill>
                <a:srgbClr val="5f5b6b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68680" y="521208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400" b="1">
                <a:solidFill>
                  <a:srgbClr val="a0507a"/>
                </a:solidFill>
                <a:latin typeface="Pretendard"/>
                <a:ea typeface="Pretendard"/>
                <a:cs typeface="Pretendard"/>
              </a:rPr>
              <a:t>취소 시점 방어</a:t>
            </a:r>
            <a:endParaRPr sz="1400" b="1">
              <a:solidFill>
                <a:srgbClr val="a0507a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3886200" y="1828800"/>
            <a:ext cx="7754112" cy="4206240"/>
          </a:xfrm>
          <a:prstGeom prst="roundRect">
            <a:avLst>
              <a:gd name="adj" fmla="val 3043"/>
            </a:avLst>
          </a:prstGeom>
          <a:solidFill>
            <a:srgbClr val="ffffff"/>
          </a:solidFill>
          <a:ln w="9525">
            <a:solidFill>
              <a:srgbClr val="e6e2ee"/>
            </a:solidFill>
          </a:ln>
          <a:effectLst/>
        </p:spPr>
        <p:txBody>
          <a:bodyPr lIns="0" tIns="0" rIns="0" bIns="0"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3886200" y="15544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150" b="0">
                <a:solidFill>
                  <a:srgbClr val="1c1a22"/>
                </a:solidFill>
                <a:latin typeface="Pretendard SemiBold"/>
                <a:ea typeface="Pretendard SemiBold"/>
                <a:cs typeface="Pretendard SemiBold"/>
              </a:rPr>
              <a:t>유형별 평균 |SHAP| Top 10</a:t>
            </a:r>
            <a:endParaRPr sz="1150" b="0">
              <a:solidFill>
                <a:srgbClr val="1c1a2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pic>
        <p:nvPicPr>
          <p:cNvPr id="20" name="Picture 19" descr="image35_hq.pn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530674" y="1950039"/>
            <a:ext cx="6465163" cy="396376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a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5720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100" b="1">
                <a:solidFill>
                  <a:srgbClr val="6e4fcb"/>
                </a:solidFill>
                <a:latin typeface="Pretendard"/>
                <a:ea typeface="Pretendard"/>
                <a:cs typeface="Pretendard"/>
              </a:rPr>
              <a:t>07</a:t>
            </a:r>
            <a:r>
              <a:rPr sz="1100" b="0">
                <a:solidFill>
                  <a:srgbClr val="8c889a"/>
                </a:solidFill>
                <a:latin typeface="Pretendard Medium"/>
                <a:ea typeface="Pretendard Medium"/>
                <a:cs typeface="Pretendard Medium"/>
              </a:rPr>
              <a:t>   대표 고객 페르소나</a:t>
            </a:r>
            <a:endParaRPr sz="1100" b="0">
              <a:solidFill>
                <a:srgbClr val="8c889a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/>
            </a:pPr>
            <a:r>
              <a:rPr sz="2400" b="1">
                <a:solidFill>
                  <a:srgbClr val="a0507a"/>
                </a:solidFill>
                <a:latin typeface="Pretendard"/>
                <a:ea typeface="Pretendard"/>
                <a:cs typeface="Pretendard"/>
              </a:rPr>
              <a:t>Cluster 1</a:t>
            </a:r>
            <a:r>
              <a:rPr sz="2400" b="1">
                <a:solidFill>
                  <a:srgbClr val="1c1a22"/>
                </a:solidFill>
                <a:latin typeface="Pretendard"/>
                <a:ea typeface="Pretendard"/>
                <a:cs typeface="Pretendard"/>
              </a:rPr>
              <a:t>  대표 고객 위험 요인</a:t>
            </a:r>
            <a:endParaRPr sz="2400" b="1">
              <a:solidFill>
                <a:srgbClr val="1c1a22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2743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900" b="0">
                <a:solidFill>
                  <a:srgbClr val="8c889a"/>
                </a:solidFill>
                <a:latin typeface="Pretendard SemiBold"/>
                <a:ea typeface="Pretendard SemiBold"/>
                <a:cs typeface="Pretendard SemiBold"/>
              </a:rPr>
              <a:t>KKeeper</a:t>
            </a:r>
            <a:endParaRPr sz="900" b="0">
              <a:solidFill>
                <a:srgbClr val="8c889a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25912" y="6400800"/>
            <a:ext cx="914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defRPr/>
            </a:pPr>
            <a:r>
              <a:rPr sz="900" b="0">
                <a:solidFill>
                  <a:srgbClr val="8c889a"/>
                </a:solidFill>
                <a:latin typeface="Pretendard Medium"/>
                <a:ea typeface="Pretendard Medium"/>
                <a:cs typeface="Pretendard Medium"/>
              </a:rPr>
              <a:t>27</a:t>
            </a:r>
            <a:endParaRPr sz="900" b="0">
              <a:solidFill>
                <a:srgbClr val="8c889a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760720" cy="4206240"/>
          </a:xfrm>
          <a:prstGeom prst="roundRect">
            <a:avLst>
              <a:gd name="adj" fmla="val 3043"/>
            </a:avLst>
          </a:prstGeom>
          <a:solidFill>
            <a:srgbClr val="ffffff"/>
          </a:solidFill>
          <a:ln w="9525">
            <a:solidFill>
              <a:srgbClr val="e6e2ee"/>
            </a:solidFill>
          </a:ln>
          <a:effectLst/>
        </p:spPr>
        <p:txBody>
          <a:bodyPr lIns="0" tIns="0" rIns="0" bIns="0"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150" b="0">
                <a:solidFill>
                  <a:srgbClr val="1c1a22"/>
                </a:solidFill>
                <a:latin typeface="Pretendard SemiBold"/>
                <a:ea typeface="Pretendard SemiBold"/>
                <a:cs typeface="Pretendard SemiBold"/>
              </a:rPr>
              <a:t>개별 Waterfall Plot</a:t>
            </a:r>
            <a:endParaRPr sz="1150" b="0">
              <a:solidFill>
                <a:srgbClr val="1c1a2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pic>
        <p:nvPicPr>
          <p:cNvPr id="8" name="Picture 7" descr="wf36_hq.pn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27961" y="1931145"/>
            <a:ext cx="4802077" cy="4001548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537960" y="1828800"/>
            <a:ext cx="5102352" cy="2697480"/>
          </a:xfrm>
          <a:prstGeom prst="roundRect">
            <a:avLst>
              <a:gd name="adj" fmla="val 4745"/>
            </a:avLst>
          </a:prstGeom>
          <a:solidFill>
            <a:srgbClr val="ffffff"/>
          </a:solidFill>
          <a:ln w="9525">
            <a:solidFill>
              <a:srgbClr val="e6e2ee"/>
            </a:solidFill>
          </a:ln>
          <a:effectLst/>
        </p:spPr>
        <p:txBody>
          <a:bodyPr lIns="0" tIns="0" rIns="0" bIns="0"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6858000" y="2057400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100" b="0">
                <a:solidFill>
                  <a:srgbClr val="5f5b6b"/>
                </a:solidFill>
                <a:latin typeface="Pretendard Medium"/>
                <a:ea typeface="Pretendard Medium"/>
                <a:cs typeface="Pretendard Medium"/>
              </a:rPr>
              <a:t>이탈 확률</a:t>
            </a:r>
            <a:endParaRPr sz="1100" b="0">
              <a:solidFill>
                <a:srgbClr val="5f5b6b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858000" y="2286000"/>
            <a:ext cx="22860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2600" b="1">
                <a:solidFill>
                  <a:srgbClr val="a0507a"/>
                </a:solidFill>
                <a:latin typeface="Pretendard"/>
                <a:ea typeface="Pretendard"/>
                <a:cs typeface="Pretendard"/>
              </a:rPr>
              <a:t>70.6%</a:t>
            </a:r>
            <a:endParaRPr sz="2600" b="1">
              <a:solidFill>
                <a:srgbClr val="a0507a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10012680" y="2194560"/>
            <a:ext cx="1325880" cy="292608"/>
          </a:xfrm>
          <a:prstGeom prst="roundRect">
            <a:avLst>
              <a:gd name="adj" fmla="val 50000"/>
            </a:avLst>
          </a:prstGeom>
          <a:solidFill>
            <a:srgbClr val="f8e9f1"/>
          </a:solidFill>
          <a:ln>
            <a:noFill/>
          </a:ln>
          <a:effectLst/>
        </p:spPr>
        <p:txBody>
          <a:bodyPr wrap="square" lIns="0" tIns="0" rIns="0" bIns="0" anchor="ctr"/>
          <a:lstStyle/>
          <a:p>
            <a:pPr algn="ctr">
              <a:defRPr/>
            </a:pPr>
            <a:r>
              <a:rPr sz="1000" b="0">
                <a:solidFill>
                  <a:srgbClr val="a0507a"/>
                </a:solidFill>
                <a:latin typeface="Pretendard SemiBold"/>
                <a:ea typeface="Pretendard SemiBold"/>
                <a:cs typeface="Pretendard SemiBold"/>
              </a:rPr>
              <a:t>실제 이탈 1</a:t>
            </a:r>
            <a:endParaRPr sz="1000" b="0">
              <a:solidFill>
                <a:srgbClr val="a0507a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858000" y="2880360"/>
            <a:ext cx="44805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100" b="0">
                <a:solidFill>
                  <a:srgbClr val="5f5b6b"/>
                </a:solidFill>
                <a:latin typeface="Pretendard Medium"/>
                <a:ea typeface="Pretendard Medium"/>
                <a:cs typeface="Pretendard Medium"/>
              </a:rPr>
              <a:t>주요 SHAP 요인</a:t>
            </a:r>
            <a:endParaRPr sz="1100" b="0">
              <a:solidFill>
                <a:srgbClr val="5f5b6b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858000" y="3154680"/>
            <a:ext cx="35661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/>
            </a:pPr>
            <a:r>
              <a:rPr sz="1150" b="0">
                <a:solidFill>
                  <a:srgbClr val="1c1a22"/>
                </a:solidFill>
                <a:latin typeface="Pretendard Medium"/>
                <a:ea typeface="Pretendard Medium"/>
                <a:cs typeface="Pretendard Medium"/>
              </a:rPr>
              <a:t>last_is_cancel = 1</a:t>
            </a:r>
            <a:endParaRPr sz="1150" b="0">
              <a:solidFill>
                <a:srgbClr val="1c1a22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332720" y="3154680"/>
            <a:ext cx="10058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defRPr/>
            </a:pPr>
            <a:r>
              <a:rPr sz="1150" b="0">
                <a:solidFill>
                  <a:srgbClr val="c2185b"/>
                </a:solidFill>
                <a:latin typeface="Pretendard SemiBold"/>
                <a:ea typeface="Pretendard SemiBold"/>
                <a:cs typeface="Pretendard SemiBold"/>
              </a:rPr>
              <a:t>+3.37</a:t>
            </a:r>
            <a:endParaRPr sz="1150" b="0">
              <a:solidFill>
                <a:srgbClr val="c2185b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858000" y="3483864"/>
            <a:ext cx="35661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/>
            </a:pPr>
            <a:r>
              <a:rPr sz="1150" b="0">
                <a:solidFill>
                  <a:srgbClr val="1c1a22"/>
                </a:solidFill>
                <a:latin typeface="Pretendard Medium"/>
                <a:ea typeface="Pretendard Medium"/>
                <a:cs typeface="Pretendard Medium"/>
              </a:rPr>
              <a:t>cancel_on_last_date = 1</a:t>
            </a:r>
            <a:endParaRPr sz="1150" b="0">
              <a:solidFill>
                <a:srgbClr val="1c1a22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332720" y="3483864"/>
            <a:ext cx="10058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defRPr/>
            </a:pPr>
            <a:r>
              <a:rPr sz="1150" b="0">
                <a:solidFill>
                  <a:srgbClr val="c2185b"/>
                </a:solidFill>
                <a:latin typeface="Pretendard SemiBold"/>
                <a:ea typeface="Pretendard SemiBold"/>
                <a:cs typeface="Pretendard SemiBold"/>
              </a:rPr>
              <a:t>+0.87</a:t>
            </a:r>
            <a:endParaRPr sz="1150" b="0">
              <a:solidFill>
                <a:srgbClr val="c2185b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858000" y="3813048"/>
            <a:ext cx="35661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/>
            </a:pPr>
            <a:r>
              <a:rPr sz="1150" b="0">
                <a:solidFill>
                  <a:srgbClr val="1c1a22"/>
                </a:solidFill>
                <a:latin typeface="Pretendard Medium"/>
                <a:ea typeface="Pretendard Medium"/>
                <a:cs typeface="Pretendard Medium"/>
              </a:rPr>
              <a:t>payment_per_plan_day = 4.74</a:t>
            </a:r>
            <a:endParaRPr sz="1150" b="0">
              <a:solidFill>
                <a:srgbClr val="1c1a22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332720" y="3813048"/>
            <a:ext cx="10058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defRPr/>
            </a:pPr>
            <a:r>
              <a:rPr sz="1150" b="0">
                <a:solidFill>
                  <a:srgbClr val="c2185b"/>
                </a:solidFill>
                <a:latin typeface="Pretendard SemiBold"/>
                <a:ea typeface="Pretendard SemiBold"/>
                <a:cs typeface="Pretendard SemiBold"/>
              </a:rPr>
              <a:t>+0.09</a:t>
            </a:r>
            <a:endParaRPr sz="1150" b="0">
              <a:solidFill>
                <a:srgbClr val="c2185b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858000" y="4160520"/>
            <a:ext cx="4480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050" b="0">
                <a:solidFill>
                  <a:srgbClr val="8c889a"/>
                </a:solidFill>
                <a:latin typeface="Pretendard Medium"/>
                <a:ea typeface="Pretendard Medium"/>
                <a:cs typeface="Pretendard Medium"/>
              </a:rPr>
              <a:t>최근 취소 행동 관련 변수가 압도적으로 크게 작용한 사례</a:t>
            </a:r>
            <a:endParaRPr sz="1050" b="0">
              <a:solidFill>
                <a:srgbClr val="8c889a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537960" y="4709160"/>
            <a:ext cx="5102352" cy="1325880"/>
          </a:xfrm>
          <a:prstGeom prst="roundRect">
            <a:avLst>
              <a:gd name="adj" fmla="val 9655"/>
            </a:avLst>
          </a:prstGeom>
          <a:solidFill>
            <a:srgbClr val="f8e9f1"/>
          </a:solidFill>
          <a:ln>
            <a:noFill/>
          </a:ln>
          <a:effectLst/>
        </p:spPr>
        <p:txBody>
          <a:bodyPr lIns="0" tIns="0" rIns="0" bIns="0"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2" name="TextBox 21"/>
          <p:cNvSpPr txBox="1"/>
          <p:nvPr/>
        </p:nvSpPr>
        <p:spPr>
          <a:xfrm>
            <a:off x="6858000" y="489204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100" b="0">
                <a:solidFill>
                  <a:srgbClr val="a0507a"/>
                </a:solidFill>
                <a:latin typeface="Pretendard SemiBold"/>
                <a:ea typeface="Pretendard SemiBold"/>
                <a:cs typeface="Pretendard SemiBold"/>
              </a:rPr>
              <a:t>마케팅 전략</a:t>
            </a:r>
            <a:endParaRPr sz="1100" b="0">
              <a:solidFill>
                <a:srgbClr val="a0507a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858000" y="5212080"/>
            <a:ext cx="45262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defRPr/>
            </a:pPr>
            <a:r>
              <a:rPr sz="1400" b="0">
                <a:solidFill>
                  <a:srgbClr val="1c1a22"/>
                </a:solidFill>
                <a:latin typeface="Pretendard SemiBold"/>
                <a:ea typeface="Pretendard SemiBold"/>
                <a:cs typeface="Pretendard SemiBold"/>
              </a:rPr>
              <a:t>취소 시점에 직접 개입하는 이탈 방어</a:t>
            </a:r>
            <a:endParaRPr sz="1400" b="0">
              <a:solidFill>
                <a:srgbClr val="1c1a22"/>
              </a:solidFill>
              <a:latin typeface="Pretendard SemiBold"/>
              <a:ea typeface="Pretendard SemiBold"/>
              <a:cs typeface="Pretendard SemiBold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a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5720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100" b="1">
                <a:solidFill>
                  <a:srgbClr val="6e4fcb"/>
                </a:solidFill>
                <a:latin typeface="Pretendard"/>
                <a:ea typeface="Pretendard"/>
                <a:cs typeface="Pretendard"/>
              </a:rPr>
              <a:t>07</a:t>
            </a:r>
            <a:r>
              <a:rPr sz="1100" b="0">
                <a:solidFill>
                  <a:srgbClr val="8c889a"/>
                </a:solidFill>
                <a:latin typeface="Pretendard Medium"/>
                <a:ea typeface="Pretendard Medium"/>
                <a:cs typeface="Pretendard Medium"/>
              </a:rPr>
              <a:t>   유형별 SHAP</a:t>
            </a:r>
            <a:endParaRPr sz="1100" b="0">
              <a:solidFill>
                <a:srgbClr val="8c889a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/>
            </a:pPr>
            <a:r>
              <a:rPr sz="2400" b="1">
                <a:solidFill>
                  <a:srgbClr val="3f7f5a"/>
                </a:solidFill>
                <a:latin typeface="Pretendard"/>
                <a:ea typeface="Pretendard"/>
                <a:cs typeface="Pretendard"/>
              </a:rPr>
              <a:t>Cluster 2</a:t>
            </a:r>
            <a:r>
              <a:rPr sz="2400" b="1">
                <a:solidFill>
                  <a:srgbClr val="1c1a22"/>
                </a:solidFill>
                <a:latin typeface="Pretendard"/>
                <a:ea typeface="Pretendard"/>
                <a:cs typeface="Pretendard"/>
              </a:rPr>
              <a:t>  장기 플랜 · 고결제 고객</a:t>
            </a:r>
            <a:endParaRPr sz="2400" b="1">
              <a:solidFill>
                <a:srgbClr val="1c1a22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2743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900" b="0">
                <a:solidFill>
                  <a:srgbClr val="8c889a"/>
                </a:solidFill>
                <a:latin typeface="Pretendard SemiBold"/>
                <a:ea typeface="Pretendard SemiBold"/>
                <a:cs typeface="Pretendard SemiBold"/>
              </a:rPr>
              <a:t>KKeeper</a:t>
            </a:r>
            <a:endParaRPr sz="900" b="0">
              <a:solidFill>
                <a:srgbClr val="8c889a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25912" y="6400800"/>
            <a:ext cx="914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defRPr/>
            </a:pPr>
            <a:r>
              <a:rPr sz="900" b="0">
                <a:solidFill>
                  <a:srgbClr val="8c889a"/>
                </a:solidFill>
                <a:latin typeface="Pretendard Medium"/>
                <a:ea typeface="Pretendard Medium"/>
                <a:cs typeface="Pretendard Medium"/>
              </a:rPr>
              <a:t>28</a:t>
            </a:r>
            <a:endParaRPr sz="900" b="0">
              <a:solidFill>
                <a:srgbClr val="8c889a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3108960" cy="4206240"/>
          </a:xfrm>
          <a:prstGeom prst="roundRect">
            <a:avLst>
              <a:gd name="adj" fmla="val 4705"/>
            </a:avLst>
          </a:prstGeom>
          <a:solidFill>
            <a:srgbClr val="e6f3ec"/>
          </a:solidFill>
          <a:ln>
            <a:noFill/>
          </a:ln>
          <a:effectLst/>
        </p:spPr>
        <p:txBody>
          <a:bodyPr lIns="0" tIns="0" rIns="0" bIns="0"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868680" y="2103120"/>
            <a:ext cx="25603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100" b="0">
                <a:solidFill>
                  <a:srgbClr val="5f5b6b"/>
                </a:solidFill>
                <a:latin typeface="Pretendard Medium"/>
                <a:ea typeface="Pretendard Medium"/>
                <a:cs typeface="Pretendard Medium"/>
              </a:rPr>
              <a:t>고객 수</a:t>
            </a:r>
            <a:endParaRPr sz="1100" b="0">
              <a:solidFill>
                <a:srgbClr val="5f5b6b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68680" y="2377440"/>
            <a:ext cx="2560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2600" b="1">
                <a:solidFill>
                  <a:srgbClr val="3f7f5a"/>
                </a:solidFill>
                <a:latin typeface="Pretendard"/>
                <a:ea typeface="Pretendard"/>
                <a:cs typeface="Pretendard"/>
              </a:rPr>
              <a:t>1,748</a:t>
            </a:r>
            <a:r>
              <a:rPr sz="1300" b="0">
                <a:solidFill>
                  <a:srgbClr val="3f7f5a"/>
                </a:solidFill>
                <a:latin typeface="Pretendard SemiBold"/>
                <a:ea typeface="Pretendard SemiBold"/>
                <a:cs typeface="Pretendard SemiBold"/>
              </a:rPr>
              <a:t> 명</a:t>
            </a:r>
            <a:endParaRPr sz="1300" b="0">
              <a:solidFill>
                <a:srgbClr val="3f7f5a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68680" y="2926080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150" b="0">
                <a:solidFill>
                  <a:srgbClr val="3e3b47"/>
                </a:solidFill>
                <a:latin typeface="Pretendard Medium"/>
                <a:ea typeface="Pretendard Medium"/>
                <a:cs typeface="Pretendard Medium"/>
              </a:rPr>
              <a:t>위험 고객의 26.1%</a:t>
            </a:r>
            <a:endParaRPr sz="1150" b="0">
              <a:solidFill>
                <a:srgbClr val="3e3b47"/>
              </a:solidFill>
              <a:latin typeface="Pretendard Medium"/>
              <a:ea typeface="Pretendard Medium"/>
              <a:cs typeface="Pretendard Medium"/>
            </a:endParaRPr>
          </a:p>
        </p:txBody>
      </p:sp>
      <p:cxnSp>
        <p:nvCxnSpPr>
          <p:cNvPr id="10" name="Connector 9"/>
          <p:cNvCxnSpPr/>
          <p:nvPr/>
        </p:nvCxnSpPr>
        <p:spPr>
          <a:xfrm>
            <a:off x="868680" y="3566160"/>
            <a:ext cx="2468880" cy="0"/>
          </a:xfrm>
          <a:prstGeom prst="line">
            <a:avLst/>
          </a:prstGeom>
          <a:ln w="12700">
            <a:solidFill>
              <a:srgbClr val="ffffff"/>
            </a:solidFill>
          </a:ln>
        </p:spPr>
      </p:cxnSp>
      <p:sp>
        <p:nvSpPr>
          <p:cNvPr id="11" name="TextBox 10"/>
          <p:cNvSpPr txBox="1"/>
          <p:nvPr/>
        </p:nvSpPr>
        <p:spPr>
          <a:xfrm>
            <a:off x="868680" y="3566160"/>
            <a:ext cx="13716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/>
            </a:pPr>
            <a:r>
              <a:rPr sz="1200" b="0">
                <a:solidFill>
                  <a:srgbClr val="3e3b47"/>
                </a:solidFill>
                <a:latin typeface="Pretendard Medium"/>
                <a:ea typeface="Pretendard Medium"/>
                <a:cs typeface="Pretendard Medium"/>
              </a:rPr>
              <a:t>평균 위험</a:t>
            </a:r>
            <a:endParaRPr sz="1200" b="0">
              <a:solidFill>
                <a:srgbClr val="3e3b47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011680" y="3566160"/>
            <a:ext cx="13258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defRPr/>
            </a:pPr>
            <a:r>
              <a:rPr sz="1500" b="1">
                <a:solidFill>
                  <a:srgbClr val="3f7f5a"/>
                </a:solidFill>
                <a:latin typeface="Pretendard"/>
                <a:ea typeface="Pretendard"/>
                <a:cs typeface="Pretendard"/>
              </a:rPr>
              <a:t>84.4%</a:t>
            </a:r>
            <a:endParaRPr sz="1500" b="1">
              <a:solidFill>
                <a:srgbClr val="3f7f5a"/>
              </a:solidFill>
              <a:latin typeface="Pretendard"/>
              <a:ea typeface="Pretendard"/>
              <a:cs typeface="Pretendard"/>
            </a:endParaRPr>
          </a:p>
        </p:txBody>
      </p:sp>
      <p:cxnSp>
        <p:nvCxnSpPr>
          <p:cNvPr id="13" name="Connector 12"/>
          <p:cNvCxnSpPr/>
          <p:nvPr/>
        </p:nvCxnSpPr>
        <p:spPr>
          <a:xfrm>
            <a:off x="868680" y="4133087"/>
            <a:ext cx="2468880" cy="0"/>
          </a:xfrm>
          <a:prstGeom prst="line">
            <a:avLst/>
          </a:prstGeom>
          <a:ln w="12700">
            <a:solidFill>
              <a:srgbClr val="ffffff"/>
            </a:solidFill>
          </a:ln>
        </p:spPr>
      </p:cxnSp>
      <p:sp>
        <p:nvSpPr>
          <p:cNvPr id="14" name="TextBox 13"/>
          <p:cNvSpPr txBox="1"/>
          <p:nvPr/>
        </p:nvSpPr>
        <p:spPr>
          <a:xfrm>
            <a:off x="868680" y="4133087"/>
            <a:ext cx="13716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/>
            </a:pPr>
            <a:r>
              <a:rPr sz="1200" b="0">
                <a:solidFill>
                  <a:srgbClr val="3e3b47"/>
                </a:solidFill>
                <a:latin typeface="Pretendard Medium"/>
                <a:ea typeface="Pretendard Medium"/>
                <a:cs typeface="Pretendard Medium"/>
              </a:rPr>
              <a:t>실제 이탈</a:t>
            </a:r>
            <a:endParaRPr sz="1200" b="0">
              <a:solidFill>
                <a:srgbClr val="3e3b47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011680" y="4133087"/>
            <a:ext cx="13258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defRPr/>
            </a:pPr>
            <a:r>
              <a:rPr sz="1500" b="1">
                <a:solidFill>
                  <a:srgbClr val="3f7f5a"/>
                </a:solidFill>
                <a:latin typeface="Pretendard"/>
                <a:ea typeface="Pretendard"/>
                <a:cs typeface="Pretendard"/>
              </a:rPr>
              <a:t>86.3%</a:t>
            </a:r>
            <a:endParaRPr sz="1500" b="1">
              <a:solidFill>
                <a:srgbClr val="3f7f5a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68680" y="4937760"/>
            <a:ext cx="25603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100" b="0">
                <a:solidFill>
                  <a:srgbClr val="5f5b6b"/>
                </a:solidFill>
                <a:latin typeface="Pretendard Medium"/>
                <a:ea typeface="Pretendard Medium"/>
                <a:cs typeface="Pretendard Medium"/>
              </a:rPr>
              <a:t>추천 전략</a:t>
            </a:r>
            <a:endParaRPr sz="1100" b="0">
              <a:solidFill>
                <a:srgbClr val="5f5b6b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68680" y="521208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400" b="1">
                <a:solidFill>
                  <a:srgbClr val="3f7f5a"/>
                </a:solidFill>
                <a:latin typeface="Pretendard"/>
                <a:ea typeface="Pretendard"/>
                <a:cs typeface="Pretendard"/>
              </a:rPr>
              <a:t>고가치 고객 선제 유지</a:t>
            </a:r>
            <a:endParaRPr sz="1400" b="1">
              <a:solidFill>
                <a:srgbClr val="3f7f5a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3886200" y="1828800"/>
            <a:ext cx="7754112" cy="4206240"/>
          </a:xfrm>
          <a:prstGeom prst="roundRect">
            <a:avLst>
              <a:gd name="adj" fmla="val 3043"/>
            </a:avLst>
          </a:prstGeom>
          <a:solidFill>
            <a:srgbClr val="ffffff"/>
          </a:solidFill>
          <a:ln w="9525">
            <a:solidFill>
              <a:srgbClr val="e6e2ee"/>
            </a:solidFill>
          </a:ln>
          <a:effectLst/>
        </p:spPr>
        <p:txBody>
          <a:bodyPr lIns="0" tIns="0" rIns="0" bIns="0"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3886200" y="15544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150" b="0">
                <a:solidFill>
                  <a:srgbClr val="1c1a22"/>
                </a:solidFill>
                <a:latin typeface="Pretendard SemiBold"/>
                <a:ea typeface="Pretendard SemiBold"/>
                <a:cs typeface="Pretendard SemiBold"/>
              </a:rPr>
              <a:t>유형별 평균 |SHAP| Top 10</a:t>
            </a:r>
            <a:endParaRPr sz="1150" b="0">
              <a:solidFill>
                <a:srgbClr val="1c1a2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pic>
        <p:nvPicPr>
          <p:cNvPr id="20" name="Picture 19" descr="image37_hq.png"/>
          <p:cNvPicPr>
            <a:picLocks noChangeAspect="1"/>
          </p:cNvPicPr>
          <p:nvPr/>
        </p:nvPicPr>
        <p:blipFill rotWithShape="1">
          <a:blip r:embed="rId2"/>
          <a:srcRect t="3130"/>
          <a:stretch>
            <a:fillRect/>
          </a:stretch>
        </p:blipFill>
        <p:spPr>
          <a:xfrm>
            <a:off x="4604048" y="1977920"/>
            <a:ext cx="6318414" cy="390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a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5720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100" b="1">
                <a:solidFill>
                  <a:srgbClr val="6e4fcb"/>
                </a:solidFill>
                <a:latin typeface="Pretendard"/>
                <a:ea typeface="Pretendard"/>
                <a:cs typeface="Pretendard"/>
              </a:rPr>
              <a:t>07</a:t>
            </a:r>
            <a:r>
              <a:rPr sz="1100" b="0">
                <a:solidFill>
                  <a:srgbClr val="8c889a"/>
                </a:solidFill>
                <a:latin typeface="Pretendard Medium"/>
                <a:ea typeface="Pretendard Medium"/>
                <a:cs typeface="Pretendard Medium"/>
              </a:rPr>
              <a:t>   대표 고객 페르소나</a:t>
            </a:r>
            <a:endParaRPr sz="1100" b="0">
              <a:solidFill>
                <a:srgbClr val="8c889a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/>
            </a:pPr>
            <a:r>
              <a:rPr sz="2400" b="1">
                <a:solidFill>
                  <a:srgbClr val="3f7f5a"/>
                </a:solidFill>
                <a:latin typeface="Pretendard"/>
                <a:ea typeface="Pretendard"/>
                <a:cs typeface="Pretendard"/>
              </a:rPr>
              <a:t>Cluster 2</a:t>
            </a:r>
            <a:r>
              <a:rPr sz="2400" b="1">
                <a:solidFill>
                  <a:srgbClr val="1c1a22"/>
                </a:solidFill>
                <a:latin typeface="Pretendard"/>
                <a:ea typeface="Pretendard"/>
                <a:cs typeface="Pretendard"/>
              </a:rPr>
              <a:t>  대표 고객 위험 요인</a:t>
            </a:r>
            <a:endParaRPr sz="2400" b="1">
              <a:solidFill>
                <a:srgbClr val="1c1a22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2743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900" b="0">
                <a:solidFill>
                  <a:srgbClr val="8c889a"/>
                </a:solidFill>
                <a:latin typeface="Pretendard SemiBold"/>
                <a:ea typeface="Pretendard SemiBold"/>
                <a:cs typeface="Pretendard SemiBold"/>
              </a:rPr>
              <a:t>KKeeper</a:t>
            </a:r>
            <a:endParaRPr sz="900" b="0">
              <a:solidFill>
                <a:srgbClr val="8c889a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25912" y="6400800"/>
            <a:ext cx="914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defRPr/>
            </a:pPr>
            <a:r>
              <a:rPr sz="900" b="0">
                <a:solidFill>
                  <a:srgbClr val="8c889a"/>
                </a:solidFill>
                <a:latin typeface="Pretendard Medium"/>
                <a:ea typeface="Pretendard Medium"/>
                <a:cs typeface="Pretendard Medium"/>
              </a:rPr>
              <a:t>29</a:t>
            </a:r>
            <a:endParaRPr sz="900" b="0">
              <a:solidFill>
                <a:srgbClr val="8c889a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760720" cy="4206240"/>
          </a:xfrm>
          <a:prstGeom prst="roundRect">
            <a:avLst>
              <a:gd name="adj" fmla="val 3043"/>
            </a:avLst>
          </a:prstGeom>
          <a:solidFill>
            <a:srgbClr val="ffffff"/>
          </a:solidFill>
          <a:ln w="9525">
            <a:solidFill>
              <a:srgbClr val="e6e2ee"/>
            </a:solidFill>
          </a:ln>
          <a:effectLst/>
        </p:spPr>
        <p:txBody>
          <a:bodyPr lIns="0" tIns="0" rIns="0" bIns="0"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150" b="0">
                <a:solidFill>
                  <a:srgbClr val="1c1a22"/>
                </a:solidFill>
                <a:latin typeface="Pretendard SemiBold"/>
                <a:ea typeface="Pretendard SemiBold"/>
                <a:cs typeface="Pretendard SemiBold"/>
              </a:rPr>
              <a:t>개별 Waterfall Plot</a:t>
            </a:r>
            <a:endParaRPr sz="1150" b="0">
              <a:solidFill>
                <a:srgbClr val="1c1a2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pic>
        <p:nvPicPr>
          <p:cNvPr id="8" name="Picture 7" descr="wf38_hq.pn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06443" y="1943100"/>
            <a:ext cx="4845113" cy="39776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537960" y="1828800"/>
            <a:ext cx="5102352" cy="2697480"/>
          </a:xfrm>
          <a:prstGeom prst="roundRect">
            <a:avLst>
              <a:gd name="adj" fmla="val 4745"/>
            </a:avLst>
          </a:prstGeom>
          <a:solidFill>
            <a:srgbClr val="ffffff"/>
          </a:solidFill>
          <a:ln w="9525">
            <a:solidFill>
              <a:srgbClr val="e6e2ee"/>
            </a:solidFill>
          </a:ln>
          <a:effectLst/>
        </p:spPr>
        <p:txBody>
          <a:bodyPr lIns="0" tIns="0" rIns="0" bIns="0"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6858000" y="2057400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100" b="0">
                <a:solidFill>
                  <a:srgbClr val="5f5b6b"/>
                </a:solidFill>
                <a:latin typeface="Pretendard Medium"/>
                <a:ea typeface="Pretendard Medium"/>
                <a:cs typeface="Pretendard Medium"/>
              </a:rPr>
              <a:t>이탈 확률</a:t>
            </a:r>
            <a:endParaRPr sz="1100" b="0">
              <a:solidFill>
                <a:srgbClr val="5f5b6b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858000" y="2286000"/>
            <a:ext cx="22860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2600" b="1">
                <a:solidFill>
                  <a:srgbClr val="3f7f5a"/>
                </a:solidFill>
                <a:latin typeface="Pretendard"/>
                <a:ea typeface="Pretendard"/>
                <a:cs typeface="Pretendard"/>
              </a:rPr>
              <a:t>85.3%</a:t>
            </a:r>
            <a:endParaRPr sz="2600" b="1">
              <a:solidFill>
                <a:srgbClr val="3f7f5a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10012680" y="2194560"/>
            <a:ext cx="1325880" cy="292608"/>
          </a:xfrm>
          <a:prstGeom prst="roundRect">
            <a:avLst>
              <a:gd name="adj" fmla="val 50000"/>
            </a:avLst>
          </a:prstGeom>
          <a:solidFill>
            <a:srgbClr val="e6f3ec"/>
          </a:solidFill>
          <a:ln>
            <a:noFill/>
          </a:ln>
          <a:effectLst/>
        </p:spPr>
        <p:txBody>
          <a:bodyPr wrap="square" lIns="0" tIns="0" rIns="0" bIns="0" anchor="ctr"/>
          <a:lstStyle/>
          <a:p>
            <a:pPr algn="ctr">
              <a:defRPr/>
            </a:pPr>
            <a:r>
              <a:rPr sz="1000" b="0">
                <a:solidFill>
                  <a:srgbClr val="3f7f5a"/>
                </a:solidFill>
                <a:latin typeface="Pretendard SemiBold"/>
                <a:ea typeface="Pretendard SemiBold"/>
                <a:cs typeface="Pretendard SemiBold"/>
              </a:rPr>
              <a:t>실제 이탈 1</a:t>
            </a:r>
            <a:endParaRPr sz="1000" b="0">
              <a:solidFill>
                <a:srgbClr val="3f7f5a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858000" y="2880360"/>
            <a:ext cx="44805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100" b="0">
                <a:solidFill>
                  <a:srgbClr val="5f5b6b"/>
                </a:solidFill>
                <a:latin typeface="Pretendard Medium"/>
                <a:ea typeface="Pretendard Medium"/>
                <a:cs typeface="Pretendard Medium"/>
              </a:rPr>
              <a:t>주요 SHAP 요인</a:t>
            </a:r>
            <a:endParaRPr sz="1100" b="0">
              <a:solidFill>
                <a:srgbClr val="5f5b6b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858000" y="3154680"/>
            <a:ext cx="35661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/>
            </a:pPr>
            <a:r>
              <a:rPr sz="1150" b="0">
                <a:solidFill>
                  <a:srgbClr val="1c1a22"/>
                </a:solidFill>
                <a:latin typeface="Pretendard Medium"/>
                <a:ea typeface="Pretendard Medium"/>
                <a:cs typeface="Pretendard Medium"/>
              </a:rPr>
              <a:t>last_auto_renew = 0</a:t>
            </a:r>
            <a:endParaRPr sz="1150" b="0">
              <a:solidFill>
                <a:srgbClr val="1c1a22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332720" y="3154680"/>
            <a:ext cx="10058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defRPr/>
            </a:pPr>
            <a:r>
              <a:rPr sz="1150" b="0">
                <a:solidFill>
                  <a:srgbClr val="c2185b"/>
                </a:solidFill>
                <a:latin typeface="Pretendard SemiBold"/>
                <a:ea typeface="Pretendard SemiBold"/>
                <a:cs typeface="Pretendard SemiBold"/>
              </a:rPr>
              <a:t>+3.13</a:t>
            </a:r>
            <a:endParaRPr sz="1150" b="0">
              <a:solidFill>
                <a:srgbClr val="c2185b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858000" y="3483864"/>
            <a:ext cx="35661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/>
            </a:pPr>
            <a:r>
              <a:rPr sz="1150" b="0">
                <a:solidFill>
                  <a:srgbClr val="1c1a22"/>
                </a:solidFill>
                <a:latin typeface="Pretendard Medium"/>
                <a:ea typeface="Pretendard Medium"/>
                <a:cs typeface="Pretendard Medium"/>
              </a:rPr>
              <a:t>last_plan_days = 410</a:t>
            </a:r>
            <a:endParaRPr sz="1150" b="0">
              <a:solidFill>
                <a:srgbClr val="1c1a22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332720" y="3483864"/>
            <a:ext cx="10058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defRPr/>
            </a:pPr>
            <a:r>
              <a:rPr sz="1150" b="0">
                <a:solidFill>
                  <a:srgbClr val="c2185b"/>
                </a:solidFill>
                <a:latin typeface="Pretendard SemiBold"/>
                <a:ea typeface="Pretendard SemiBold"/>
                <a:cs typeface="Pretendard SemiBold"/>
              </a:rPr>
              <a:t>+1.06</a:t>
            </a:r>
            <a:endParaRPr sz="1150" b="0">
              <a:solidFill>
                <a:srgbClr val="c2185b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858000" y="3813048"/>
            <a:ext cx="35661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/>
            </a:pPr>
            <a:r>
              <a:rPr sz="1150" b="0">
                <a:solidFill>
                  <a:srgbClr val="1c1a22"/>
                </a:solidFill>
                <a:latin typeface="Pretendard Medium"/>
                <a:ea typeface="Pretendard Medium"/>
                <a:cs typeface="Pretendard Medium"/>
              </a:rPr>
              <a:t>avg_payment = 1788</a:t>
            </a:r>
            <a:endParaRPr sz="1150" b="0">
              <a:solidFill>
                <a:srgbClr val="1c1a22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332720" y="3813048"/>
            <a:ext cx="10058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defRPr/>
            </a:pPr>
            <a:r>
              <a:rPr sz="1150" b="0">
                <a:solidFill>
                  <a:srgbClr val="c2185b"/>
                </a:solidFill>
                <a:latin typeface="Pretendard SemiBold"/>
                <a:ea typeface="Pretendard SemiBold"/>
                <a:cs typeface="Pretendard SemiBold"/>
              </a:rPr>
              <a:t>+0.45</a:t>
            </a:r>
            <a:endParaRPr sz="1150" b="0">
              <a:solidFill>
                <a:srgbClr val="c2185b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858000" y="4160520"/>
            <a:ext cx="4480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050" b="0">
                <a:solidFill>
                  <a:srgbClr val="8c889a"/>
                </a:solidFill>
                <a:latin typeface="Pretendard Medium"/>
                <a:ea typeface="Pretendard Medium"/>
                <a:cs typeface="Pretendard Medium"/>
              </a:rPr>
              <a:t>자동갱신 해제 · 긴 플랜 기간 · 높은 결제금액이 함께 작용한 사례</a:t>
            </a:r>
            <a:endParaRPr sz="1050" b="0">
              <a:solidFill>
                <a:srgbClr val="8c889a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537960" y="4709160"/>
            <a:ext cx="5102352" cy="1325880"/>
          </a:xfrm>
          <a:prstGeom prst="roundRect">
            <a:avLst>
              <a:gd name="adj" fmla="val 9655"/>
            </a:avLst>
          </a:prstGeom>
          <a:solidFill>
            <a:srgbClr val="e6f3ec"/>
          </a:solidFill>
          <a:ln>
            <a:noFill/>
          </a:ln>
          <a:effectLst/>
        </p:spPr>
        <p:txBody>
          <a:bodyPr lIns="0" tIns="0" rIns="0" bIns="0"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2" name="TextBox 21"/>
          <p:cNvSpPr txBox="1"/>
          <p:nvPr/>
        </p:nvSpPr>
        <p:spPr>
          <a:xfrm>
            <a:off x="6858000" y="489204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100" b="0">
                <a:solidFill>
                  <a:srgbClr val="3f7f5a"/>
                </a:solidFill>
                <a:latin typeface="Pretendard SemiBold"/>
                <a:ea typeface="Pretendard SemiBold"/>
                <a:cs typeface="Pretendard SemiBold"/>
              </a:rPr>
              <a:t>마케팅 전략</a:t>
            </a:r>
            <a:endParaRPr sz="1100" b="0">
              <a:solidFill>
                <a:srgbClr val="3f7f5a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858000" y="5212080"/>
            <a:ext cx="45262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defRPr/>
            </a:pPr>
            <a:r>
              <a:rPr sz="1400" b="0">
                <a:solidFill>
                  <a:srgbClr val="1c1a22"/>
                </a:solidFill>
                <a:latin typeface="Pretendard SemiBold"/>
                <a:ea typeface="Pretendard SemiBold"/>
                <a:cs typeface="Pretendard SemiBold"/>
              </a:rPr>
              <a:t>VIP 혜택  ·  독점/선공개 콘텐츠</a:t>
            </a:r>
            <a:endParaRPr sz="1400" b="0">
              <a:solidFill>
                <a:srgbClr val="1c1a22"/>
              </a:solidFill>
              <a:latin typeface="Pretendard SemiBold"/>
              <a:ea typeface="Pretendard SemiBold"/>
              <a:cs typeface="Pretendard SemiBold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a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5720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100" b="1">
                <a:solidFill>
                  <a:srgbClr val="6e4fcb"/>
                </a:solidFill>
                <a:latin typeface="Pretendard"/>
                <a:ea typeface="Pretendard"/>
                <a:cs typeface="Pretendard"/>
              </a:rPr>
              <a:t>07</a:t>
            </a:r>
            <a:r>
              <a:rPr sz="1100" b="0">
                <a:solidFill>
                  <a:srgbClr val="8c889a"/>
                </a:solidFill>
                <a:latin typeface="Pretendard Medium"/>
                <a:ea typeface="Pretendard Medium"/>
                <a:cs typeface="Pretendard Medium"/>
              </a:rPr>
              <a:t>   유형별 SHAP</a:t>
            </a:r>
            <a:endParaRPr sz="1100" b="0">
              <a:solidFill>
                <a:srgbClr val="8c889a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/>
            </a:pPr>
            <a:r>
              <a:rPr sz="2400" b="1">
                <a:solidFill>
                  <a:srgbClr val="4a5f9e"/>
                </a:solidFill>
                <a:latin typeface="Pretendard"/>
                <a:ea typeface="Pretendard"/>
                <a:cs typeface="Pretendard"/>
              </a:rPr>
              <a:t>Cluster 3</a:t>
            </a:r>
            <a:r>
              <a:rPr sz="2400" b="1">
                <a:solidFill>
                  <a:srgbClr val="1c1a22"/>
                </a:solidFill>
                <a:latin typeface="Pretendard"/>
                <a:ea typeface="Pretendard"/>
                <a:cs typeface="Pretendard"/>
              </a:rPr>
              <a:t>  장기 관계 · 고빈도 고객</a:t>
            </a:r>
            <a:endParaRPr sz="2400" b="1">
              <a:solidFill>
                <a:srgbClr val="1c1a22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2743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900" b="0">
                <a:solidFill>
                  <a:srgbClr val="8c889a"/>
                </a:solidFill>
                <a:latin typeface="Pretendard SemiBold"/>
                <a:ea typeface="Pretendard SemiBold"/>
                <a:cs typeface="Pretendard SemiBold"/>
              </a:rPr>
              <a:t>KKeeper</a:t>
            </a:r>
            <a:endParaRPr sz="900" b="0">
              <a:solidFill>
                <a:srgbClr val="8c889a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25912" y="6400800"/>
            <a:ext cx="914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defRPr/>
            </a:pPr>
            <a:r>
              <a:rPr sz="900" b="0">
                <a:solidFill>
                  <a:srgbClr val="8c889a"/>
                </a:solidFill>
                <a:latin typeface="Pretendard Medium"/>
                <a:ea typeface="Pretendard Medium"/>
                <a:cs typeface="Pretendard Medium"/>
              </a:rPr>
              <a:t>30</a:t>
            </a:r>
            <a:endParaRPr sz="900" b="0">
              <a:solidFill>
                <a:srgbClr val="8c889a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3108960" cy="4206240"/>
          </a:xfrm>
          <a:prstGeom prst="roundRect">
            <a:avLst>
              <a:gd name="adj" fmla="val 4705"/>
            </a:avLst>
          </a:prstGeom>
          <a:solidFill>
            <a:srgbClr val="e8ecf7"/>
          </a:solidFill>
          <a:ln>
            <a:noFill/>
          </a:ln>
          <a:effectLst/>
        </p:spPr>
        <p:txBody>
          <a:bodyPr lIns="0" tIns="0" rIns="0" bIns="0"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868680" y="2103120"/>
            <a:ext cx="25603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100" b="0">
                <a:solidFill>
                  <a:srgbClr val="5f5b6b"/>
                </a:solidFill>
                <a:latin typeface="Pretendard Medium"/>
                <a:ea typeface="Pretendard Medium"/>
                <a:cs typeface="Pretendard Medium"/>
              </a:rPr>
              <a:t>고객 수</a:t>
            </a:r>
            <a:endParaRPr sz="1100" b="0">
              <a:solidFill>
                <a:srgbClr val="5f5b6b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68680" y="2377440"/>
            <a:ext cx="2560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2600" b="1">
                <a:solidFill>
                  <a:srgbClr val="4a5f9e"/>
                </a:solidFill>
                <a:latin typeface="Pretendard"/>
                <a:ea typeface="Pretendard"/>
                <a:cs typeface="Pretendard"/>
              </a:rPr>
              <a:t>830</a:t>
            </a:r>
            <a:r>
              <a:rPr sz="1300" b="0">
                <a:solidFill>
                  <a:srgbClr val="4a5f9e"/>
                </a:solidFill>
                <a:latin typeface="Pretendard SemiBold"/>
                <a:ea typeface="Pretendard SemiBold"/>
                <a:cs typeface="Pretendard SemiBold"/>
              </a:rPr>
              <a:t> 명</a:t>
            </a:r>
            <a:endParaRPr sz="1300" b="0">
              <a:solidFill>
                <a:srgbClr val="4a5f9e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68680" y="2926080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150" b="0">
                <a:solidFill>
                  <a:srgbClr val="3e3b47"/>
                </a:solidFill>
                <a:latin typeface="Pretendard Medium"/>
                <a:ea typeface="Pretendard Medium"/>
                <a:cs typeface="Pretendard Medium"/>
              </a:rPr>
              <a:t>위험 고객의 12.4%</a:t>
            </a:r>
            <a:endParaRPr sz="1150" b="0">
              <a:solidFill>
                <a:srgbClr val="3e3b47"/>
              </a:solidFill>
              <a:latin typeface="Pretendard Medium"/>
              <a:ea typeface="Pretendard Medium"/>
              <a:cs typeface="Pretendard Medium"/>
            </a:endParaRPr>
          </a:p>
        </p:txBody>
      </p:sp>
      <p:cxnSp>
        <p:nvCxnSpPr>
          <p:cNvPr id="10" name="Connector 9"/>
          <p:cNvCxnSpPr/>
          <p:nvPr/>
        </p:nvCxnSpPr>
        <p:spPr>
          <a:xfrm>
            <a:off x="868680" y="3566160"/>
            <a:ext cx="2468880" cy="0"/>
          </a:xfrm>
          <a:prstGeom prst="line">
            <a:avLst/>
          </a:prstGeom>
          <a:ln w="12700">
            <a:solidFill>
              <a:srgbClr val="ffffff"/>
            </a:solidFill>
          </a:ln>
        </p:spPr>
      </p:cxnSp>
      <p:sp>
        <p:nvSpPr>
          <p:cNvPr id="11" name="TextBox 10"/>
          <p:cNvSpPr txBox="1"/>
          <p:nvPr/>
        </p:nvSpPr>
        <p:spPr>
          <a:xfrm>
            <a:off x="868680" y="3566160"/>
            <a:ext cx="13716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/>
            </a:pPr>
            <a:r>
              <a:rPr sz="1200" b="0">
                <a:solidFill>
                  <a:srgbClr val="3e3b47"/>
                </a:solidFill>
                <a:latin typeface="Pretendard Medium"/>
                <a:ea typeface="Pretendard Medium"/>
                <a:cs typeface="Pretendard Medium"/>
              </a:rPr>
              <a:t>평균 위험</a:t>
            </a:r>
            <a:endParaRPr sz="1200" b="0">
              <a:solidFill>
                <a:srgbClr val="3e3b47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011680" y="3566160"/>
            <a:ext cx="13258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defRPr/>
            </a:pPr>
            <a:r>
              <a:rPr sz="1500" b="1">
                <a:solidFill>
                  <a:srgbClr val="4a5f9e"/>
                </a:solidFill>
                <a:latin typeface="Pretendard"/>
                <a:ea typeface="Pretendard"/>
                <a:cs typeface="Pretendard"/>
              </a:rPr>
              <a:t>57.0%</a:t>
            </a:r>
            <a:endParaRPr sz="1500" b="1">
              <a:solidFill>
                <a:srgbClr val="4a5f9e"/>
              </a:solidFill>
              <a:latin typeface="Pretendard"/>
              <a:ea typeface="Pretendard"/>
              <a:cs typeface="Pretendard"/>
            </a:endParaRPr>
          </a:p>
        </p:txBody>
      </p:sp>
      <p:cxnSp>
        <p:nvCxnSpPr>
          <p:cNvPr id="13" name="Connector 12"/>
          <p:cNvCxnSpPr/>
          <p:nvPr/>
        </p:nvCxnSpPr>
        <p:spPr>
          <a:xfrm>
            <a:off x="868680" y="4133087"/>
            <a:ext cx="2468880" cy="0"/>
          </a:xfrm>
          <a:prstGeom prst="line">
            <a:avLst/>
          </a:prstGeom>
          <a:ln w="12700">
            <a:solidFill>
              <a:srgbClr val="ffffff"/>
            </a:solidFill>
          </a:ln>
        </p:spPr>
      </p:cxnSp>
      <p:sp>
        <p:nvSpPr>
          <p:cNvPr id="14" name="TextBox 13"/>
          <p:cNvSpPr txBox="1"/>
          <p:nvPr/>
        </p:nvSpPr>
        <p:spPr>
          <a:xfrm>
            <a:off x="868680" y="4133087"/>
            <a:ext cx="13716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/>
            </a:pPr>
            <a:r>
              <a:rPr sz="1200" b="0">
                <a:solidFill>
                  <a:srgbClr val="3e3b47"/>
                </a:solidFill>
                <a:latin typeface="Pretendard Medium"/>
                <a:ea typeface="Pretendard Medium"/>
                <a:cs typeface="Pretendard Medium"/>
              </a:rPr>
              <a:t>실제 이탈</a:t>
            </a:r>
            <a:endParaRPr sz="1200" b="0">
              <a:solidFill>
                <a:srgbClr val="3e3b47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011680" y="4133087"/>
            <a:ext cx="13258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defRPr/>
            </a:pPr>
            <a:r>
              <a:rPr sz="1500" b="1">
                <a:solidFill>
                  <a:srgbClr val="4a5f9e"/>
                </a:solidFill>
                <a:latin typeface="Pretendard"/>
                <a:ea typeface="Pretendard"/>
                <a:cs typeface="Pretendard"/>
              </a:rPr>
              <a:t>63.7%</a:t>
            </a:r>
            <a:endParaRPr sz="1500" b="1">
              <a:solidFill>
                <a:srgbClr val="4a5f9e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68680" y="4937760"/>
            <a:ext cx="25603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100" b="0">
                <a:solidFill>
                  <a:srgbClr val="5f5b6b"/>
                </a:solidFill>
                <a:latin typeface="Pretendard Medium"/>
                <a:ea typeface="Pretendard Medium"/>
                <a:cs typeface="Pretendard Medium"/>
              </a:rPr>
              <a:t>추천 전략</a:t>
            </a:r>
            <a:endParaRPr sz="1100" b="0">
              <a:solidFill>
                <a:srgbClr val="5f5b6b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68680" y="521208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400" b="1">
                <a:solidFill>
                  <a:srgbClr val="4a5f9e"/>
                </a:solidFill>
                <a:latin typeface="Pretendard"/>
                <a:ea typeface="Pretendard"/>
                <a:cs typeface="Pretendard"/>
              </a:rPr>
              <a:t>장기 충성도 강화</a:t>
            </a:r>
            <a:endParaRPr sz="1400" b="1">
              <a:solidFill>
                <a:srgbClr val="4a5f9e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3886200" y="1828800"/>
            <a:ext cx="7754112" cy="4206240"/>
          </a:xfrm>
          <a:prstGeom prst="roundRect">
            <a:avLst>
              <a:gd name="adj" fmla="val 3043"/>
            </a:avLst>
          </a:prstGeom>
          <a:solidFill>
            <a:srgbClr val="ffffff"/>
          </a:solidFill>
          <a:ln w="9525">
            <a:solidFill>
              <a:srgbClr val="e6e2ee"/>
            </a:solidFill>
          </a:ln>
          <a:effectLst/>
        </p:spPr>
        <p:txBody>
          <a:bodyPr lIns="0" tIns="0" rIns="0" bIns="0"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3886200" y="15544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150" b="0">
                <a:solidFill>
                  <a:srgbClr val="1c1a22"/>
                </a:solidFill>
                <a:latin typeface="Pretendard SemiBold"/>
                <a:ea typeface="Pretendard SemiBold"/>
                <a:cs typeface="Pretendard SemiBold"/>
              </a:rPr>
              <a:t>유형별 평균 |SHAP| Top 10</a:t>
            </a:r>
            <a:endParaRPr sz="1150" b="0">
              <a:solidFill>
                <a:srgbClr val="1c1a2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pic>
        <p:nvPicPr>
          <p:cNvPr id="20" name="Picture 19" descr="image39_hq.png"/>
          <p:cNvPicPr>
            <a:picLocks noChangeAspect="1"/>
          </p:cNvPicPr>
          <p:nvPr/>
        </p:nvPicPr>
        <p:blipFill rotWithShape="1">
          <a:blip r:embed="rId2"/>
          <a:srcRect t="2950"/>
          <a:stretch>
            <a:fillRect/>
          </a:stretch>
        </p:blipFill>
        <p:spPr>
          <a:xfrm>
            <a:off x="4470936" y="1952453"/>
            <a:ext cx="6584639" cy="395893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a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5720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100" b="1">
                <a:solidFill>
                  <a:srgbClr val="6e4fcb"/>
                </a:solidFill>
                <a:latin typeface="Pretendard"/>
                <a:ea typeface="Pretendard"/>
                <a:cs typeface="Pretendard"/>
              </a:rPr>
              <a:t>07</a:t>
            </a:r>
            <a:r>
              <a:rPr sz="1100" b="0">
                <a:solidFill>
                  <a:srgbClr val="8c889a"/>
                </a:solidFill>
                <a:latin typeface="Pretendard Medium"/>
                <a:ea typeface="Pretendard Medium"/>
                <a:cs typeface="Pretendard Medium"/>
              </a:rPr>
              <a:t>   대표 고객 페르소나</a:t>
            </a:r>
            <a:endParaRPr sz="1100" b="0">
              <a:solidFill>
                <a:srgbClr val="8c889a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/>
            </a:pPr>
            <a:r>
              <a:rPr sz="2400" b="1">
                <a:solidFill>
                  <a:srgbClr val="4a5f9e"/>
                </a:solidFill>
                <a:latin typeface="Pretendard"/>
                <a:ea typeface="Pretendard"/>
                <a:cs typeface="Pretendard"/>
              </a:rPr>
              <a:t>Cluster 3</a:t>
            </a:r>
            <a:r>
              <a:rPr sz="2400" b="1">
                <a:solidFill>
                  <a:srgbClr val="1c1a22"/>
                </a:solidFill>
                <a:latin typeface="Pretendard"/>
                <a:ea typeface="Pretendard"/>
                <a:cs typeface="Pretendard"/>
              </a:rPr>
              <a:t>  대표 고객 위험 요인</a:t>
            </a:r>
            <a:endParaRPr sz="2400" b="1">
              <a:solidFill>
                <a:srgbClr val="1c1a22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2743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900" b="0">
                <a:solidFill>
                  <a:srgbClr val="8c889a"/>
                </a:solidFill>
                <a:latin typeface="Pretendard SemiBold"/>
                <a:ea typeface="Pretendard SemiBold"/>
                <a:cs typeface="Pretendard SemiBold"/>
              </a:rPr>
              <a:t>KKeeper</a:t>
            </a:r>
            <a:endParaRPr sz="900" b="0">
              <a:solidFill>
                <a:srgbClr val="8c889a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25912" y="6400800"/>
            <a:ext cx="914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defRPr/>
            </a:pPr>
            <a:r>
              <a:rPr sz="900" b="0">
                <a:solidFill>
                  <a:srgbClr val="8c889a"/>
                </a:solidFill>
                <a:latin typeface="Pretendard Medium"/>
                <a:ea typeface="Pretendard Medium"/>
                <a:cs typeface="Pretendard Medium"/>
              </a:rPr>
              <a:t>31</a:t>
            </a:r>
            <a:endParaRPr sz="900" b="0">
              <a:solidFill>
                <a:srgbClr val="8c889a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760720" cy="4206240"/>
          </a:xfrm>
          <a:prstGeom prst="roundRect">
            <a:avLst>
              <a:gd name="adj" fmla="val 3043"/>
            </a:avLst>
          </a:prstGeom>
          <a:solidFill>
            <a:srgbClr val="ffffff"/>
          </a:solidFill>
          <a:ln w="9525">
            <a:solidFill>
              <a:srgbClr val="e6e2ee"/>
            </a:solidFill>
          </a:ln>
          <a:effectLst/>
        </p:spPr>
        <p:txBody>
          <a:bodyPr lIns="0" tIns="0" rIns="0" bIns="0"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150" b="0">
                <a:solidFill>
                  <a:srgbClr val="1c1a22"/>
                </a:solidFill>
                <a:latin typeface="Pretendard SemiBold"/>
                <a:ea typeface="Pretendard SemiBold"/>
                <a:cs typeface="Pretendard SemiBold"/>
              </a:rPr>
              <a:t>개별 Waterfall Plot</a:t>
            </a:r>
            <a:endParaRPr sz="1150" b="0">
              <a:solidFill>
                <a:srgbClr val="1c1a2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pic>
        <p:nvPicPr>
          <p:cNvPr id="8" name="Picture 7" descr="wf40_hq.pn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41503" y="1954802"/>
            <a:ext cx="4774994" cy="395423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537960" y="1828800"/>
            <a:ext cx="5102352" cy="2697480"/>
          </a:xfrm>
          <a:prstGeom prst="roundRect">
            <a:avLst>
              <a:gd name="adj" fmla="val 4745"/>
            </a:avLst>
          </a:prstGeom>
          <a:solidFill>
            <a:srgbClr val="ffffff"/>
          </a:solidFill>
          <a:ln w="9525">
            <a:solidFill>
              <a:srgbClr val="e6e2ee"/>
            </a:solidFill>
          </a:ln>
          <a:effectLst/>
        </p:spPr>
        <p:txBody>
          <a:bodyPr lIns="0" tIns="0" rIns="0" bIns="0"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6858000" y="2057400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100" b="0">
                <a:solidFill>
                  <a:srgbClr val="5f5b6b"/>
                </a:solidFill>
                <a:latin typeface="Pretendard Medium"/>
                <a:ea typeface="Pretendard Medium"/>
                <a:cs typeface="Pretendard Medium"/>
              </a:rPr>
              <a:t>이탈 확률</a:t>
            </a:r>
            <a:endParaRPr sz="1100" b="0">
              <a:solidFill>
                <a:srgbClr val="5f5b6b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858000" y="2286000"/>
            <a:ext cx="22860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2600" b="1">
                <a:solidFill>
                  <a:srgbClr val="4a5f9e"/>
                </a:solidFill>
                <a:latin typeface="Pretendard"/>
                <a:ea typeface="Pretendard"/>
                <a:cs typeface="Pretendard"/>
              </a:rPr>
              <a:t>52.2%</a:t>
            </a:r>
            <a:endParaRPr sz="2600" b="1">
              <a:solidFill>
                <a:srgbClr val="4a5f9e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10012680" y="2194560"/>
            <a:ext cx="1325880" cy="292608"/>
          </a:xfrm>
          <a:prstGeom prst="roundRect">
            <a:avLst>
              <a:gd name="adj" fmla="val 50000"/>
            </a:avLst>
          </a:prstGeom>
          <a:solidFill>
            <a:srgbClr val="e8ecf7"/>
          </a:solidFill>
          <a:ln>
            <a:noFill/>
          </a:ln>
          <a:effectLst/>
        </p:spPr>
        <p:txBody>
          <a:bodyPr wrap="square" lIns="0" tIns="0" rIns="0" bIns="0" anchor="ctr"/>
          <a:lstStyle/>
          <a:p>
            <a:pPr algn="ctr">
              <a:defRPr/>
            </a:pPr>
            <a:r>
              <a:rPr sz="1000" b="0">
                <a:solidFill>
                  <a:srgbClr val="4a5f9e"/>
                </a:solidFill>
                <a:latin typeface="Pretendard SemiBold"/>
                <a:ea typeface="Pretendard SemiBold"/>
                <a:cs typeface="Pretendard SemiBold"/>
              </a:rPr>
              <a:t>실제 이탈 0</a:t>
            </a:r>
            <a:endParaRPr sz="1000" b="0">
              <a:solidFill>
                <a:srgbClr val="4a5f9e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858000" y="2880360"/>
            <a:ext cx="44805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100" b="0">
                <a:solidFill>
                  <a:srgbClr val="5f5b6b"/>
                </a:solidFill>
                <a:latin typeface="Pretendard Medium"/>
                <a:ea typeface="Pretendard Medium"/>
                <a:cs typeface="Pretendard Medium"/>
              </a:rPr>
              <a:t>주요 SHAP 요인</a:t>
            </a:r>
            <a:endParaRPr sz="1100" b="0">
              <a:solidFill>
                <a:srgbClr val="5f5b6b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858000" y="3154680"/>
            <a:ext cx="35661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/>
            </a:pPr>
            <a:r>
              <a:rPr sz="1150" b="0">
                <a:solidFill>
                  <a:srgbClr val="1c1a22"/>
                </a:solidFill>
                <a:latin typeface="Pretendard Medium"/>
                <a:ea typeface="Pretendard Medium"/>
                <a:cs typeface="Pretendard Medium"/>
              </a:rPr>
              <a:t>last_auto_renew = 0</a:t>
            </a:r>
            <a:endParaRPr sz="1150" b="0">
              <a:solidFill>
                <a:srgbClr val="1c1a22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332720" y="3154680"/>
            <a:ext cx="10058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defRPr/>
            </a:pPr>
            <a:r>
              <a:rPr sz="1150" b="0">
                <a:solidFill>
                  <a:srgbClr val="c2185b"/>
                </a:solidFill>
                <a:latin typeface="Pretendard SemiBold"/>
                <a:ea typeface="Pretendard SemiBold"/>
                <a:cs typeface="Pretendard SemiBold"/>
              </a:rPr>
              <a:t>+2.66</a:t>
            </a:r>
            <a:endParaRPr sz="1150" b="0">
              <a:solidFill>
                <a:srgbClr val="c2185b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858000" y="3483864"/>
            <a:ext cx="35661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/>
            </a:pPr>
            <a:r>
              <a:rPr sz="1150" b="0">
                <a:solidFill>
                  <a:srgbClr val="1c1a22"/>
                </a:solidFill>
                <a:latin typeface="Pretendard Medium"/>
                <a:ea typeface="Pretendard Medium"/>
                <a:cs typeface="Pretendard Medium"/>
              </a:rPr>
              <a:t>last_plan_days = 60</a:t>
            </a:r>
            <a:endParaRPr sz="1150" b="0">
              <a:solidFill>
                <a:srgbClr val="1c1a22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332720" y="3483864"/>
            <a:ext cx="10058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defRPr/>
            </a:pPr>
            <a:r>
              <a:rPr sz="1150" b="0">
                <a:solidFill>
                  <a:srgbClr val="c2185b"/>
                </a:solidFill>
                <a:latin typeface="Pretendard SemiBold"/>
                <a:ea typeface="Pretendard SemiBold"/>
                <a:cs typeface="Pretendard SemiBold"/>
              </a:rPr>
              <a:t>+0.58</a:t>
            </a:r>
            <a:endParaRPr sz="1150" b="0">
              <a:solidFill>
                <a:srgbClr val="c2185b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858000" y="3813048"/>
            <a:ext cx="35661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/>
            </a:pPr>
            <a:r>
              <a:rPr sz="1150" b="0">
                <a:solidFill>
                  <a:srgbClr val="1c1a22"/>
                </a:solidFill>
                <a:latin typeface="Pretendard Medium"/>
                <a:ea typeface="Pretendard Medium"/>
                <a:cs typeface="Pretendard Medium"/>
              </a:rPr>
              <a:t>avg_payment = 225</a:t>
            </a:r>
            <a:endParaRPr sz="1150" b="0">
              <a:solidFill>
                <a:srgbClr val="1c1a22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332720" y="3813048"/>
            <a:ext cx="10058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defRPr/>
            </a:pPr>
            <a:r>
              <a:rPr sz="1150" b="0">
                <a:solidFill>
                  <a:srgbClr val="c2185b"/>
                </a:solidFill>
                <a:latin typeface="Pretendard SemiBold"/>
                <a:ea typeface="Pretendard SemiBold"/>
                <a:cs typeface="Pretendard SemiBold"/>
              </a:rPr>
              <a:t>+0.26</a:t>
            </a:r>
            <a:endParaRPr sz="1150" b="0">
              <a:solidFill>
                <a:srgbClr val="c2185b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858000" y="4160520"/>
            <a:ext cx="4480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050" b="0">
                <a:solidFill>
                  <a:srgbClr val="8c889a"/>
                </a:solidFill>
                <a:latin typeface="Pretendard Medium"/>
                <a:ea typeface="Pretendard Medium"/>
                <a:cs typeface="Pretendard Medium"/>
              </a:rPr>
              <a:t>장기 고객도 자동갱신 · 플랜 기간 · 결제 특성이 위험 신호로 작용한 사례</a:t>
            </a:r>
            <a:endParaRPr sz="1050" b="0">
              <a:solidFill>
                <a:srgbClr val="8c889a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537960" y="4709160"/>
            <a:ext cx="5102352" cy="1325880"/>
          </a:xfrm>
          <a:prstGeom prst="roundRect">
            <a:avLst>
              <a:gd name="adj" fmla="val 9655"/>
            </a:avLst>
          </a:prstGeom>
          <a:solidFill>
            <a:srgbClr val="e8ecf7"/>
          </a:solidFill>
          <a:ln>
            <a:noFill/>
          </a:ln>
          <a:effectLst/>
        </p:spPr>
        <p:txBody>
          <a:bodyPr lIns="0" tIns="0" rIns="0" bIns="0"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2" name="TextBox 21"/>
          <p:cNvSpPr txBox="1"/>
          <p:nvPr/>
        </p:nvSpPr>
        <p:spPr>
          <a:xfrm>
            <a:off x="6858000" y="489204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100" b="0">
                <a:solidFill>
                  <a:srgbClr val="4a5f9e"/>
                </a:solidFill>
                <a:latin typeface="Pretendard SemiBold"/>
                <a:ea typeface="Pretendard SemiBold"/>
                <a:cs typeface="Pretendard SemiBold"/>
              </a:rPr>
              <a:t>마케팅 전략</a:t>
            </a:r>
            <a:endParaRPr sz="1100" b="0">
              <a:solidFill>
                <a:srgbClr val="4a5f9e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858000" y="5212080"/>
            <a:ext cx="45262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defRPr/>
            </a:pPr>
            <a:r>
              <a:rPr sz="1400" b="0">
                <a:solidFill>
                  <a:srgbClr val="1c1a22"/>
                </a:solidFill>
                <a:latin typeface="Pretendard SemiBold"/>
                <a:ea typeface="Pretendard SemiBold"/>
                <a:cs typeface="Pretendard SemiBold"/>
              </a:rPr>
              <a:t>장기 충성도 강화  ·  개인화 recap</a:t>
            </a:r>
            <a:endParaRPr sz="1400" b="0">
              <a:solidFill>
                <a:srgbClr val="1c1a22"/>
              </a:solidFill>
              <a:latin typeface="Pretendard SemiBold"/>
              <a:ea typeface="Pretendard SemiBold"/>
              <a:cs typeface="Pretendard SemiBold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a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5720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100" b="1">
                <a:solidFill>
                  <a:srgbClr val="6e4fcb"/>
                </a:solidFill>
                <a:latin typeface="Pretendard"/>
                <a:ea typeface="Pretendard"/>
                <a:cs typeface="Pretendard"/>
              </a:rPr>
              <a:t>08</a:t>
            </a:r>
            <a:r>
              <a:rPr sz="1100" b="0">
                <a:solidFill>
                  <a:srgbClr val="8c889a"/>
                </a:solidFill>
                <a:latin typeface="Pretendard Medium"/>
                <a:ea typeface="Pretendard Medium"/>
                <a:cs typeface="Pretendard Medium"/>
              </a:rPr>
              <a:t>   서비스</a:t>
            </a:r>
            <a:endParaRPr sz="1100" b="0">
              <a:solidFill>
                <a:srgbClr val="8c889a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/>
            </a:pPr>
            <a:r>
              <a:rPr sz="2400" b="1">
                <a:solidFill>
                  <a:srgbClr val="6e4fcb"/>
                </a:solidFill>
                <a:latin typeface="Pretendard"/>
                <a:ea typeface="Pretendard"/>
                <a:cs typeface="Pretendard"/>
              </a:rPr>
              <a:t>KKeeper</a:t>
            </a:r>
            <a:r>
              <a:rPr sz="2400" b="1">
                <a:solidFill>
                  <a:srgbClr val="1c1a22"/>
                </a:solidFill>
                <a:latin typeface="Pretendard"/>
                <a:ea typeface="Pretendard"/>
                <a:cs typeface="Pretendard"/>
              </a:rPr>
              <a:t> — 예측에서 실행까지 하나의 흐름</a:t>
            </a:r>
            <a:endParaRPr sz="2400" b="1">
              <a:solidFill>
                <a:srgbClr val="1c1a22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2743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900" b="0">
                <a:solidFill>
                  <a:srgbClr val="8c889a"/>
                </a:solidFill>
                <a:latin typeface="Pretendard SemiBold"/>
                <a:ea typeface="Pretendard SemiBold"/>
                <a:cs typeface="Pretendard SemiBold"/>
              </a:rPr>
              <a:t>KKeeper</a:t>
            </a:r>
            <a:endParaRPr sz="900" b="0">
              <a:solidFill>
                <a:srgbClr val="8c889a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25912" y="6400800"/>
            <a:ext cx="914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defRPr/>
            </a:pPr>
            <a:r>
              <a:rPr sz="900" b="0">
                <a:solidFill>
                  <a:srgbClr val="8c889a"/>
                </a:solidFill>
                <a:latin typeface="Pretendard Medium"/>
                <a:ea typeface="Pretendard Medium"/>
                <a:cs typeface="Pretendard Medium"/>
              </a:rPr>
              <a:t>32</a:t>
            </a:r>
            <a:endParaRPr sz="900" b="0">
              <a:solidFill>
                <a:srgbClr val="8c889a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200" b="0">
                <a:solidFill>
                  <a:srgbClr val="6e4fcb"/>
                </a:solidFill>
                <a:latin typeface="Pretendard SemiBold"/>
                <a:ea typeface="Pretendard SemiBold"/>
                <a:cs typeface="Pretendard SemiBold"/>
              </a:rPr>
              <a:t>핵심 기능 1   전략 매칭</a:t>
            </a:r>
            <a:endParaRPr sz="1200" b="0">
              <a:solidFill>
                <a:srgbClr val="6e4fcb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217920" y="18288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200" b="0">
                <a:solidFill>
                  <a:srgbClr val="6e4fcb"/>
                </a:solidFill>
                <a:latin typeface="Pretendard SemiBold"/>
                <a:ea typeface="Pretendard SemiBold"/>
                <a:cs typeface="Pretendard SemiBold"/>
              </a:rPr>
              <a:t>핵심 기능 2   실험실 + 라이브러리</a:t>
            </a:r>
            <a:endParaRPr sz="1200" b="0">
              <a:solidFill>
                <a:srgbClr val="6e4fcb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48640" y="2240280"/>
            <a:ext cx="2606040" cy="3017520"/>
          </a:xfrm>
          <a:prstGeom prst="roundRect">
            <a:avLst>
              <a:gd name="adj" fmla="val 4912"/>
            </a:avLst>
          </a:prstGeom>
          <a:solidFill>
            <a:srgbClr val="ffffff"/>
          </a:solidFill>
          <a:ln w="9525">
            <a:solidFill>
              <a:srgbClr val="e6e2ee"/>
            </a:solidFill>
          </a:ln>
          <a:effectLst/>
        </p:spPr>
        <p:txBody>
          <a:bodyPr lIns="0" tIns="0" rIns="0" bIns="0"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9" name="Rounded Rectangle 8"/>
          <p:cNvSpPr/>
          <p:nvPr/>
        </p:nvSpPr>
        <p:spPr>
          <a:xfrm>
            <a:off x="822959" y="2514600"/>
            <a:ext cx="640080" cy="640080"/>
          </a:xfrm>
          <a:prstGeom prst="roundRect">
            <a:avLst>
              <a:gd name="adj" fmla="val 22857"/>
            </a:avLst>
          </a:prstGeom>
          <a:solidFill>
            <a:srgbClr val="efe9fc"/>
          </a:solidFill>
          <a:ln>
            <a:noFill/>
          </a:ln>
          <a:effectLst/>
        </p:spPr>
        <p:txBody>
          <a:bodyPr lIns="0" tIns="0" rIns="0" bIns="0" anchor="ctr"/>
          <a:lstStyle/>
          <a:p>
            <a:pPr algn="ctr">
              <a:defRPr/>
            </a:pPr>
            <a:endParaRPr lang="ko-KR" altLang="en-US"/>
          </a:p>
        </p:txBody>
      </p:sp>
      <p:pic>
        <p:nvPicPr>
          <p:cNvPr id="10" name="Picture 9" descr="pencil_p.pn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960120" y="2651760"/>
            <a:ext cx="365760" cy="3657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22959" y="3429000"/>
            <a:ext cx="2103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000" b="0">
                <a:solidFill>
                  <a:srgbClr val="8c889a"/>
                </a:solidFill>
                <a:latin typeface="Pretendard SemiBold"/>
                <a:ea typeface="Pretendard SemiBold"/>
                <a:cs typeface="Pretendard SemiBold"/>
              </a:rPr>
              <a:t>STEP 01</a:t>
            </a:r>
            <a:endParaRPr sz="1000" b="0">
              <a:solidFill>
                <a:srgbClr val="8c889a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22959" y="3703320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600" b="0">
                <a:solidFill>
                  <a:srgbClr val="1c1a22"/>
                </a:solidFill>
                <a:latin typeface="Pretendard SemiBold"/>
                <a:ea typeface="Pretendard SemiBold"/>
                <a:cs typeface="Pretendard SemiBold"/>
              </a:rPr>
              <a:t>마케팅 설계</a:t>
            </a:r>
            <a:endParaRPr sz="1600" b="0">
              <a:solidFill>
                <a:srgbClr val="1c1a2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22959" y="4114800"/>
            <a:ext cx="210312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defRPr/>
            </a:pPr>
            <a:r>
              <a:rPr sz="1200" b="0">
                <a:solidFill>
                  <a:srgbClr val="5f5b6b"/>
                </a:solidFill>
                <a:latin typeface="Pretendard Medium"/>
                <a:ea typeface="Pretendard Medium"/>
                <a:cs typeface="Pretendard Medium"/>
              </a:rPr>
              <a:t>마케팅 방안과 대상 조건 입력</a:t>
            </a:r>
            <a:endParaRPr sz="1200" b="0">
              <a:solidFill>
                <a:srgbClr val="5f5b6b"/>
              </a:solidFill>
              <a:latin typeface="Pretendard Medium"/>
              <a:ea typeface="Pretendard Medium"/>
              <a:cs typeface="Pretendard Medium"/>
            </a:endParaRPr>
          </a:p>
        </p:txBody>
      </p:sp>
      <p:pic>
        <p:nvPicPr>
          <p:cNvPr id="14" name="Picture 13" descr="arrow_p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182112" y="3639312"/>
            <a:ext cx="182880" cy="18288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3383280" y="2240280"/>
            <a:ext cx="2606040" cy="3017520"/>
          </a:xfrm>
          <a:prstGeom prst="roundRect">
            <a:avLst>
              <a:gd name="adj" fmla="val 4912"/>
            </a:avLst>
          </a:prstGeom>
          <a:solidFill>
            <a:srgbClr val="ffffff"/>
          </a:solidFill>
          <a:ln w="9525">
            <a:solidFill>
              <a:srgbClr val="e6e2ee"/>
            </a:solidFill>
          </a:ln>
          <a:effectLst/>
        </p:spPr>
        <p:txBody>
          <a:bodyPr lIns="0" tIns="0" rIns="0" bIns="0"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6" name="Rounded Rectangle 15"/>
          <p:cNvSpPr/>
          <p:nvPr/>
        </p:nvSpPr>
        <p:spPr>
          <a:xfrm>
            <a:off x="3657600" y="2514600"/>
            <a:ext cx="640080" cy="640080"/>
          </a:xfrm>
          <a:prstGeom prst="roundRect">
            <a:avLst>
              <a:gd name="adj" fmla="val 22857"/>
            </a:avLst>
          </a:prstGeom>
          <a:solidFill>
            <a:srgbClr val="efe9fc"/>
          </a:solidFill>
          <a:ln>
            <a:noFill/>
          </a:ln>
          <a:effectLst/>
        </p:spPr>
        <p:txBody>
          <a:bodyPr lIns="0" tIns="0" rIns="0" bIns="0" anchor="ctr"/>
          <a:lstStyle/>
          <a:p>
            <a:pPr algn="ctr">
              <a:defRPr/>
            </a:pPr>
            <a:endParaRPr lang="ko-KR" altLang="en-US"/>
          </a:p>
        </p:txBody>
      </p:sp>
      <p:pic>
        <p:nvPicPr>
          <p:cNvPr id="17" name="Picture 16" descr="grid_p.png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3794760" y="2651760"/>
            <a:ext cx="365760" cy="36576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657600" y="3429000"/>
            <a:ext cx="2103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000" b="0">
                <a:solidFill>
                  <a:srgbClr val="8c889a"/>
                </a:solidFill>
                <a:latin typeface="Pretendard SemiBold"/>
                <a:ea typeface="Pretendard SemiBold"/>
                <a:cs typeface="Pretendard SemiBold"/>
              </a:rPr>
              <a:t>STEP 02</a:t>
            </a:r>
            <a:endParaRPr sz="1000" b="0">
              <a:solidFill>
                <a:srgbClr val="8c889a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657600" y="3703320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600" b="0">
                <a:solidFill>
                  <a:srgbClr val="1c1a22"/>
                </a:solidFill>
                <a:latin typeface="Pretendard SemiBold"/>
                <a:ea typeface="Pretendard SemiBold"/>
                <a:cs typeface="Pretendard SemiBold"/>
              </a:rPr>
              <a:t>고객 매칭</a:t>
            </a:r>
            <a:endParaRPr sz="1600" b="0">
              <a:solidFill>
                <a:srgbClr val="1c1a2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657600" y="4114800"/>
            <a:ext cx="210312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defRPr/>
            </a:pPr>
            <a:r>
              <a:rPr sz="1200" b="0">
                <a:solidFill>
                  <a:srgbClr val="5f5b6b"/>
                </a:solidFill>
                <a:latin typeface="Pretendard Medium"/>
                <a:ea typeface="Pretendard Medium"/>
                <a:cs typeface="Pretendard Medium"/>
              </a:rPr>
              <a:t>전략이 잘 통할 고객 유형 추천</a:t>
            </a:r>
            <a:endParaRPr sz="1200" b="0">
              <a:solidFill>
                <a:srgbClr val="5f5b6b"/>
              </a:solidFill>
              <a:latin typeface="Pretendard Medium"/>
              <a:ea typeface="Pretendard Medium"/>
              <a:cs typeface="Pretendard Medium"/>
            </a:endParaRPr>
          </a:p>
        </p:txBody>
      </p:sp>
      <p:pic>
        <p:nvPicPr>
          <p:cNvPr id="21" name="Picture 20" descr="arrow_p.png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6016752" y="3639312"/>
            <a:ext cx="182880" cy="182880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6217920" y="2240280"/>
            <a:ext cx="2606040" cy="3017520"/>
          </a:xfrm>
          <a:prstGeom prst="roundRect">
            <a:avLst>
              <a:gd name="adj" fmla="val 4912"/>
            </a:avLst>
          </a:prstGeom>
          <a:solidFill>
            <a:srgbClr val="ffffff"/>
          </a:solidFill>
          <a:ln w="9525">
            <a:solidFill>
              <a:srgbClr val="e6e2ee"/>
            </a:solidFill>
          </a:ln>
          <a:effectLst/>
        </p:spPr>
        <p:txBody>
          <a:bodyPr lIns="0" tIns="0" rIns="0" bIns="0"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3" name="Rounded Rectangle 22"/>
          <p:cNvSpPr/>
          <p:nvPr/>
        </p:nvSpPr>
        <p:spPr>
          <a:xfrm>
            <a:off x="6492240" y="2514600"/>
            <a:ext cx="640080" cy="640080"/>
          </a:xfrm>
          <a:prstGeom prst="roundRect">
            <a:avLst>
              <a:gd name="adj" fmla="val 22857"/>
            </a:avLst>
          </a:prstGeom>
          <a:solidFill>
            <a:srgbClr val="efe9fc"/>
          </a:solidFill>
          <a:ln>
            <a:noFill/>
          </a:ln>
          <a:effectLst/>
        </p:spPr>
        <p:txBody>
          <a:bodyPr lIns="0" tIns="0" rIns="0" bIns="0" anchor="ctr"/>
          <a:lstStyle/>
          <a:p>
            <a:pPr algn="ctr">
              <a:defRPr/>
            </a:pPr>
            <a:endParaRPr lang="ko-KR" altLang="en-US"/>
          </a:p>
        </p:txBody>
      </p:sp>
      <p:pic>
        <p:nvPicPr>
          <p:cNvPr id="24" name="Picture 23" descr="split_p.png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6629400" y="2651760"/>
            <a:ext cx="365760" cy="36576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492240" y="3429000"/>
            <a:ext cx="2103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000" b="0">
                <a:solidFill>
                  <a:srgbClr val="8c889a"/>
                </a:solidFill>
                <a:latin typeface="Pretendard SemiBold"/>
                <a:ea typeface="Pretendard SemiBold"/>
                <a:cs typeface="Pretendard SemiBold"/>
              </a:rPr>
              <a:t>STEP 03</a:t>
            </a:r>
            <a:endParaRPr sz="1000" b="0">
              <a:solidFill>
                <a:srgbClr val="8c889a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492240" y="3703320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600" b="0">
                <a:solidFill>
                  <a:srgbClr val="1c1a22"/>
                </a:solidFill>
                <a:latin typeface="Pretendard SemiBold"/>
                <a:ea typeface="Pretendard SemiBold"/>
                <a:cs typeface="Pretendard SemiBold"/>
              </a:rPr>
              <a:t>실험 관리</a:t>
            </a:r>
            <a:endParaRPr sz="1600" b="0">
              <a:solidFill>
                <a:srgbClr val="1c1a2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492240" y="4114800"/>
            <a:ext cx="210312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defRPr/>
            </a:pPr>
            <a:r>
              <a:rPr sz="1200" b="0">
                <a:solidFill>
                  <a:srgbClr val="5f5b6b"/>
                </a:solidFill>
                <a:latin typeface="Pretendard Medium"/>
                <a:ea typeface="Pretendard Medium"/>
                <a:cs typeface="Pretendard Medium"/>
              </a:rPr>
              <a:t>두 그룹으로 나눠 실제 효과 검증</a:t>
            </a:r>
            <a:endParaRPr sz="1200" b="0">
              <a:solidFill>
                <a:srgbClr val="5f5b6b"/>
              </a:solidFill>
              <a:latin typeface="Pretendard Medium"/>
              <a:ea typeface="Pretendard Medium"/>
              <a:cs typeface="Pretendard Medium"/>
            </a:endParaRPr>
          </a:p>
        </p:txBody>
      </p:sp>
      <p:pic>
        <p:nvPicPr>
          <p:cNvPr id="28" name="Picture 27" descr="arrow_p.png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8851392" y="3639312"/>
            <a:ext cx="182880" cy="182880"/>
          </a:xfrm>
          <a:prstGeom prst="rect">
            <a:avLst/>
          </a:prstGeom>
        </p:spPr>
      </p:pic>
      <p:sp>
        <p:nvSpPr>
          <p:cNvPr id="29" name="Rounded Rectangle 28"/>
          <p:cNvSpPr/>
          <p:nvPr/>
        </p:nvSpPr>
        <p:spPr>
          <a:xfrm>
            <a:off x="9052560" y="2240280"/>
            <a:ext cx="2606040" cy="3017520"/>
          </a:xfrm>
          <a:prstGeom prst="roundRect">
            <a:avLst>
              <a:gd name="adj" fmla="val 4912"/>
            </a:avLst>
          </a:prstGeom>
          <a:solidFill>
            <a:srgbClr val="ffffff"/>
          </a:solidFill>
          <a:ln w="9525">
            <a:solidFill>
              <a:srgbClr val="e6e2ee"/>
            </a:solidFill>
          </a:ln>
          <a:effectLst/>
        </p:spPr>
        <p:txBody>
          <a:bodyPr lIns="0" tIns="0" rIns="0" bIns="0"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0" name="Rounded Rectangle 29"/>
          <p:cNvSpPr/>
          <p:nvPr/>
        </p:nvSpPr>
        <p:spPr>
          <a:xfrm>
            <a:off x="9326880" y="2514600"/>
            <a:ext cx="640080" cy="640080"/>
          </a:xfrm>
          <a:prstGeom prst="roundRect">
            <a:avLst>
              <a:gd name="adj" fmla="val 22857"/>
            </a:avLst>
          </a:prstGeom>
          <a:solidFill>
            <a:srgbClr val="efe9fc"/>
          </a:solidFill>
          <a:ln>
            <a:noFill/>
          </a:ln>
          <a:effectLst/>
        </p:spPr>
        <p:txBody>
          <a:bodyPr lIns="0" tIns="0" rIns="0" bIns="0" anchor="ctr"/>
          <a:lstStyle/>
          <a:p>
            <a:pPr algn="ctr">
              <a:defRPr/>
            </a:pPr>
            <a:endParaRPr lang="ko-KR" altLang="en-US"/>
          </a:p>
        </p:txBody>
      </p:sp>
      <p:pic>
        <p:nvPicPr>
          <p:cNvPr id="31" name="Picture 30" descr="books_p.png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9464040" y="2651760"/>
            <a:ext cx="365760" cy="36576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9326880" y="3429000"/>
            <a:ext cx="2103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000" b="0">
                <a:solidFill>
                  <a:srgbClr val="8c889a"/>
                </a:solidFill>
                <a:latin typeface="Pretendard SemiBold"/>
                <a:ea typeface="Pretendard SemiBold"/>
                <a:cs typeface="Pretendard SemiBold"/>
              </a:rPr>
              <a:t>STEP 04</a:t>
            </a:r>
            <a:endParaRPr sz="1000" b="0">
              <a:solidFill>
                <a:srgbClr val="8c889a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9326880" y="3703320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600" b="0">
                <a:solidFill>
                  <a:srgbClr val="1c1a22"/>
                </a:solidFill>
                <a:latin typeface="Pretendard SemiBold"/>
                <a:ea typeface="Pretendard SemiBold"/>
                <a:cs typeface="Pretendard SemiBold"/>
              </a:rPr>
              <a:t>라이브러리</a:t>
            </a:r>
            <a:endParaRPr sz="1600" b="0">
              <a:solidFill>
                <a:srgbClr val="1c1a2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9326880" y="4114800"/>
            <a:ext cx="210312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defRPr/>
            </a:pPr>
            <a:r>
              <a:rPr sz="1200" b="0">
                <a:solidFill>
                  <a:srgbClr val="5f5b6b"/>
                </a:solidFill>
                <a:latin typeface="Pretendard Medium"/>
                <a:ea typeface="Pretendard Medium"/>
                <a:cs typeface="Pretendard Medium"/>
              </a:rPr>
              <a:t>효과가 확인된 전략 저장과 재활용</a:t>
            </a:r>
            <a:endParaRPr sz="1200" b="0">
              <a:solidFill>
                <a:srgbClr val="5f5b6b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548640" y="5532120"/>
            <a:ext cx="11091672" cy="502920"/>
          </a:xfrm>
          <a:prstGeom prst="roundRect">
            <a:avLst>
              <a:gd name="adj" fmla="val 21818"/>
            </a:avLst>
          </a:prstGeom>
          <a:solidFill>
            <a:srgbClr val="f3eefd"/>
          </a:solidFill>
          <a:ln>
            <a:noFill/>
          </a:ln>
          <a:effectLst/>
        </p:spPr>
        <p:txBody>
          <a:bodyPr lIns="0" tIns="0" rIns="0" bIns="0"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6" name="TextBox 35"/>
          <p:cNvSpPr txBox="1"/>
          <p:nvPr/>
        </p:nvSpPr>
        <p:spPr>
          <a:xfrm>
            <a:off x="868680" y="5532120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/>
            </a:pPr>
            <a:r>
              <a:rPr sz="1250" b="1">
                <a:solidFill>
                  <a:srgbClr val="4f35a8"/>
                </a:solidFill>
                <a:latin typeface="Pretendard"/>
                <a:ea typeface="Pretendard"/>
                <a:cs typeface="Pretendard"/>
              </a:rPr>
              <a:t>이탈 모델 + 4개 고객 유형</a:t>
            </a:r>
            <a:r>
              <a:rPr sz="1250" b="0">
                <a:solidFill>
                  <a:srgbClr val="3e3b47"/>
                </a:solidFill>
                <a:latin typeface="Pretendard Medium"/>
                <a:ea typeface="Pretendard Medium"/>
                <a:cs typeface="Pretendard Medium"/>
              </a:rPr>
              <a:t>이 마케팅 설계와 고객 매칭의 기반이 됩니다.</a:t>
            </a:r>
            <a:endParaRPr sz="1250" b="0">
              <a:solidFill>
                <a:srgbClr val="3e3b47"/>
              </a:solidFill>
              <a:latin typeface="Pretendard Medium"/>
              <a:ea typeface="Pretendard Medium"/>
              <a:cs typeface="Pretendard Medium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1692</ep:Words>
  <ep:PresentationFormat>On-screen Show (4:3)</ep:PresentationFormat>
  <ep:Paragraphs>586</ep:Paragraphs>
  <ep:Slides>32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32</vt:i4>
      </vt:variant>
    </vt:vector>
  </ep:HeadingPairs>
  <ep:TitlesOfParts>
    <vt:vector size="33" baseType="lpstr">
      <vt:lpstr>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  <vt:lpstr>슬라이드 18</vt:lpstr>
      <vt:lpstr>슬라이드 19</vt:lpstr>
      <vt:lpstr>슬라이드 20</vt:lpstr>
      <vt:lpstr>슬라이드 21</vt:lpstr>
      <vt:lpstr>슬라이드 22</vt:lpstr>
      <vt:lpstr>슬라이드 23</vt:lpstr>
      <vt:lpstr>슬라이드 24</vt:lpstr>
      <vt:lpstr>슬라이드 25</vt:lpstr>
      <vt:lpstr>슬라이드 26</vt:lpstr>
      <vt:lpstr>슬라이드 27</vt:lpstr>
      <vt:lpstr>슬라이드 28</vt:lpstr>
      <vt:lpstr>슬라이드 29</vt:lpstr>
      <vt:lpstr>슬라이드 30</vt:lpstr>
      <vt:lpstr>슬라이드 31</vt:lpstr>
      <vt:lpstr>슬라이드 32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2013-01-27T09:14:16.000</dcterms:created>
  <dc:description>generated using python-pptx</dc:description>
  <cp:lastModifiedBy>SOHEE</cp:lastModifiedBy>
  <dcterms:modified xsi:type="dcterms:W3CDTF">2026-09-30T06:08:20.051</dcterms:modified>
  <cp:revision>6</cp:revision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